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53"/>
  </p:notesMasterIdLst>
  <p:sldIdLst>
    <p:sldId id="2877" r:id="rId2"/>
    <p:sldId id="2404" r:id="rId3"/>
    <p:sldId id="2405" r:id="rId4"/>
    <p:sldId id="2406" r:id="rId5"/>
    <p:sldId id="2407" r:id="rId6"/>
    <p:sldId id="2408" r:id="rId7"/>
    <p:sldId id="2409" r:id="rId8"/>
    <p:sldId id="2410" r:id="rId9"/>
    <p:sldId id="2411" r:id="rId10"/>
    <p:sldId id="2412" r:id="rId11"/>
    <p:sldId id="2413" r:id="rId12"/>
    <p:sldId id="2414" r:id="rId13"/>
    <p:sldId id="2415" r:id="rId14"/>
    <p:sldId id="2416" r:id="rId15"/>
    <p:sldId id="2417" r:id="rId16"/>
    <p:sldId id="2418" r:id="rId17"/>
    <p:sldId id="2419" r:id="rId18"/>
    <p:sldId id="2420" r:id="rId19"/>
    <p:sldId id="2960" r:id="rId20"/>
    <p:sldId id="2961" r:id="rId21"/>
    <p:sldId id="2962" r:id="rId22"/>
    <p:sldId id="2963" r:id="rId23"/>
    <p:sldId id="2964" r:id="rId24"/>
    <p:sldId id="2965" r:id="rId25"/>
    <p:sldId id="2966" r:id="rId26"/>
    <p:sldId id="2967" r:id="rId27"/>
    <p:sldId id="2968" r:id="rId28"/>
    <p:sldId id="2421" r:id="rId29"/>
    <p:sldId id="2422" r:id="rId30"/>
    <p:sldId id="2423" r:id="rId31"/>
    <p:sldId id="2424" r:id="rId32"/>
    <p:sldId id="2978" r:id="rId33"/>
    <p:sldId id="2969" r:id="rId34"/>
    <p:sldId id="2970" r:id="rId35"/>
    <p:sldId id="2971" r:id="rId36"/>
    <p:sldId id="2972" r:id="rId37"/>
    <p:sldId id="2973" r:id="rId38"/>
    <p:sldId id="2974" r:id="rId39"/>
    <p:sldId id="2975" r:id="rId40"/>
    <p:sldId id="2976" r:id="rId41"/>
    <p:sldId id="2977" r:id="rId42"/>
    <p:sldId id="2425" r:id="rId43"/>
    <p:sldId id="2426" r:id="rId44"/>
    <p:sldId id="2427" r:id="rId45"/>
    <p:sldId id="2428" r:id="rId46"/>
    <p:sldId id="2429" r:id="rId47"/>
    <p:sldId id="2430" r:id="rId48"/>
    <p:sldId id="2431" r:id="rId49"/>
    <p:sldId id="2432" r:id="rId50"/>
    <p:sldId id="2433" r:id="rId51"/>
    <p:sldId id="2434" r:id="rId52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13" autoAdjust="0"/>
    <p:restoredTop sz="92011" autoAdjust="0"/>
  </p:normalViewPr>
  <p:slideViewPr>
    <p:cSldViewPr>
      <p:cViewPr varScale="1">
        <p:scale>
          <a:sx n="120" d="100"/>
          <a:sy n="120" d="100"/>
        </p:scale>
        <p:origin x="113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2020. 5. 17.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oslab.kaist.ac.kr/" TargetMode="Externa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9" name="Picture 2">
            <a:hlinkClick r:id="rId5"/>
            <a:extLst>
              <a:ext uri="{FF2B5EF4-FFF2-40B4-BE49-F238E27FC236}">
                <a16:creationId xmlns:a16="http://schemas.microsoft.com/office/drawing/2014/main" id="{1BBE426F-516B-C147-ABB5-941BAC34A4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23" y="6425666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30. Condition Variables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216750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are many cases where a thread wishes to </a:t>
            </a:r>
            <a:r>
              <a:rPr lang="en-US" altLang="ko-KR" u="sng" dirty="0"/>
              <a:t>check</a:t>
            </a:r>
            <a:r>
              <a:rPr lang="en-US" altLang="ko-KR" dirty="0"/>
              <a:t> whether a </a:t>
            </a:r>
            <a:r>
              <a:rPr lang="en-US" altLang="ko-KR" b="1" dirty="0"/>
              <a:t>condition</a:t>
            </a:r>
            <a:r>
              <a:rPr lang="en-US" altLang="ko-KR" dirty="0"/>
              <a:t> is true before continuing its execution.</a:t>
            </a:r>
          </a:p>
          <a:p>
            <a:r>
              <a:rPr lang="en-US" altLang="ko-KR" dirty="0"/>
              <a:t>Example:</a:t>
            </a:r>
          </a:p>
          <a:p>
            <a:pPr lvl="1"/>
            <a:r>
              <a:rPr lang="en-US" altLang="ko-KR" dirty="0"/>
              <a:t>A parent thread might wish to check whether a child thread has </a:t>
            </a:r>
            <a:r>
              <a:rPr lang="en-US" altLang="ko-KR" i="1" dirty="0"/>
              <a:t>completed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This is often called a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join()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786342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Condition Variables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256561"/>
            <a:ext cx="7632848" cy="31085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XXX how to indicate we are done?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create 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XXX how to wait for child?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55576" y="5045114"/>
            <a:ext cx="7632848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parent: begin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parent: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576" y="908720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Parent Waiting For Its Child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674622"/>
            <a:ext cx="4752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What we would like to see here is: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598764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fore child: Spin-based Approach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This is hugely </a:t>
            </a:r>
            <a:r>
              <a:rPr lang="en-US" altLang="ko-KR" u="sng" dirty="0"/>
              <a:t>inefficient</a:t>
            </a:r>
            <a:r>
              <a:rPr lang="en-US" altLang="ko-KR" dirty="0"/>
              <a:t> as the parent spins and </a:t>
            </a:r>
            <a:r>
              <a:rPr lang="en-US" altLang="ko-KR" b="1" dirty="0"/>
              <a:t>wastes CPU time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124744"/>
            <a:ext cx="7632848" cy="375487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volatile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create 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        ;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spin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</p:txBody>
      </p:sp>
    </p:spTree>
    <p:extLst>
      <p:ext uri="{BB962C8B-B14F-4D97-AF65-F5344CB8AC3E}">
        <p14:creationId xmlns:p14="http://schemas.microsoft.com/office/powerpoint/2010/main" val="98669872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wait for a condition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Condition variable</a:t>
            </a:r>
          </a:p>
          <a:p>
            <a:pPr lvl="1"/>
            <a:r>
              <a:rPr lang="en-US" altLang="ko-KR" dirty="0"/>
              <a:t>Queue of threads</a:t>
            </a:r>
          </a:p>
          <a:p>
            <a:pPr lvl="1"/>
            <a:r>
              <a:rPr lang="en-US" altLang="ko-KR" b="1" dirty="0"/>
              <a:t>Waiting</a:t>
            </a:r>
            <a:r>
              <a:rPr lang="en-US" altLang="ko-KR" dirty="0"/>
              <a:t> on the condition</a:t>
            </a:r>
          </a:p>
          <a:p>
            <a:pPr lvl="2"/>
            <a:r>
              <a:rPr lang="en-US" altLang="ko-KR" u="sng" dirty="0"/>
              <a:t>An explicit queue</a:t>
            </a:r>
            <a:r>
              <a:rPr lang="en-US" altLang="ko-KR" dirty="0"/>
              <a:t> that threads can put themselves on when some state of execution is not as desired.</a:t>
            </a:r>
          </a:p>
          <a:p>
            <a:pPr lvl="1"/>
            <a:r>
              <a:rPr lang="en-US" altLang="ko-KR" b="1" dirty="0"/>
              <a:t>Signaling</a:t>
            </a:r>
            <a:r>
              <a:rPr lang="en-US" altLang="ko-KR" dirty="0"/>
              <a:t> on the condition</a:t>
            </a:r>
          </a:p>
          <a:p>
            <a:pPr lvl="2"/>
            <a:r>
              <a:rPr lang="en-US" altLang="ko-KR" dirty="0"/>
              <a:t>Some other thread, </a:t>
            </a:r>
            <a:r>
              <a:rPr lang="en-US" altLang="ko-KR" i="1" dirty="0"/>
              <a:t>when it changes it state</a:t>
            </a:r>
            <a:r>
              <a:rPr lang="en-US" altLang="ko-KR" dirty="0"/>
              <a:t>, can wake one of those waiting threads and allow them to continue.</a:t>
            </a:r>
          </a:p>
          <a:p>
            <a:r>
              <a:rPr lang="en-US" altLang="ko-KR" dirty="0"/>
              <a:t>Three in a package</a:t>
            </a:r>
          </a:p>
          <a:p>
            <a:pPr lvl="1"/>
            <a:r>
              <a:rPr lang="en-US" altLang="ko-KR" dirty="0"/>
              <a:t>condition variable c</a:t>
            </a:r>
          </a:p>
          <a:p>
            <a:pPr lvl="1"/>
            <a:r>
              <a:rPr lang="en-US" altLang="ko-KR" dirty="0"/>
              <a:t>state variable m</a:t>
            </a:r>
          </a:p>
          <a:p>
            <a:pPr lvl="1"/>
            <a:r>
              <a:rPr lang="en-US" altLang="ko-KR" dirty="0"/>
              <a:t>lock L; // to protect state variable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76883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Definition and Routines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Declare condition variable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Proper initialization is required.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Operation (the POSIX calls)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The wait() call takes a </a:t>
            </a:r>
            <a:r>
              <a:rPr lang="en-US" altLang="ko-KR" u="sng" dirty="0" err="1"/>
              <a:t>mutex</a:t>
            </a:r>
            <a:r>
              <a:rPr lang="en-US" altLang="ko-KR" dirty="0"/>
              <a:t> as a parameter.</a:t>
            </a:r>
          </a:p>
          <a:p>
            <a:pPr lvl="2"/>
            <a:r>
              <a:rPr lang="en-US" altLang="ko-KR" dirty="0"/>
              <a:t>The wait() call release the lock and put the calling thread to sleep.</a:t>
            </a:r>
          </a:p>
          <a:p>
            <a:pPr lvl="2"/>
            <a:r>
              <a:rPr lang="en-US" altLang="ko-KR" dirty="0"/>
              <a:t>When the thread wakes up, it must re-acquire the lock.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537047"/>
            <a:ext cx="2448272" cy="3077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t c;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55576" y="3625860"/>
            <a:ext cx="7920880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wait()</a:t>
            </a:r>
          </a:p>
          <a:p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*c);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signal()</a:t>
            </a:r>
          </a:p>
        </p:txBody>
      </p:sp>
    </p:spTree>
    <p:extLst>
      <p:ext uri="{BB962C8B-B14F-4D97-AF65-F5344CB8AC3E}">
        <p14:creationId xmlns:p14="http://schemas.microsoft.com/office/powerpoint/2010/main" val="205116661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Use a condition variable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974333"/>
            <a:ext cx="7632848" cy="5262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 = PTHREAD_MUTEX_INITIALIZER;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 = PTHREAD_COND_INITIALIZER;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*child(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("child\n");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03091603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Use a condition variable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908720"/>
            <a:ext cx="7632848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(cont.)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begin\n");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28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30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("parent: end\n");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31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32 	}</a:t>
            </a:r>
          </a:p>
        </p:txBody>
      </p:sp>
    </p:spTree>
    <p:extLst>
      <p:ext uri="{BB962C8B-B14F-4D97-AF65-F5344CB8AC3E}">
        <p14:creationId xmlns:p14="http://schemas.microsoft.com/office/powerpoint/2010/main" val="2108237799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Parent waiting for Child: Use a condition variable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1" dirty="0"/>
              <a:t>Parent:</a:t>
            </a:r>
          </a:p>
          <a:p>
            <a:pPr lvl="1"/>
            <a:r>
              <a:rPr lang="en-US" altLang="ko-KR" sz="1600" dirty="0"/>
              <a:t>Creates the child thread and continues running itself.</a:t>
            </a:r>
          </a:p>
          <a:p>
            <a:pPr lvl="1"/>
            <a:r>
              <a:rPr lang="en-US" altLang="ko-KR" sz="1600" dirty="0"/>
              <a:t>Calls into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thr_join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sz="1600" dirty="0"/>
              <a:t>to wait for the child thread to complete.</a:t>
            </a:r>
          </a:p>
          <a:p>
            <a:pPr lvl="2"/>
            <a:r>
              <a:rPr lang="en-US" altLang="ko-KR" sz="1400" dirty="0"/>
              <a:t>Acquires the lock.</a:t>
            </a:r>
          </a:p>
          <a:p>
            <a:pPr lvl="2"/>
            <a:r>
              <a:rPr lang="en-US" altLang="ko-KR" sz="1400" dirty="0"/>
              <a:t>Checks if the child is done.</a:t>
            </a:r>
          </a:p>
          <a:p>
            <a:pPr lvl="2"/>
            <a:r>
              <a:rPr lang="en-US" altLang="ko-KR" sz="1400" dirty="0"/>
              <a:t>Puts itself to sleep by calling </a:t>
            </a: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wait().</a:t>
            </a:r>
          </a:p>
          <a:p>
            <a:pPr lvl="2"/>
            <a:r>
              <a:rPr lang="en-US" altLang="ko-KR" sz="1400" dirty="0"/>
              <a:t>Releases the lock.</a:t>
            </a:r>
          </a:p>
          <a:p>
            <a:r>
              <a:rPr lang="en-US" altLang="ko-KR" sz="1800" b="1" dirty="0"/>
              <a:t>Child:</a:t>
            </a:r>
          </a:p>
          <a:p>
            <a:pPr lvl="1"/>
            <a:r>
              <a:rPr lang="en-US" altLang="ko-KR" sz="1600" dirty="0"/>
              <a:t>Prints the message “child”.</a:t>
            </a:r>
          </a:p>
          <a:p>
            <a:pPr lvl="1"/>
            <a:r>
              <a:rPr lang="en-US" altLang="ko-KR" sz="1600" dirty="0"/>
              <a:t>Calls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thr_exit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sz="1600" dirty="0"/>
              <a:t> to wake up the parent thread.</a:t>
            </a:r>
          </a:p>
          <a:p>
            <a:pPr lvl="2"/>
            <a:r>
              <a:rPr lang="en-US" altLang="ko-KR" sz="1400" dirty="0"/>
              <a:t>Grabs the lock.</a:t>
            </a:r>
          </a:p>
          <a:p>
            <a:pPr lvl="2"/>
            <a:r>
              <a:rPr lang="en-US" altLang="ko-KR" sz="1400" dirty="0"/>
              <a:t>Sets the state variable </a:t>
            </a:r>
            <a:r>
              <a:rPr lang="en-US" altLang="ko-KR" sz="1400" dirty="0">
                <a:latin typeface="Courier New" pitchFamily="49" charset="0"/>
                <a:cs typeface="Courier New" pitchFamily="49" charset="0"/>
              </a:rPr>
              <a:t>done.</a:t>
            </a:r>
          </a:p>
          <a:p>
            <a:pPr lvl="2"/>
            <a:r>
              <a:rPr lang="en-US" altLang="ko-KR" sz="1400" dirty="0"/>
              <a:t>Signals the parent thus waking it.</a:t>
            </a:r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298019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importance of the state variable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done</a:t>
            </a:r>
            <a:endParaRPr lang="ko-KR" alt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Imagine the case where the </a:t>
            </a:r>
            <a:r>
              <a:rPr lang="en-US" altLang="ko-KR" i="1" dirty="0"/>
              <a:t>child runs immediately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child will signal, but there is </a:t>
            </a:r>
            <a:r>
              <a:rPr lang="en-US" altLang="ko-KR" u="sng" dirty="0"/>
              <a:t>no thread asleep</a:t>
            </a:r>
            <a:r>
              <a:rPr lang="en-US" altLang="ko-KR" dirty="0"/>
              <a:t> on the condition.</a:t>
            </a:r>
          </a:p>
          <a:p>
            <a:pPr lvl="2"/>
            <a:r>
              <a:rPr lang="en-US" altLang="ko-KR" dirty="0"/>
              <a:t>When the parent runs, it will call wait and be stuck.</a:t>
            </a:r>
          </a:p>
          <a:p>
            <a:pPr lvl="2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No thread will ever wake it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1019050"/>
            <a:ext cx="7632848" cy="24622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i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}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</a:t>
            </a:r>
            <a:r>
              <a:rPr lang="en-US" altLang="ko-KR" sz="1400" i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</a:t>
            </a:r>
            <a:r>
              <a:rPr lang="en-US" altLang="ko-KR" sz="1400" i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}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3481263"/>
            <a:ext cx="691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and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without variable 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done</a:t>
            </a:r>
            <a:endParaRPr lang="ko-KR" altLang="en-US" sz="1400" b="1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266150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poor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3068960"/>
            <a:ext cx="8786812" cy="3312368"/>
          </a:xfrm>
        </p:spPr>
        <p:txBody>
          <a:bodyPr/>
          <a:lstStyle/>
          <a:p>
            <a:pPr lvl="1"/>
            <a:r>
              <a:rPr lang="en-US" altLang="ko-KR" dirty="0"/>
              <a:t>The issue here is a subtle </a:t>
            </a:r>
            <a:r>
              <a:rPr lang="en-US" altLang="ko-KR" b="1" dirty="0"/>
              <a:t>race condition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parent calls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thr_join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().</a:t>
            </a:r>
            <a:endParaRPr lang="en-US" altLang="ko-KR" dirty="0"/>
          </a:p>
          <a:p>
            <a:pPr lvl="3"/>
            <a:r>
              <a:rPr lang="en-US" altLang="ko-KR" dirty="0"/>
              <a:t>The parent checks the value of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done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It will see that it is 0 and try to go to sleep.</a:t>
            </a:r>
          </a:p>
          <a:p>
            <a:pPr lvl="3"/>
            <a:r>
              <a:rPr lang="en-US" altLang="ko-KR" i="1" dirty="0"/>
              <a:t>Just before </a:t>
            </a:r>
            <a:r>
              <a:rPr lang="en-US" altLang="ko-KR" dirty="0"/>
              <a:t>it calls wait to go to sleep, the parent is </a:t>
            </a:r>
            <a:r>
              <a:rPr lang="en-US" altLang="ko-KR" u="sng" dirty="0"/>
              <a:t>interrupted</a:t>
            </a:r>
            <a:r>
              <a:rPr lang="en-US" altLang="ko-KR" dirty="0"/>
              <a:t> and the child runs.</a:t>
            </a:r>
          </a:p>
          <a:p>
            <a:pPr lvl="2"/>
            <a:r>
              <a:rPr lang="en-US" altLang="ko-KR" dirty="0"/>
              <a:t>The child changes the state variable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done</a:t>
            </a:r>
            <a:r>
              <a:rPr lang="en-US" altLang="ko-KR" dirty="0"/>
              <a:t> to 1 and signals.</a:t>
            </a:r>
          </a:p>
          <a:p>
            <a:pPr lvl="3"/>
            <a:r>
              <a:rPr lang="en-US" altLang="ko-KR" dirty="0"/>
              <a:t>But no thread is waiting and thus no thread is woken.</a:t>
            </a:r>
          </a:p>
          <a:p>
            <a:pPr lvl="3"/>
            <a:r>
              <a:rPr lang="en-US" altLang="ko-KR" dirty="0"/>
              <a:t>When the parent runs again, it sleeps forever.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965627"/>
            <a:ext cx="7632848" cy="2031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	done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(done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}</a:t>
            </a:r>
          </a:p>
        </p:txBody>
      </p:sp>
    </p:spTree>
    <p:extLst>
      <p:ext uri="{BB962C8B-B14F-4D97-AF65-F5344CB8AC3E}">
        <p14:creationId xmlns:p14="http://schemas.microsoft.com/office/powerpoint/2010/main" val="2912822956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 / Consumer (Bound 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Producer</a:t>
            </a:r>
          </a:p>
          <a:p>
            <a:pPr lvl="1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Produce</a:t>
            </a:r>
            <a:r>
              <a:rPr lang="en-US" altLang="ko-KR" dirty="0"/>
              <a:t> data items</a:t>
            </a:r>
          </a:p>
          <a:p>
            <a:pPr lvl="1"/>
            <a:r>
              <a:rPr lang="en-US" altLang="ko-KR" dirty="0"/>
              <a:t>Wish to place data items in a buffer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Consumer</a:t>
            </a:r>
          </a:p>
          <a:p>
            <a:pPr lvl="1"/>
            <a:r>
              <a:rPr lang="en-US" altLang="ko-KR" dirty="0"/>
              <a:t>Grab data items out of the buffer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consume</a:t>
            </a:r>
            <a:r>
              <a:rPr lang="en-US" altLang="ko-KR" dirty="0"/>
              <a:t> them in some way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Example:</a:t>
            </a:r>
            <a:r>
              <a:rPr lang="en-US" altLang="ko-KR" b="1" dirty="0"/>
              <a:t> </a:t>
            </a:r>
            <a:r>
              <a:rPr lang="en-US" altLang="ko-KR" dirty="0"/>
              <a:t>Multi-threaded web server</a:t>
            </a:r>
          </a:p>
          <a:p>
            <a:pPr lvl="1"/>
            <a:r>
              <a:rPr lang="en-US" altLang="ko-KR" i="1" dirty="0"/>
              <a:t>A producer </a:t>
            </a:r>
            <a:r>
              <a:rPr lang="en-US" altLang="ko-KR" dirty="0"/>
              <a:t>puts HTTP requests in to a work queue</a:t>
            </a:r>
          </a:p>
          <a:p>
            <a:pPr lvl="1"/>
            <a:r>
              <a:rPr lang="en-US" altLang="ko-KR" i="1" dirty="0"/>
              <a:t>Consumer threads </a:t>
            </a:r>
            <a:r>
              <a:rPr lang="en-US" altLang="ko-KR" dirty="0"/>
              <a:t>take requests out of this queue and process them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384545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Bounded buffer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bounded buffer is used when you </a:t>
            </a:r>
            <a:r>
              <a:rPr lang="en-US" altLang="ko-KR" u="sng" dirty="0"/>
              <a:t>pipe the output</a:t>
            </a:r>
            <a:r>
              <a:rPr lang="en-US" altLang="ko-KR" dirty="0"/>
              <a:t> of one program into another.</a:t>
            </a:r>
          </a:p>
          <a:p>
            <a:pPr lvl="1"/>
            <a:r>
              <a:rPr lang="en-US" altLang="ko-KR" dirty="0"/>
              <a:t>Example: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grep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foo file.txt |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wc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–l</a:t>
            </a:r>
          </a:p>
          <a:p>
            <a:pPr lvl="2"/>
            <a:r>
              <a:rPr lang="en-US" altLang="ko-KR" dirty="0">
                <a:cs typeface="Courier New" pitchFamily="49" charset="0"/>
              </a:rPr>
              <a:t>The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grep</a:t>
            </a:r>
            <a:r>
              <a:rPr lang="en-US" altLang="ko-KR" dirty="0"/>
              <a:t> process is the producer.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wc</a:t>
            </a:r>
            <a:r>
              <a:rPr lang="en-US" altLang="ko-KR" dirty="0"/>
              <a:t> process is the consumer.</a:t>
            </a:r>
          </a:p>
          <a:p>
            <a:pPr lvl="2"/>
            <a:r>
              <a:rPr lang="en-US" altLang="ko-KR" dirty="0"/>
              <a:t>Between them is an in-kernel </a:t>
            </a:r>
            <a:r>
              <a:rPr lang="en-US" altLang="ko-KR" u="sng" dirty="0"/>
              <a:t>bounded buffer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Bounded buffer is Shared resource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b="1" dirty="0"/>
              <a:t>Synchronized access </a:t>
            </a:r>
            <a:r>
              <a:rPr lang="en-US" altLang="ko-KR" dirty="0"/>
              <a:t>is required.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697727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Put and Get Routines (Version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Only put data into the buffer when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altLang="ko-KR" dirty="0"/>
              <a:t> is zero.</a:t>
            </a:r>
          </a:p>
          <a:p>
            <a:pPr lvl="2"/>
            <a:r>
              <a:rPr lang="en-US" altLang="ko-KR" dirty="0"/>
              <a:t>i.e., when the buffer is </a:t>
            </a:r>
            <a:r>
              <a:rPr lang="en-US" altLang="ko-KR" i="1" dirty="0"/>
              <a:t>empty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Only get data from the buffer when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altLang="ko-KR" dirty="0"/>
              <a:t> is one.</a:t>
            </a:r>
          </a:p>
          <a:p>
            <a:pPr lvl="2"/>
            <a:r>
              <a:rPr lang="en-US" altLang="ko-KR" dirty="0"/>
              <a:t>i.e., when the buffer is </a:t>
            </a:r>
            <a:r>
              <a:rPr lang="en-US" altLang="ko-KR" i="1" dirty="0"/>
              <a:t>full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1040537"/>
            <a:ext cx="7632848" cy="31085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buffer;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initially, empty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put(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	assert(count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	buffer = value;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get()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assert(count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	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buffer;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</p:txBody>
      </p:sp>
    </p:spTree>
    <p:extLst>
      <p:ext uri="{BB962C8B-B14F-4D97-AF65-F5344CB8AC3E}">
        <p14:creationId xmlns:p14="http://schemas.microsoft.com/office/powerpoint/2010/main" val="2900428100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 Threads (Version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Producer</a:t>
            </a:r>
            <a:r>
              <a:rPr lang="en-US" altLang="ko-KR" dirty="0"/>
              <a:t> puts an integer into the shared buffer loops number of times.</a:t>
            </a:r>
          </a:p>
          <a:p>
            <a:pPr lvl="1"/>
            <a:r>
              <a:rPr lang="en-US" altLang="ko-KR" b="1" dirty="0"/>
              <a:t>Consumer</a:t>
            </a:r>
            <a:r>
              <a:rPr lang="en-US" altLang="ko-KR" dirty="0"/>
              <a:t> gets the data out of that shared buffer.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5918" y="932815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loops = 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}</a:t>
            </a:r>
          </a:p>
        </p:txBody>
      </p:sp>
    </p:spTree>
    <p:extLst>
      <p:ext uri="{BB962C8B-B14F-4D97-AF65-F5344CB8AC3E}">
        <p14:creationId xmlns:p14="http://schemas.microsoft.com/office/powerpoint/2010/main" val="4148077501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If Statement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single condition variable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cond</a:t>
            </a:r>
            <a:r>
              <a:rPr lang="en-US" altLang="ko-KR" dirty="0"/>
              <a:t> and associated lock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mutex</a:t>
            </a:r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55576" y="2050390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01687395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If Statement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1090" y="3773593"/>
            <a:ext cx="8286402" cy="1920982"/>
          </a:xfrm>
        </p:spPr>
        <p:txBody>
          <a:bodyPr/>
          <a:lstStyle/>
          <a:p>
            <a:pPr lvl="1"/>
            <a:r>
              <a:rPr lang="en-US" altLang="ko-KR" dirty="0"/>
              <a:t>p1-p3: A producer waits for the buffer to be empty.</a:t>
            </a:r>
          </a:p>
          <a:p>
            <a:pPr lvl="1"/>
            <a:r>
              <a:rPr lang="en-US" altLang="ko-KR" dirty="0"/>
              <a:t>c1-c3: A consumer waits for the buffer to be full.</a:t>
            </a:r>
          </a:p>
          <a:p>
            <a:pPr lvl="1"/>
            <a:r>
              <a:rPr lang="en-US" altLang="ko-KR" dirty="0"/>
              <a:t>With just </a:t>
            </a:r>
            <a:r>
              <a:rPr lang="en-US" altLang="ko-KR" i="1" dirty="0"/>
              <a:t>a single producer </a:t>
            </a:r>
            <a:r>
              <a:rPr lang="en-US" altLang="ko-KR" dirty="0"/>
              <a:t>and </a:t>
            </a:r>
            <a:r>
              <a:rPr lang="en-US" altLang="ko-KR" i="1" dirty="0"/>
              <a:t>a single consumer</a:t>
            </a:r>
            <a:r>
              <a:rPr lang="en-US" altLang="ko-KR" dirty="0"/>
              <a:t>, the code works.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67867" y="851980"/>
            <a:ext cx="7632848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1268190" y="5417428"/>
            <a:ext cx="6696744" cy="64807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 we have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more than 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of producer and consumer?</a:t>
            </a:r>
          </a:p>
        </p:txBody>
      </p:sp>
    </p:spTree>
    <p:extLst>
      <p:ext uri="{BB962C8B-B14F-4D97-AF65-F5344CB8AC3E}">
        <p14:creationId xmlns:p14="http://schemas.microsoft.com/office/powerpoint/2010/main" val="2694831224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C08F0-32DB-2F4B-BB32-AA4B9B43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2AF2E46-2094-1D44-8457-A6BF9FA76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91" y="879475"/>
            <a:ext cx="7376056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2B2D1-01A2-E940-9F18-1727BF21AC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79A9E0-871C-3144-805D-921626399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883484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C6E8B-CB58-354F-995D-75DFCF99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A3ABDB2-657A-2F45-B1C2-4A03F8455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912" y="879475"/>
            <a:ext cx="7383614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4970A-711D-4C4F-9EAF-65BC22BBB8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B2CD3-9FA0-7547-8A85-6E10BB5DC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95410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A989C-B981-7647-8A73-20EA8378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ACA0DDA-8592-C447-A942-97A7AC326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27" y="879475"/>
            <a:ext cx="7676983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66377-5AE3-BE41-87FC-68162CEE62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EB093-72DF-884F-8181-9987E6103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52235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6D30-71CD-BB49-ADAE-E1C26A8D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426F29A-2B1C-7140-83DB-6BE2F00D5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18" y="879475"/>
            <a:ext cx="7216202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69E06-A5B1-D047-B9AC-90C1B5C31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CE6720-37D4-2B41-AC78-50BF997F4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08490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484CB-4E1F-9142-8C7E-5225C811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4643C3A-08AD-1448-B77C-2E7150EC1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29" y="879475"/>
            <a:ext cx="7531579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8D6EB-CE8F-EC43-B513-2BC29D4699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F27BA-830C-DE42-B4AA-CE813B511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402404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C7BF1-C522-0C45-B8C2-7D15EDE3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708E62-C9BC-9146-BB4B-5C9C7208B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47" y="879475"/>
            <a:ext cx="7395743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88395A-F221-CE46-ADAC-D568E14616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78DE8E-CAFD-E446-AC03-A7C58EFF0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4032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CA7F9-4289-2B45-82C1-A146BC54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A3ED71F-B9AB-2F44-BA57-959362210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64" y="879475"/>
            <a:ext cx="7372110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33D6B-ECA9-914D-8730-B573687BDE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3C38C-3E43-1D4A-9E2D-CC143B22E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982321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AB2B6-EB16-D54D-B0C7-64D20470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32DEF8F-2F09-CF4D-AA45-62775EF41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68" y="879475"/>
            <a:ext cx="7515302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E9F81-8775-364E-AF79-76C937B4F5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628D5E-1C70-444F-B35F-09D4A3EE1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089516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E510-BFD0-AA41-9669-DA4BDDC2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969F6D5-FD0B-FE4F-ADDE-4099F144A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" y="879475"/>
            <a:ext cx="6998342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B7D79-FB37-FA44-8784-231E8B602E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F14EB-D765-D540-BFE0-871D52804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79777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1)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686701"/>
              </p:ext>
            </p:extLst>
          </p:nvPr>
        </p:nvGraphicFramePr>
        <p:xfrm>
          <a:off x="1043609" y="908720"/>
          <a:ext cx="6768753" cy="496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Count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Nothing to get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Buffer now full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p5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awoken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p6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Buffer full; 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sneaks in 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 and grabs data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c5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awoken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c6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Oh </a:t>
                      </a:r>
                      <a:r>
                        <a:rPr lang="en-US" altLang="ko-KR" sz="1200" b="1" dirty="0" err="1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oh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! No data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686802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The problem arises for a simple reason:</a:t>
                </a:r>
              </a:p>
              <a:p>
                <a:pPr lvl="1"/>
                <a:r>
                  <a:rPr lang="en-US" altLang="ko-KR" dirty="0"/>
                  <a:t>After the producer woke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, but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ever ran, the state of the bounded buffer </a:t>
                </a:r>
                <a:r>
                  <a:rPr lang="en-US" altLang="ko-KR" i="1" dirty="0"/>
                  <a:t>changed by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There is no guarantee that when the woken thread runs, the state will still be as desired </a:t>
                </a:r>
                <a:r>
                  <a:rPr lang="en-US" altLang="ko-KR" dirty="0">
                    <a:sym typeface="Wingdings" pitchFamily="2" charset="2"/>
                  </a:rPr>
                  <a:t> </a:t>
                </a:r>
                <a:r>
                  <a:rPr lang="en-US" altLang="ko-KR" u="sng" dirty="0">
                    <a:sym typeface="Wingdings" pitchFamily="2" charset="2"/>
                  </a:rPr>
                  <a:t>Mesa semantics</a:t>
                </a:r>
                <a:r>
                  <a:rPr lang="en-US" altLang="ko-KR" dirty="0">
                    <a:sym typeface="Wingdings" pitchFamily="2" charset="2"/>
                  </a:rPr>
                  <a:t>.</a:t>
                </a:r>
              </a:p>
              <a:p>
                <a:pPr lvl="2"/>
                <a:r>
                  <a:rPr lang="en-US" altLang="ko-KR" dirty="0"/>
                  <a:t>Virtually every system ever built employs </a:t>
                </a:r>
                <a:r>
                  <a:rPr lang="en-US" altLang="ko-KR" i="1" dirty="0"/>
                  <a:t>Mesa semantics</a:t>
                </a:r>
                <a:r>
                  <a:rPr lang="en-US" altLang="ko-KR" dirty="0"/>
                  <a:t>.</a:t>
                </a:r>
              </a:p>
              <a:p>
                <a:pPr lvl="2"/>
                <a:endParaRPr lang="ko-KR" altLang="en-US" dirty="0"/>
              </a:p>
              <a:p>
                <a:pPr lvl="1"/>
                <a:r>
                  <a:rPr lang="en-US" altLang="ko-KR" u="sng" dirty="0"/>
                  <a:t>Hoare semantics</a:t>
                </a:r>
                <a:r>
                  <a:rPr lang="en-US" altLang="ko-KR" dirty="0"/>
                  <a:t> provides a stronger guarantee that the woken thread will run immediately upon being woken.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r="-6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761341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While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Consumer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wakes up and </a:t>
                </a:r>
                <a:r>
                  <a:rPr lang="en-US" altLang="ko-KR" dirty="0">
                    <a:solidFill>
                      <a:schemeClr val="accent6">
                        <a:lumMod val="75000"/>
                      </a:schemeClr>
                    </a:solidFill>
                  </a:rPr>
                  <a:t>re-checks</a:t>
                </a:r>
                <a:r>
                  <a:rPr lang="en-US" altLang="ko-KR" dirty="0"/>
                  <a:t> the state of the shared variable.</a:t>
                </a:r>
              </a:p>
              <a:p>
                <a:pPr lvl="1"/>
                <a:r>
                  <a:rPr lang="en-US" altLang="ko-KR" dirty="0"/>
                  <a:t>If the buffer is empty, the consumer simply goes back to sleep.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r="-5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988840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06110095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Producer/Consumer: Single CV and While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A simple rule to remember with condition variables is to </a:t>
            </a:r>
            <a:r>
              <a:rPr lang="en-US" altLang="ko-KR" b="1" dirty="0"/>
              <a:t>always use while loops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However, this code still has a bug (</a:t>
            </a:r>
            <a:r>
              <a:rPr lang="en-US" altLang="ko-KR" i="1" dirty="0"/>
              <a:t>next page</a:t>
            </a:r>
            <a:r>
              <a:rPr lang="en-US" altLang="ko-KR" dirty="0"/>
              <a:t>).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980728"/>
            <a:ext cx="7632848" cy="289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Cont.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</p:spTree>
    <p:extLst>
      <p:ext uri="{BB962C8B-B14F-4D97-AF65-F5344CB8AC3E}">
        <p14:creationId xmlns:p14="http://schemas.microsoft.com/office/powerpoint/2010/main" val="85561213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28BFA-87D5-BE40-A3BB-793E50B5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9C2B5EA-ED73-F546-BA75-15C1A032B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33" y="879475"/>
            <a:ext cx="7597372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B09E4-FC0C-BE48-BD8B-83A0A3A35D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A1B715-304D-804E-885B-6A4EC8CCA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701404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EE96F-FC7F-1D4A-A52D-9E234E03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46E8CF9-CC7B-F24A-B145-22F34903E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21" y="879475"/>
            <a:ext cx="7371595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01972-C4B9-F940-A198-5D598A738D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BA292E-9102-2B4C-B743-AC9B1816B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569866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1E81C-322E-B34B-BBE9-E59FACB0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BB9A7FE-034D-B348-B945-85088697C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37" y="879475"/>
            <a:ext cx="7147563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9BFC1-86CE-3A4C-90E6-1D80232842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0349C1-F55C-394C-999F-9116D0BF4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425348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201E5-25FC-0248-89F6-D5C52A09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0C49192-5F94-8143-AFC9-CE46EFD80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12" y="879475"/>
            <a:ext cx="7286613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E1827-D7CC-EF4B-BFCE-811843E44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6E08A4-22F6-0E4D-8131-006259E58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793109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CF487-EB03-1145-8092-9A8904F7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8D5F5AE-41B4-EF47-BBD6-C02BDCEBC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94" y="879475"/>
            <a:ext cx="7792450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CFBB6-F210-1749-A45E-B6589DFF05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AAF4E-0F32-3F4F-B14F-C1490CE65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807695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18ECD-3BF7-3843-AFFA-D5F2F3B4C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A66E6C3-F2E8-8A42-BF1A-2AB73FF83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93" y="879475"/>
            <a:ext cx="7885651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C6935C-0945-3242-B52B-12556F73E4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E6E47A-CCF9-1D4B-9493-889FFF19C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881383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28CDC-26EF-1A42-BDF4-1DB8910F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3972C30-394B-EA4B-87AE-441B8EE60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48" y="879475"/>
            <a:ext cx="7736941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0B55F-BADD-934D-A9CE-1BA1A6F4B3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06F1D0-00AA-5E4E-BCCA-A691B1452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97495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C962A-F24C-FB4F-8D36-F8289B7F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1A8BE34-8F6B-0042-8CE5-25871232D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42" y="879475"/>
            <a:ext cx="8171554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79EDD0-DD16-6349-A872-457DB5230D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A9EB0E-0DDC-314C-9005-3EE6CA8E0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390485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E3563-EBD1-1F4B-B233-CC4BDB5A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F0D7541-3598-5E4A-9C97-8536E087B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32" y="879475"/>
            <a:ext cx="8544973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D1783-4B7E-6740-A0C6-9E2F69E6D1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7C72CF-79D9-C04C-A4CA-2DAA7F17A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578649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B0528-4151-0245-8622-4357E03C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DCE3F3D-860F-7249-8127-C7C51EAAE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39" y="879475"/>
            <a:ext cx="7491360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193E1-B70D-CC44-8B69-FB2A43D1EA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F924C-1A3C-1743-B582-04A4733CE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635337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94513"/>
              </p:ext>
            </p:extLst>
          </p:nvPr>
        </p:nvGraphicFramePr>
        <p:xfrm>
          <a:off x="1043609" y="980728"/>
          <a:ext cx="6768753" cy="496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Count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Nothing to get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Nothing to get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Buffer now full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p5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awoken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p6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p3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Must sleep (full)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Recheck condition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c4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grabs data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c5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Oops! Woke 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11227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A consumer should not wake other consumers, only producers, and vice-versa.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Broken Solution (Version 2)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532094"/>
              </p:ext>
            </p:extLst>
          </p:nvPr>
        </p:nvGraphicFramePr>
        <p:xfrm>
          <a:off x="1043609" y="980728"/>
          <a:ext cx="6768753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State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Count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4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en-US" altLang="ko-KR" sz="1200" i="1" dirty="0">
                          <a:latin typeface="맑은 고딕" pitchFamily="50" charset="-127"/>
                          <a:ea typeface="맑은 고딕" pitchFamily="50" charset="-127"/>
                        </a:rPr>
                        <a:t>cont.</a:t>
                      </a: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c6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Ready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Nothing to get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c2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Running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918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c3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Sleep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Everyone asleep …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285336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single Buffer Producer/Consumer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</a:t>
            </a:r>
            <a:r>
              <a:rPr lang="en-US" altLang="ko-KR" dirty="0">
                <a:solidFill>
                  <a:srgbClr val="FF0000"/>
                </a:solidFill>
              </a:rPr>
              <a:t>two </a:t>
            </a:r>
            <a:r>
              <a:rPr lang="en-US" altLang="ko-KR" dirty="0"/>
              <a:t>condition variables and while</a:t>
            </a:r>
          </a:p>
          <a:p>
            <a:pPr lvl="1"/>
            <a:r>
              <a:rPr lang="en-US" altLang="ko-KR" b="1" dirty="0"/>
              <a:t>Producer</a:t>
            </a:r>
            <a:r>
              <a:rPr lang="en-US" altLang="ko-KR" dirty="0"/>
              <a:t> threads wait on the condition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empty</a:t>
            </a:r>
            <a:r>
              <a:rPr lang="en-US" altLang="ko-KR" dirty="0"/>
              <a:t>, and signals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fill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Consumer</a:t>
            </a:r>
            <a:r>
              <a:rPr lang="en-US" altLang="ko-KR" dirty="0"/>
              <a:t> threads wait on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fill</a:t>
            </a:r>
            <a:r>
              <a:rPr lang="en-US" altLang="ko-KR" dirty="0"/>
              <a:t> and signal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empty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2481277"/>
            <a:ext cx="763284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empty, fill;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22385587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single Buffer Producer/Consumer Solution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124163"/>
            <a:ext cx="7632848" cy="2893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i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Cont.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</p:spTree>
    <p:extLst>
      <p:ext uri="{BB962C8B-B14F-4D97-AF65-F5344CB8AC3E}">
        <p14:creationId xmlns:p14="http://schemas.microsoft.com/office/powerpoint/2010/main" val="469255314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More </a:t>
            </a:r>
            <a:r>
              <a:rPr lang="en-US" altLang="ko-KR" b="1" dirty="0"/>
              <a:t>concurrency</a:t>
            </a:r>
            <a:r>
              <a:rPr lang="en-US" altLang="ko-KR" dirty="0"/>
              <a:t> and </a:t>
            </a:r>
            <a:r>
              <a:rPr lang="en-US" altLang="ko-KR" b="1" dirty="0"/>
              <a:t>efficiency </a:t>
            </a:r>
            <a:r>
              <a:rPr lang="en-US" altLang="ko-KR" b="1" dirty="0">
                <a:sym typeface="Wingdings" pitchFamily="2" charset="2"/>
              </a:rPr>
              <a:t> </a:t>
            </a:r>
            <a:r>
              <a:rPr lang="en-US" altLang="ko-KR" dirty="0"/>
              <a:t>Add more buffer slots.</a:t>
            </a:r>
          </a:p>
          <a:p>
            <a:pPr lvl="1"/>
            <a:r>
              <a:rPr lang="en-US" altLang="ko-KR" dirty="0"/>
              <a:t>Allow concurrent production or consuming to take place.</a:t>
            </a:r>
          </a:p>
          <a:p>
            <a:pPr lvl="1"/>
            <a:r>
              <a:rPr lang="en-US" altLang="ko-KR" dirty="0"/>
              <a:t>Reduce context switches.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2348880"/>
            <a:ext cx="7632848" cy="375487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buffer[MAX];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fill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use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count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value)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buffer[fill] = value;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fill = (fill +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MAX;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count++;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get()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buffer[use];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    use = (use +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MAX;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    count--;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832" y="6090403"/>
            <a:ext cx="2858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Final Put and Get Routines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6845185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663353"/>
            <a:ext cx="7632848" cy="353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empty, fill;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  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(count == MAX)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    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</a:p>
          <a:p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70748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Final Producer/Consumer Solution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49001" y="4725144"/>
            <a:ext cx="7454031" cy="1224136"/>
          </a:xfrm>
        </p:spPr>
        <p:txBody>
          <a:bodyPr/>
          <a:lstStyle/>
          <a:p>
            <a:pPr lvl="1"/>
            <a:r>
              <a:rPr lang="en-US" altLang="ko-KR" dirty="0"/>
              <a:t>p2: </a:t>
            </a:r>
            <a:r>
              <a:rPr lang="en-US" altLang="ko-KR" b="1" dirty="0"/>
              <a:t>A producer</a:t>
            </a:r>
            <a:r>
              <a:rPr lang="en-US" altLang="ko-KR" dirty="0"/>
              <a:t> only sleeps if all buffers are currently filled.</a:t>
            </a:r>
          </a:p>
          <a:p>
            <a:pPr lvl="1"/>
            <a:r>
              <a:rPr lang="en-US" altLang="ko-KR" dirty="0"/>
              <a:t>c2: </a:t>
            </a:r>
            <a:r>
              <a:rPr lang="en-US" altLang="ko-KR" b="1" dirty="0"/>
              <a:t>A consumer </a:t>
            </a:r>
            <a:r>
              <a:rPr lang="en-US" altLang="ko-KR" dirty="0"/>
              <a:t>only sleeps if all buffers are currently empty.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1147678"/>
            <a:ext cx="7632848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for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(&amp;mutex);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    while (count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c2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(&amp;fill, 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get(); 		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c4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(&amp;empty);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c5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    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6324" y="4023885"/>
            <a:ext cx="3162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Final Working Solution (Cont.)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66771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Covering Conditions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Assume there are zero bytes free</a:t>
                </a:r>
              </a:p>
              <a:p>
                <a:pPr lvl="1"/>
                <a:r>
                  <a:rPr lang="en-US" altLang="ko-KR" dirty="0"/>
                  <a:t>Thread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calls </a:t>
                </a:r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allocate(100)</a:t>
                </a:r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dirty="0"/>
                  <a:t>Thread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calls </a:t>
                </a:r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allocate(10)</a:t>
                </a:r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dirty="0"/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wait on the condition and go to sleep.</a:t>
                </a:r>
              </a:p>
              <a:p>
                <a:pPr lvl="1"/>
                <a:r>
                  <a:rPr lang="en-US" altLang="ko-KR" dirty="0"/>
                  <a:t>Thread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calls </a:t>
                </a:r>
                <a:r>
                  <a:rPr lang="en-US" altLang="ko-KR" dirty="0">
                    <a:latin typeface="Courier New" pitchFamily="49" charset="0"/>
                    <a:cs typeface="Courier New" pitchFamily="49" charset="0"/>
                  </a:rPr>
                  <a:t>free(50)</a:t>
                </a:r>
                <a:r>
                  <a:rPr lang="en-US" altLang="ko-KR" dirty="0"/>
                  <a:t>.</a:t>
                </a:r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3717032"/>
            <a:ext cx="6696744" cy="64807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Which waiting thread should be woken up?</a:t>
            </a:r>
          </a:p>
        </p:txBody>
      </p:sp>
    </p:spTree>
    <p:extLst>
      <p:ext uri="{BB962C8B-B14F-4D97-AF65-F5344CB8AC3E}">
        <p14:creationId xmlns:p14="http://schemas.microsoft.com/office/powerpoint/2010/main" val="3515387093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Covering Conditions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5576" y="974333"/>
            <a:ext cx="7632848" cy="5262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how many bytes of the heap are free?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bytesLeft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MAX_HEAP_SIZE;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need lock and condition too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allocate(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size)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bytesLeft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size)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Pthread_cond_wait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(&amp;c, 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...; 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get 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mem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from heap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bytesLeft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-= size;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free(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size)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bytesLeft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+= size;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Pthread_cond_signal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(&amp;c); 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whom to signal??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(&amp;m);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}</a:t>
            </a:r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204934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Covering Conditions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Solution (Suggested by Lampson and </a:t>
            </a:r>
            <a:r>
              <a:rPr lang="en-US" altLang="ko-KR" dirty="0" err="1"/>
              <a:t>Redell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Replace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pthread_cond_signal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dirty="0"/>
              <a:t>with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pthread_cond_broadcast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pthread_cond_broadcast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/>
            <a:r>
              <a:rPr lang="en-US" altLang="ko-KR" dirty="0"/>
              <a:t>Wake up </a:t>
            </a:r>
            <a:r>
              <a:rPr lang="en-US" altLang="ko-KR" b="1" dirty="0"/>
              <a:t>all waiting threads.</a:t>
            </a:r>
          </a:p>
          <a:p>
            <a:pPr lvl="2"/>
            <a:r>
              <a:rPr lang="en-US" altLang="ko-KR" u="sng" dirty="0"/>
              <a:t>Cost</a:t>
            </a:r>
            <a:r>
              <a:rPr lang="en-US" altLang="ko-KR" dirty="0"/>
              <a:t>: too many threads might be woken.</a:t>
            </a:r>
          </a:p>
          <a:p>
            <a:pPr lvl="2"/>
            <a:r>
              <a:rPr lang="en-US" altLang="ko-KR" dirty="0"/>
              <a:t>Threads that shouldn’t be awake will simply wake up, re-check the condition, and then go back to sleep.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408702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110395</TotalTime>
  <Words>4001</Words>
  <Application>Microsoft Macintosh PowerPoint</Application>
  <PresentationFormat>화면 슬라이드 쇼(4:3)</PresentationFormat>
  <Paragraphs>796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9" baseType="lpstr">
      <vt:lpstr>굴림</vt:lpstr>
      <vt:lpstr>맑은 고딕</vt:lpstr>
      <vt:lpstr>Adobe 고딕 Std B</vt:lpstr>
      <vt:lpstr>HY견고딕</vt:lpstr>
      <vt:lpstr>Cambria Math</vt:lpstr>
      <vt:lpstr>Courier New</vt:lpstr>
      <vt:lpstr>Wingdings</vt:lpstr>
      <vt:lpstr>양식_공청회_발표자료-총괄-양식</vt:lpstr>
      <vt:lpstr>Operating Systems </vt:lpstr>
      <vt:lpstr>PowerPoint 프레젠테이션</vt:lpstr>
      <vt:lpstr>Condition Variables</vt:lpstr>
      <vt:lpstr>Condition Variables</vt:lpstr>
      <vt:lpstr>Parent waiting fore child: Spin-based Approach</vt:lpstr>
      <vt:lpstr>How to wait for a condition</vt:lpstr>
      <vt:lpstr>Definition and Routines</vt:lpstr>
      <vt:lpstr>Parent waiting for Child: Use a condition variable</vt:lpstr>
      <vt:lpstr>Parent waiting for Child: Use a condition variable</vt:lpstr>
      <vt:lpstr>Parent waiting for Child: Use a condition variable</vt:lpstr>
      <vt:lpstr>The importance of the state variable done</vt:lpstr>
      <vt:lpstr>Another poor implementation</vt:lpstr>
      <vt:lpstr>The Producer / Consumer (Bound Buffer) Problem</vt:lpstr>
      <vt:lpstr>Bounded buffer</vt:lpstr>
      <vt:lpstr>The Put and Get Routines (Version 1)</vt:lpstr>
      <vt:lpstr>Producer/Consumer Threads (Version 1)</vt:lpstr>
      <vt:lpstr>Producer/Consumer: Single CV and If Statement</vt:lpstr>
      <vt:lpstr>Producer/Consumer: Single CV and If Statement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Thread Trace: Broken Solution (Version 1)</vt:lpstr>
      <vt:lpstr>Thread Trace: Broken Solution (Version 1)</vt:lpstr>
      <vt:lpstr>Producer/Consumer: Single CV and While</vt:lpstr>
      <vt:lpstr>Producer/Consumer: Single CV and While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Thread Trace: Broken Solution (Version 2)</vt:lpstr>
      <vt:lpstr>Thread Trace: Broken Solution (Version 2) (Cont.)</vt:lpstr>
      <vt:lpstr>The single Buffer Producer/Consumer Solution</vt:lpstr>
      <vt:lpstr>The single Buffer Producer/Consumer Solution</vt:lpstr>
      <vt:lpstr>The Final Producer/Consumer Solution</vt:lpstr>
      <vt:lpstr>The Final Producer/Consumer Solution (Cont.)</vt:lpstr>
      <vt:lpstr>The Final Producer/Consumer Solution (Cont.)</vt:lpstr>
      <vt:lpstr>Covering Conditions</vt:lpstr>
      <vt:lpstr>Covering Conditions (Cont.)</vt:lpstr>
      <vt:lpstr>Covering Conditions (Cont.)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Youjip Won</cp:lastModifiedBy>
  <cp:revision>4153</cp:revision>
  <cp:lastPrinted>2019-09-09T02:10:38Z</cp:lastPrinted>
  <dcterms:created xsi:type="dcterms:W3CDTF">2011-05-01T06:09:10Z</dcterms:created>
  <dcterms:modified xsi:type="dcterms:W3CDTF">2020-05-17T22:01:26Z</dcterms:modified>
  <cp:category/>
</cp:coreProperties>
</file>
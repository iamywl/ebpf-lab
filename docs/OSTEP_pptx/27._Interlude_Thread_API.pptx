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21"/>
  </p:notesMasterIdLst>
  <p:sldIdLst>
    <p:sldId id="2877" r:id="rId2"/>
    <p:sldId id="2621" r:id="rId3"/>
    <p:sldId id="2823" r:id="rId4"/>
    <p:sldId id="2824" r:id="rId5"/>
    <p:sldId id="2623" r:id="rId6"/>
    <p:sldId id="2624" r:id="rId7"/>
    <p:sldId id="2625" r:id="rId8"/>
    <p:sldId id="2626" r:id="rId9"/>
    <p:sldId id="2627" r:id="rId10"/>
    <p:sldId id="2825" r:id="rId11"/>
    <p:sldId id="2629" r:id="rId12"/>
    <p:sldId id="2826" r:id="rId13"/>
    <p:sldId id="2630" r:id="rId14"/>
    <p:sldId id="2827" r:id="rId15"/>
    <p:sldId id="2631" r:id="rId16"/>
    <p:sldId id="2632" r:id="rId17"/>
    <p:sldId id="2828" r:id="rId18"/>
    <p:sldId id="2829" r:id="rId19"/>
    <p:sldId id="2633" r:id="rId20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15" autoAdjust="0"/>
    <p:restoredTop sz="91978" autoAdjust="0"/>
  </p:normalViewPr>
  <p:slideViewPr>
    <p:cSldViewPr>
      <p:cViewPr varScale="1">
        <p:scale>
          <a:sx n="181" d="100"/>
          <a:sy n="181" d="100"/>
        </p:scale>
        <p:origin x="176" y="4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2020. 4. 26.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hyperlink" Target="https://oslab.kaist.ac.kr/" TargetMode="External"/><Relationship Id="rId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9" name="Picture 2">
            <a:hlinkClick r:id="rId5"/>
            <a:extLst>
              <a:ext uri="{FF2B5EF4-FFF2-40B4-BE49-F238E27FC236}">
                <a16:creationId xmlns="" xmlns:a16="http://schemas.microsoft.com/office/drawing/2014/main" id="{02C5B705-6683-0E42-9CAB-8553C64C4F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" y="6441219"/>
            <a:ext cx="2429396" cy="50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326009"/>
          </a:xfrm>
        </p:spPr>
        <p:txBody>
          <a:bodyPr/>
          <a:lstStyle/>
          <a:p>
            <a:r>
              <a:rPr lang="en-US" sz="3600" dirty="0"/>
              <a:t>Operating Systems</a:t>
            </a:r>
            <a:br>
              <a:rPr lang="en-US" sz="3600" dirty="0"/>
            </a:b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869081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27. Interlude: Thread API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974721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Creation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1024086"/>
            <a:ext cx="8786812" cy="4925194"/>
          </a:xfrm>
        </p:spPr>
        <p:txBody>
          <a:bodyPr/>
          <a:lstStyle/>
          <a:p>
            <a:r>
              <a:rPr lang="en-US" altLang="ko-KR" sz="1800" dirty="0"/>
              <a:t>How to create and control threads?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pPr lvl="1"/>
            <a:endParaRPr lang="en-US" altLang="ko-KR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</a:t>
            </a:r>
            <a:r>
              <a:rPr lang="en-US" altLang="ko-KR" sz="1600" dirty="0"/>
              <a:t>: Used to interact with this thread.</a:t>
            </a:r>
          </a:p>
          <a:p>
            <a:pPr lvl="1"/>
            <a:r>
              <a:rPr lang="en-US" altLang="ko-KR" sz="16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US" altLang="ko-KR" sz="1600" dirty="0">
                <a:cs typeface="Courier New" panose="02070309020205020404" pitchFamily="49" charset="0"/>
              </a:rPr>
              <a:t>:</a:t>
            </a:r>
            <a:r>
              <a:rPr lang="en-US" altLang="ko-KR" sz="1600" dirty="0"/>
              <a:t> Used to specify any attributes this thread might have.</a:t>
            </a:r>
          </a:p>
          <a:p>
            <a:pPr lvl="2"/>
            <a:r>
              <a:rPr lang="en-US" altLang="ko-KR" sz="1400" dirty="0"/>
              <a:t>Stack size, Scheduling priority, …</a:t>
            </a:r>
          </a:p>
          <a:p>
            <a:pPr lvl="1"/>
            <a:r>
              <a:rPr lang="en-US" altLang="ko-KR" sz="16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start_routine</a:t>
            </a:r>
            <a:r>
              <a:rPr lang="en-US" altLang="ko-KR" sz="1600" dirty="0"/>
              <a:t>: the function this thread start running in.</a:t>
            </a:r>
          </a:p>
          <a:p>
            <a:pPr lvl="1"/>
            <a:r>
              <a:rPr lang="en-US" altLang="ko-KR" sz="16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600" dirty="0"/>
              <a:t>: the argument to be passed to the function (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start routine</a:t>
            </a:r>
            <a:r>
              <a:rPr lang="en-US" altLang="ko-KR" sz="1600" dirty="0"/>
              <a:t>)</a:t>
            </a:r>
          </a:p>
          <a:p>
            <a:pPr lvl="2"/>
            <a:r>
              <a:rPr lang="en-US" altLang="ko-KR" sz="1400" i="1" dirty="0"/>
              <a:t>a void pointer </a:t>
            </a:r>
            <a:r>
              <a:rPr lang="en-US" altLang="ko-KR" sz="1400" dirty="0"/>
              <a:t>allows us to pass in </a:t>
            </a:r>
            <a:r>
              <a:rPr lang="en-US" altLang="ko-KR" sz="1400" i="1" dirty="0"/>
              <a:t>any type of </a:t>
            </a:r>
            <a:r>
              <a:rPr lang="en-US" altLang="ko-KR" sz="1400" dirty="0"/>
              <a:t>argument.</a:t>
            </a:r>
          </a:p>
          <a:p>
            <a:pPr lvl="1"/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1560" y="1700808"/>
            <a:ext cx="792088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#include &lt;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pthread.h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endParaRPr lang="en-US" altLang="ko-KR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 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      thread,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</a:t>
            </a:r>
            <a:r>
              <a:rPr lang="en-US" altLang="ko-KR" sz="1600" dirty="0" err="1" smtClean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const</a:t>
            </a:r>
            <a:r>
              <a:rPr lang="en-US" altLang="ko-KR" sz="1600" dirty="0" smtClean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pthread_attr_t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attr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   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           (*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start_routine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*),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   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      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96043971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Creation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start_routine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/>
              <a:t>instead </a:t>
            </a:r>
            <a:r>
              <a:rPr lang="en-US" altLang="ko-KR" dirty="0" smtClean="0"/>
              <a:t>requires </a:t>
            </a:r>
            <a:r>
              <a:rPr lang="en-US" altLang="ko-KR" dirty="0"/>
              <a:t>another type argument, the declaration would look like this:</a:t>
            </a:r>
          </a:p>
          <a:p>
            <a:pPr lvl="1"/>
            <a:r>
              <a:rPr lang="en-US" altLang="ko-KR" dirty="0"/>
              <a:t>An integer argument: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Return an integer: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2423790"/>
            <a:ext cx="691276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endParaRPr lang="en-US" altLang="ko-KR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(…,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first two </a:t>
            </a:r>
            <a:r>
              <a:rPr lang="en-US" altLang="ko-KR" sz="16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are the same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   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  (*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start_routine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)(</a:t>
            </a:r>
            <a:r>
              <a:rPr lang="en-US" altLang="ko-KR" sz="1600" b="1" dirty="0" err="1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),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     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8" y="4295998"/>
            <a:ext cx="691276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endParaRPr lang="en-US" altLang="ko-KR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(…,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first two </a:t>
            </a:r>
            <a:r>
              <a:rPr lang="en-US" altLang="ko-KR" sz="16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are the same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      </a:t>
            </a:r>
            <a:r>
              <a:rPr lang="en-US" altLang="ko-KR" sz="1600" b="1" dirty="0" err="1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(*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start_routine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),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   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0394021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Creating a Thread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045760"/>
            <a:ext cx="8352928" cy="50475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typedef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__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a;</a:t>
            </a:r>
          </a:p>
          <a:p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b;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*m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“%d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%d\n”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m-&gt;a, m-&gt;b);</a:t>
            </a:r>
          </a:p>
          <a:p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p;</a:t>
            </a:r>
          </a:p>
          <a:p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args.a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args.b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(&amp;p,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…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1835717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Wait for a thread to complete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thread</a:t>
            </a:r>
            <a:r>
              <a:rPr lang="en-US" altLang="ko-KR" dirty="0"/>
              <a:t>: Specify which thread </a:t>
            </a:r>
            <a:r>
              <a:rPr lang="en-US" altLang="ko-KR" i="1" dirty="0"/>
              <a:t>to wait </a:t>
            </a:r>
            <a:r>
              <a:rPr lang="en-US" altLang="ko-KR" i="1" dirty="0" smtClean="0"/>
              <a:t>for.</a:t>
            </a:r>
            <a:endParaRPr lang="en-US" altLang="ko-KR" i="1" dirty="0"/>
          </a:p>
          <a:p>
            <a:pPr lvl="1"/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value_ptr</a:t>
            </a:r>
            <a:r>
              <a:rPr lang="en-US" altLang="ko-KR" dirty="0"/>
              <a:t>: A pointer to the </a:t>
            </a:r>
            <a:r>
              <a:rPr lang="en-US" altLang="ko-KR" u="sng" dirty="0"/>
              <a:t>return value</a:t>
            </a:r>
          </a:p>
          <a:p>
            <a:pPr lvl="2"/>
            <a:r>
              <a:rPr lang="en-US" altLang="ko-KR" dirty="0"/>
              <a:t>Because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 routine changes the value, you need to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pass </a:t>
            </a:r>
            <a:r>
              <a:rPr lang="en-US" altLang="ko-KR" dirty="0" smtClean="0">
                <a:solidFill>
                  <a:schemeClr val="accent6">
                    <a:lumMod val="75000"/>
                  </a:schemeClr>
                </a:solidFill>
              </a:rPr>
              <a:t>the pointer</a:t>
            </a:r>
            <a:r>
              <a:rPr lang="en-US" altLang="ko-KR" dirty="0" smtClean="0"/>
              <a:t> </a:t>
            </a:r>
            <a:r>
              <a:rPr lang="en-US" altLang="ko-KR" dirty="0"/>
              <a:t>to that value.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1124744"/>
            <a:ext cx="7488832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 anchor="ctr">
            <a:noAutofit/>
          </a:bodyPr>
          <a:lstStyle/>
          <a:p>
            <a:r>
              <a:rPr lang="en-US" altLang="ko-KR" sz="160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pthread_join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thread,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value_ptr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07950398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Waiting for Thread Completion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2216" y="1045760"/>
            <a:ext cx="8352928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stdio.h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assert.h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stdlib.h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typedef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__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a;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b;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typedef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__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myret_t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x;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y;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myret_t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*m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“%d %d\n”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m-&gt;a, m-&gt;b);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myret_t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*r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malloc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myret_t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r-&gt;x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r-&gt;y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r;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2687415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Waiting for Thread Completion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1255" y="1124744"/>
            <a:ext cx="8352928" cy="40318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myret_t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*m;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args.a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args.b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(&amp;p,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pthread_join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(p, 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**) &amp;m); 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this thread has been					   // waiting inside of the 						   // </a:t>
            </a:r>
            <a:r>
              <a:rPr lang="en-US" altLang="ko-KR" sz="16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pthread_join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routine.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“returned %d %d\n”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m-&gt;x, m-&gt;y);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600" dirty="0" smtClean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  <a:endParaRPr lang="en-US" altLang="ko-KR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802452797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Dangerous code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Be careful with </a:t>
            </a:r>
            <a:r>
              <a:rPr lang="en-US" altLang="ko-KR" u="sng" dirty="0"/>
              <a:t>how values are returned</a:t>
            </a:r>
            <a:r>
              <a:rPr lang="en-US" altLang="ko-KR" dirty="0"/>
              <a:t> from a thread.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When the variable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ko-KR" dirty="0"/>
              <a:t> returns, it is automatically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de-allocated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1654929"/>
            <a:ext cx="7430144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*m = 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“%d %d\n”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m-&gt;a, m-&gt;b);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myret_t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r;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ALLOCATED ON STACK: BAD!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r.x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r.y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&amp;r;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491663071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Simpler Argument Passing to a Thread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Just passing in a single value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2216" y="1556792"/>
            <a:ext cx="8352928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 = (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“%d\n”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m);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+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m;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(&amp;p,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pthread_join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(p, 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**) &amp;m);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“returned %d\n”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m);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687013255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Provide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mutual exclusion </a:t>
            </a:r>
            <a:r>
              <a:rPr lang="en-US" altLang="ko-KR" dirty="0"/>
              <a:t>to a critical section</a:t>
            </a:r>
          </a:p>
          <a:p>
            <a:pPr lvl="1"/>
            <a:r>
              <a:rPr lang="en-US" altLang="ko-KR" dirty="0"/>
              <a:t>Interface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Usage (w/o </a:t>
            </a:r>
            <a:r>
              <a:rPr lang="en-US" altLang="ko-KR" i="1" dirty="0"/>
              <a:t>lock initialization</a:t>
            </a:r>
            <a:r>
              <a:rPr lang="en-US" altLang="ko-KR" dirty="0"/>
              <a:t> and </a:t>
            </a:r>
            <a:r>
              <a:rPr lang="en-US" altLang="ko-KR" i="1" dirty="0"/>
              <a:t>error check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2"/>
            <a:r>
              <a:rPr lang="en-US" altLang="ko-KR" dirty="0"/>
              <a:t>No other thread holds the lock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the thread will acquire the lock and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enter the critical section.</a:t>
            </a:r>
          </a:p>
          <a:p>
            <a:pPr lvl="2"/>
            <a:r>
              <a:rPr lang="en-US" altLang="ko-KR" dirty="0"/>
              <a:t>If another thread hold the lock </a:t>
            </a:r>
            <a:r>
              <a:rPr lang="en-US" altLang="ko-KR" dirty="0">
                <a:sym typeface="Wingdings" panose="05000000000000000000" pitchFamily="2" charset="2"/>
              </a:rPr>
              <a:t> the thread will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not return from the call</a:t>
            </a:r>
            <a:r>
              <a:rPr lang="en-US" altLang="ko-KR" dirty="0">
                <a:sym typeface="Wingdings" panose="05000000000000000000" pitchFamily="2" charset="2"/>
              </a:rPr>
              <a:t> until it has acquired the lock.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4264" y="1908121"/>
            <a:ext cx="721412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4264" y="3356992"/>
            <a:ext cx="7214120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lock;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x = x +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or whatever your critical section is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</p:txBody>
      </p:sp>
    </p:spTree>
    <p:extLst>
      <p:ext uri="{BB962C8B-B14F-4D97-AF65-F5344CB8AC3E}">
        <p14:creationId xmlns:p14="http://schemas.microsoft.com/office/powerpoint/2010/main" val="3706849924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Locks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All locks must be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properly initialized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One way: using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PTHREAD_MUTEX_INITIALIZER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The dynamic way: using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pthread_mutex_init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1988840"/>
            <a:ext cx="720080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lock = PTHREAD_MUTEX_INITIALIZER;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84" y="3060249"/>
            <a:ext cx="72008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pthread_mutex_init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(&amp;lock,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assert(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always check success!</a:t>
            </a:r>
          </a:p>
        </p:txBody>
      </p:sp>
    </p:spTree>
    <p:extLst>
      <p:ext uri="{BB962C8B-B14F-4D97-AF65-F5344CB8AC3E}">
        <p14:creationId xmlns:p14="http://schemas.microsoft.com/office/powerpoint/2010/main" val="3917674454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Locks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Check errors </a:t>
            </a:r>
            <a:r>
              <a:rPr lang="en-US" altLang="ko-KR" dirty="0"/>
              <a:t>code when calling lock and unlock</a:t>
            </a:r>
          </a:p>
          <a:p>
            <a:pPr lvl="1"/>
            <a:r>
              <a:rPr lang="en-US" altLang="ko-KR" dirty="0"/>
              <a:t>An example wrapper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These two calls are used in lock acquisition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 err="1"/>
              <a:t>trylock</a:t>
            </a:r>
            <a:r>
              <a:rPr lang="en-US" altLang="ko-KR" dirty="0"/>
              <a:t>: return failure if the lock is already held</a:t>
            </a:r>
          </a:p>
          <a:p>
            <a:pPr lvl="1"/>
            <a:r>
              <a:rPr lang="en-US" altLang="ko-KR" dirty="0" err="1"/>
              <a:t>timelock</a:t>
            </a:r>
            <a:r>
              <a:rPr lang="en-US" altLang="ko-KR" dirty="0"/>
              <a:t>: return after a timeout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272" y="2003356"/>
            <a:ext cx="757416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Use this to keep your code clean but check for failures</a:t>
            </a:r>
          </a:p>
          <a:p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// Only use if exiting program is OK upon failure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assert(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256" y="4437112"/>
            <a:ext cx="779018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pthread_mutex_trylock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pthread_mutex_timelock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        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timespec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abs_timeout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67779686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Locks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These two calls are also used in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lock acquisition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trylock</a:t>
            </a:r>
            <a:r>
              <a:rPr lang="en-US" altLang="ko-KR" dirty="0"/>
              <a:t>: return failure if the lock is already held</a:t>
            </a:r>
          </a:p>
          <a:p>
            <a:pPr lvl="1"/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timelock</a:t>
            </a:r>
            <a:r>
              <a:rPr lang="en-US" altLang="ko-KR" dirty="0"/>
              <a:t>: return after a timeout or after acquiring the lock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256" y="1556792"/>
            <a:ext cx="779018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pthread_mutex_trylock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pthread_mutex_timelock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        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timespec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abs_timeout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09028060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 Variables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Condition variables </a:t>
            </a:r>
            <a:r>
              <a:rPr lang="en-US" altLang="ko-KR" dirty="0"/>
              <a:t>are useful when some kind of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signaling</a:t>
            </a:r>
            <a:r>
              <a:rPr lang="en-US" altLang="ko-KR" dirty="0"/>
              <a:t> must take place between threads.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pthread_cond_wait</a:t>
            </a:r>
            <a:r>
              <a:rPr lang="en-US" altLang="ko-KR" dirty="0"/>
              <a:t>:</a:t>
            </a:r>
          </a:p>
          <a:p>
            <a:pPr lvl="2"/>
            <a:r>
              <a:rPr lang="en-US" altLang="ko-KR" dirty="0"/>
              <a:t>Put the calling thread to sleep.</a:t>
            </a:r>
          </a:p>
          <a:p>
            <a:pPr lvl="2"/>
            <a:r>
              <a:rPr lang="en-US" altLang="ko-KR" dirty="0"/>
              <a:t>Wait for some other thread to signal it.</a:t>
            </a:r>
          </a:p>
          <a:p>
            <a:pPr lvl="1"/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pthread_cond_signal</a:t>
            </a:r>
            <a:r>
              <a:rPr lang="en-US" altLang="ko-KR" dirty="0"/>
              <a:t>:</a:t>
            </a:r>
          </a:p>
          <a:p>
            <a:pPr lvl="2"/>
            <a:r>
              <a:rPr lang="en-US" altLang="ko-KR" dirty="0"/>
              <a:t>Unblock at least one of the threads that are blocked on the condition variable</a:t>
            </a:r>
          </a:p>
          <a:p>
            <a:endParaRPr lang="en-US" altLang="ko-KR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272" y="1988840"/>
            <a:ext cx="699809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   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838597809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 Variables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thread calling wait routine: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The wait call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releases the lock </a:t>
            </a:r>
            <a:r>
              <a:rPr lang="en-US" altLang="ko-KR" dirty="0"/>
              <a:t>when putting said caller to sleep.</a:t>
            </a:r>
          </a:p>
          <a:p>
            <a:pPr lvl="1"/>
            <a:r>
              <a:rPr lang="en-US" altLang="ko-KR" dirty="0"/>
              <a:t>Before returning after being woken, the wait call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re-acquire the lock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 thread calling signal routine: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1412776"/>
            <a:ext cx="7344816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lock = PTHREAD_MUTEX_INITIALIZER;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PTHREAD_COND_INITIALIZER;</a:t>
            </a:r>
          </a:p>
          <a:p>
            <a:endParaRPr lang="en-US" altLang="ko-KR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  <a:p>
            <a:r>
              <a:rPr lang="en-US" altLang="ko-KR" sz="16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(initialized ==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&amp;lock);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576" y="4800054"/>
            <a:ext cx="7344816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initialized 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</p:txBody>
      </p:sp>
    </p:spTree>
    <p:extLst>
      <p:ext uri="{BB962C8B-B14F-4D97-AF65-F5344CB8AC3E}">
        <p14:creationId xmlns:p14="http://schemas.microsoft.com/office/powerpoint/2010/main" val="617603559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 Variables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waiting thread </a:t>
            </a:r>
            <a:r>
              <a:rPr lang="en-US" altLang="ko-KR" b="1" dirty="0"/>
              <a:t>re-checks</a:t>
            </a:r>
            <a:r>
              <a:rPr lang="en-US" altLang="ko-KR" dirty="0"/>
              <a:t> the condition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in a while loop</a:t>
            </a:r>
            <a:r>
              <a:rPr lang="en-US" altLang="ko-KR" dirty="0"/>
              <a:t>, instead of a simple if statement.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Without rechecking, the waiting thread will continue thinking that the condition has changed </a:t>
            </a:r>
            <a:r>
              <a:rPr lang="en-US" altLang="ko-KR" i="1" u="sng" dirty="0"/>
              <a:t>even though it has not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1988840"/>
            <a:ext cx="7344816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lock = PTHREAD_MUTEX_INITIALIZER;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PTHREAD_COND_INITIALIZER;</a:t>
            </a:r>
          </a:p>
          <a:p>
            <a:endParaRPr lang="en-US" altLang="ko-KR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  <a:p>
            <a:r>
              <a:rPr lang="en-US" altLang="ko-KR" sz="16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(initialized ==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&amp;lock);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71600" y="3021335"/>
            <a:ext cx="4968552" cy="504056"/>
          </a:xfrm>
          <a:prstGeom prst="rect">
            <a:avLst/>
          </a:prstGeom>
          <a:noFill/>
          <a:ln w="158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134629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 Variables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Don’t ever to this.</a:t>
            </a:r>
          </a:p>
          <a:p>
            <a:pPr lvl="1"/>
            <a:r>
              <a:rPr lang="en-US" altLang="ko-KR" dirty="0"/>
              <a:t>A thread calling wait routine: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A thread calling signal routine: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It performs poorly in many cases. </a:t>
            </a:r>
            <a:r>
              <a:rPr lang="en-US" altLang="ko-KR" dirty="0">
                <a:sym typeface="Wingdings" panose="05000000000000000000" pitchFamily="2" charset="2"/>
              </a:rPr>
              <a:t> just wastes CPU cycles.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It is error prone.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1600" y="1988840"/>
            <a:ext cx="561662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(initialized ==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;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spin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600" y="3348281"/>
            <a:ext cx="561662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initialized 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6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85512838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Compiling and Running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compile them, you must include the header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pthread.h</a:t>
            </a:r>
            <a:endParaRPr lang="en-US" altLang="ko-KR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altLang="ko-KR" dirty="0"/>
              <a:t>Explicitly link with the </a:t>
            </a:r>
            <a:r>
              <a:rPr lang="en-US" altLang="ko-KR" dirty="0" err="1">
                <a:solidFill>
                  <a:schemeClr val="accent6">
                    <a:lumMod val="75000"/>
                  </a:schemeClr>
                </a:solidFill>
              </a:rPr>
              <a:t>pthreads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 library</a:t>
            </a:r>
            <a:r>
              <a:rPr lang="en-US" altLang="ko-KR" dirty="0"/>
              <a:t>, by adding the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–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pthread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dirty="0"/>
              <a:t>flag.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For more information,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0288" y="1988840"/>
            <a:ext cx="598998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prompt&gt;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gcc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–o main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main.c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–Wall -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</a:t>
            </a:r>
            <a:endParaRPr lang="en-US" altLang="ko-KR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0288" y="3429000"/>
            <a:ext cx="598998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man –k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</a:t>
            </a:r>
            <a:endParaRPr lang="en-US" altLang="ko-KR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711993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109965</TotalTime>
  <Words>1304</Words>
  <Application>Microsoft Macintosh PowerPoint</Application>
  <PresentationFormat>On-screen Show (4:3)</PresentationFormat>
  <Paragraphs>304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Adobe Arabic</vt:lpstr>
      <vt:lpstr>Adobe 고딕 Std B</vt:lpstr>
      <vt:lpstr>Courier New</vt:lpstr>
      <vt:lpstr>HY견고딕</vt:lpstr>
      <vt:lpstr>Wingdings</vt:lpstr>
      <vt:lpstr>굴림</vt:lpstr>
      <vt:lpstr>맑은 고딕</vt:lpstr>
      <vt:lpstr>Arial</vt:lpstr>
      <vt:lpstr>양식_공청회_발표자료-총괄-양식</vt:lpstr>
      <vt:lpstr>Operating Systems </vt:lpstr>
      <vt:lpstr>PowerPoint Presentation</vt:lpstr>
      <vt:lpstr>Thread Creation</vt:lpstr>
      <vt:lpstr>Thread Creation (Cont.)</vt:lpstr>
      <vt:lpstr>Example: Creating a Thread</vt:lpstr>
      <vt:lpstr>Wait for a thread to complete</vt:lpstr>
      <vt:lpstr>Example: Waiting for Thread Completion</vt:lpstr>
      <vt:lpstr>Example: Waiting for Thread Completion (Cont.)</vt:lpstr>
      <vt:lpstr>Example: Dangerous code</vt:lpstr>
      <vt:lpstr>Example: Simpler Argument Passing to a Thread</vt:lpstr>
      <vt:lpstr>Locks</vt:lpstr>
      <vt:lpstr>Locks (Cont.)</vt:lpstr>
      <vt:lpstr>Locks (Cont.)</vt:lpstr>
      <vt:lpstr>Locks (Cont.)</vt:lpstr>
      <vt:lpstr>Condition Variables</vt:lpstr>
      <vt:lpstr>Condition Variables (Cont.)</vt:lpstr>
      <vt:lpstr>Condition Variables (Cont.)</vt:lpstr>
      <vt:lpstr>Condition Variables (Cont.)</vt:lpstr>
      <vt:lpstr>Compiling and Running</vt:lpstr>
    </vt:vector>
  </TitlesOfParts>
  <Manager/>
  <Company/>
  <LinksUpToDate>false</LinksUpToDate>
  <SharedDoc>false</SharedDoc>
  <HyperlinkBase/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Won Youjip</cp:lastModifiedBy>
  <cp:revision>4148</cp:revision>
  <cp:lastPrinted>2019-09-09T02:10:38Z</cp:lastPrinted>
  <dcterms:created xsi:type="dcterms:W3CDTF">2011-05-01T06:09:10Z</dcterms:created>
  <dcterms:modified xsi:type="dcterms:W3CDTF">2020-04-26T11:30:00Z</dcterms:modified>
  <cp:category/>
</cp:coreProperties>
</file>
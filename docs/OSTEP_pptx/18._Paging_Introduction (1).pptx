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0" r:id="rId1"/>
  </p:sldMasterIdLst>
  <p:notesMasterIdLst>
    <p:notesMasterId r:id="rId19"/>
  </p:notesMasterIdLst>
  <p:sldIdLst>
    <p:sldId id="2877" r:id="rId2"/>
    <p:sldId id="2807" r:id="rId3"/>
    <p:sldId id="2808" r:id="rId4"/>
    <p:sldId id="2809" r:id="rId5"/>
    <p:sldId id="2810" r:id="rId6"/>
    <p:sldId id="2811" r:id="rId7"/>
    <p:sldId id="2812" r:id="rId8"/>
    <p:sldId id="2813" r:id="rId9"/>
    <p:sldId id="2814" r:id="rId10"/>
    <p:sldId id="2815" r:id="rId11"/>
    <p:sldId id="2816" r:id="rId12"/>
    <p:sldId id="2817" r:id="rId13"/>
    <p:sldId id="2818" r:id="rId14"/>
    <p:sldId id="2819" r:id="rId15"/>
    <p:sldId id="2888" r:id="rId16"/>
    <p:sldId id="2820" r:id="rId17"/>
    <p:sldId id="2821" r:id="rId18"/>
  </p:sldIdLst>
  <p:sldSz cx="9144000" cy="6858000" type="screen4x3"/>
  <p:notesSz cx="6797675" cy="9928225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  <p15:guide id="3" orient="horz" pos="3127">
          <p15:clr>
            <a:srgbClr val="A4A3A4"/>
          </p15:clr>
        </p15:guide>
        <p15:guide id="4" pos="2142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KYLim" initials="K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3FF"/>
    <a:srgbClr val="6699FF"/>
    <a:srgbClr val="FF66CC"/>
    <a:srgbClr val="CC00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799B23B-EC83-4686-B30A-512413B5E67A}" styleName="밝은 스타일 3 - 강조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6139" autoAdjust="0"/>
    <p:restoredTop sz="91978" autoAdjust="0"/>
  </p:normalViewPr>
  <p:slideViewPr>
    <p:cSldViewPr>
      <p:cViewPr varScale="1">
        <p:scale>
          <a:sx n="183" d="100"/>
          <a:sy n="183" d="100"/>
        </p:scale>
        <p:origin x="208" y="40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0" d="100"/>
        <a:sy n="150" d="100"/>
      </p:scale>
      <p:origin x="0" y="0"/>
    </p:cViewPr>
  </p:sorterViewPr>
  <p:notesViewPr>
    <p:cSldViewPr>
      <p:cViewPr varScale="1">
        <p:scale>
          <a:sx n="115" d="100"/>
          <a:sy n="115" d="100"/>
        </p:scale>
        <p:origin x="5178" y="120"/>
      </p:cViewPr>
      <p:guideLst>
        <p:guide orient="horz" pos="2880"/>
        <p:guide pos="2160"/>
        <p:guide orient="horz" pos="3127"/>
        <p:guide pos="2142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8.xml"/><Relationship Id="rId20" Type="http://schemas.openxmlformats.org/officeDocument/2006/relationships/commentAuthors" Target="commentAuthors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444" y="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/>
          <a:lstStyle>
            <a:lvl1pPr algn="r">
              <a:defRPr sz="1200"/>
            </a:lvl1pPr>
          </a:lstStyle>
          <a:p>
            <a:fld id="{050F0499-AE52-4672-879B-3107B2FC2A9F}" type="datetimeFigureOut">
              <a:rPr lang="ko-KR" altLang="en-US" smtClean="0"/>
              <a:t>2020. 4. 12.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33" tIns="45717" rIns="91433" bIns="45717" rtlCol="0" anchor="ctr"/>
          <a:lstStyle/>
          <a:p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444" y="9430091"/>
            <a:ext cx="2945659" cy="496411"/>
          </a:xfrm>
          <a:prstGeom prst="rect">
            <a:avLst/>
          </a:prstGeom>
        </p:spPr>
        <p:txBody>
          <a:bodyPr vert="horz" lIns="91433" tIns="45717" rIns="91433" bIns="45717" rtlCol="0" anchor="b"/>
          <a:lstStyle>
            <a:lvl1pPr algn="r">
              <a:defRPr sz="1200"/>
            </a:lvl1pPr>
          </a:lstStyle>
          <a:p>
            <a:fld id="{E9CED1A8-8C93-4BD0-9402-1D92621696D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52329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부제목 2"/>
          <p:cNvSpPr>
            <a:spLocks noGrp="1"/>
          </p:cNvSpPr>
          <p:nvPr>
            <p:ph type="subTitle" idx="1"/>
          </p:nvPr>
        </p:nvSpPr>
        <p:spPr>
          <a:xfrm>
            <a:off x="251520" y="78531"/>
            <a:ext cx="8640960" cy="576065"/>
          </a:xfrm>
        </p:spPr>
        <p:txBody>
          <a:bodyPr anchor="ctr"/>
          <a:lstStyle>
            <a:lvl1pPr marL="0" indent="0" algn="ctr" rtl="0" fontAlgn="base" latinLnBrk="1">
              <a:spcBef>
                <a:spcPct val="0"/>
              </a:spcBef>
              <a:spcAft>
                <a:spcPct val="0"/>
              </a:spcAft>
              <a:buNone/>
              <a:defRPr kumimoji="1" lang="ko-KR" altLang="en-US" sz="2400" b="1" kern="1200" cap="none" spc="0" dirty="0">
                <a:ln>
                  <a:noFill/>
                </a:ln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Arial" pitchFamily="34" charset="0"/>
                <a:cs typeface="Arial" pitchFamily="34" charset="0"/>
              </a:defRPr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ko-KR" altLang="en-US" dirty="0"/>
              <a:t>마스터 부제목 스타일 편집</a:t>
            </a:r>
          </a:p>
        </p:txBody>
      </p:sp>
      <p:sp>
        <p:nvSpPr>
          <p:cNvPr id="19" name="제목 1"/>
          <p:cNvSpPr>
            <a:spLocks noGrp="1"/>
          </p:cNvSpPr>
          <p:nvPr>
            <p:ph type="ctrTitle"/>
          </p:nvPr>
        </p:nvSpPr>
        <p:spPr>
          <a:xfrm>
            <a:off x="685800" y="1772816"/>
            <a:ext cx="7772400" cy="1542033"/>
          </a:xfrm>
          <a:effectLst>
            <a:outerShdw dist="17780" dir="2700000" algn="ctr" rotWithShape="0">
              <a:srgbClr val="000000"/>
            </a:outerShdw>
          </a:effectLst>
        </p:spPr>
        <p:txBody>
          <a:bodyPr/>
          <a:lstStyle>
            <a:lvl1pPr algn="ctr" rtl="0" fontAlgn="base" latinLnBrk="1">
              <a:spcBef>
                <a:spcPct val="0"/>
              </a:spcBef>
              <a:spcAft>
                <a:spcPct val="0"/>
              </a:spcAft>
              <a:defRPr kumimoji="1" lang="ko-KR" altLang="en-US" sz="4400" b="1" kern="1200" dirty="0">
                <a:solidFill>
                  <a:schemeClr val="tx2">
                    <a:lumMod val="75000"/>
                  </a:schemeClr>
                </a:solidFill>
                <a:latin typeface="Adobe 고딕 Std B" pitchFamily="34" charset="-127"/>
                <a:ea typeface="Adobe 고딕 Std B" pitchFamily="34" charset="-127"/>
                <a:cs typeface="Adobe Arabic" pitchFamily="18" charset="-78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36" name="그룹 35"/>
          <p:cNvGrpSpPr/>
          <p:nvPr userDrawn="1"/>
        </p:nvGrpSpPr>
        <p:grpSpPr>
          <a:xfrm>
            <a:off x="-3579" y="3573016"/>
            <a:ext cx="9147579" cy="64193"/>
            <a:chOff x="-3579" y="3356992"/>
            <a:chExt cx="9147579" cy="64193"/>
          </a:xfrm>
        </p:grpSpPr>
        <p:cxnSp>
          <p:nvCxnSpPr>
            <p:cNvPr id="31" name="직선 연결선 30"/>
            <p:cNvCxnSpPr/>
            <p:nvPr userDrawn="1"/>
          </p:nvCxnSpPr>
          <p:spPr>
            <a:xfrm>
              <a:off x="0" y="3356992"/>
              <a:ext cx="9144000" cy="0"/>
            </a:xfrm>
            <a:prstGeom prst="line">
              <a:avLst/>
            </a:prstGeom>
            <a:ln w="63500">
              <a:solidFill>
                <a:schemeClr val="tx2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직선 연결선 31"/>
            <p:cNvCxnSpPr/>
            <p:nvPr userDrawn="1"/>
          </p:nvCxnSpPr>
          <p:spPr>
            <a:xfrm>
              <a:off x="-3579" y="3421185"/>
              <a:ext cx="9144000" cy="0"/>
            </a:xfrm>
            <a:prstGeom prst="line">
              <a:avLst/>
            </a:prstGeom>
            <a:ln w="31750">
              <a:solidFill>
                <a:schemeClr val="accent1">
                  <a:lumMod val="75000"/>
                </a:schemeClr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2" name="TextBox 11"/>
          <p:cNvSpPr txBox="1"/>
          <p:nvPr userDrawn="1"/>
        </p:nvSpPr>
        <p:spPr>
          <a:xfrm>
            <a:off x="3347864" y="4030167"/>
            <a:ext cx="244827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spcBef>
                <a:spcPct val="0"/>
              </a:spcBef>
              <a:spcAft>
                <a:spcPts val="600"/>
              </a:spcAft>
            </a:pPr>
            <a:r>
              <a:rPr kumimoji="1" lang="en-US" altLang="ko-KR" sz="2400" b="1" dirty="0" err="1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Youjip</a:t>
            </a:r>
            <a:r>
              <a:rPr kumimoji="1" lang="en-US" altLang="ko-KR" sz="2400" b="1" baseline="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 Won</a:t>
            </a:r>
            <a:endParaRPr kumimoji="1" lang="en-US" altLang="ko-KR" sz="2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pic>
        <p:nvPicPr>
          <p:cNvPr id="2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52786" y="5013176"/>
            <a:ext cx="2638429" cy="753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49573466"/>
      </p:ext>
    </p:extLst>
  </p:cSld>
  <p:clrMapOvr>
    <a:masterClrMapping/>
  </p:clrMapOvr>
  <p:transition>
    <p:zo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14313" y="880070"/>
            <a:ext cx="8786812" cy="5501258"/>
          </a:xfrm>
        </p:spPr>
        <p:txBody>
          <a:bodyPr/>
          <a:lstStyle>
            <a:lvl1pPr>
              <a:lnSpc>
                <a:spcPct val="150000"/>
              </a:lnSpc>
              <a:buClr>
                <a:srgbClr val="002060"/>
              </a:buClr>
              <a:defRPr sz="2000" b="0">
                <a:solidFill>
                  <a:schemeClr val="tx1"/>
                </a:solidFill>
              </a:defRPr>
            </a:lvl1pPr>
            <a:lvl2pPr>
              <a:lnSpc>
                <a:spcPct val="150000"/>
              </a:lnSpc>
              <a:buClr>
                <a:srgbClr val="002060"/>
              </a:buClr>
              <a:defRPr sz="1800">
                <a:solidFill>
                  <a:schemeClr val="tx1"/>
                </a:solidFill>
              </a:defRPr>
            </a:lvl2pPr>
            <a:lvl3pPr>
              <a:lnSpc>
                <a:spcPct val="150000"/>
              </a:lnSpc>
              <a:buClr>
                <a:srgbClr val="002060"/>
              </a:buClr>
              <a:defRPr sz="1600">
                <a:solidFill>
                  <a:schemeClr val="tx1"/>
                </a:solidFill>
              </a:defRPr>
            </a:lvl3pPr>
            <a:lvl4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4pPr>
            <a:lvl5pPr>
              <a:lnSpc>
                <a:spcPct val="150000"/>
              </a:lnSpc>
              <a:buClr>
                <a:srgbClr val="002060"/>
              </a:buClr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0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1735396"/>
      </p:ext>
    </p:extLst>
  </p:cSld>
  <p:clrMapOvr>
    <a:masterClrMapping/>
  </p:clrMapOvr>
  <p:transition>
    <p:zo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/>
          <p:cNvCxnSpPr/>
          <p:nvPr userDrawn="1"/>
        </p:nvCxnSpPr>
        <p:spPr>
          <a:xfrm>
            <a:off x="214313" y="4429125"/>
            <a:ext cx="8786812" cy="0"/>
          </a:xfrm>
          <a:prstGeom prst="line">
            <a:avLst/>
          </a:prstGeom>
          <a:ln w="38100">
            <a:solidFill>
              <a:schemeClr val="tx2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91994" y="2906713"/>
            <a:ext cx="8072494" cy="1500187"/>
          </a:xfrm>
        </p:spPr>
        <p:txBody>
          <a:bodyPr anchor="b"/>
          <a:lstStyle>
            <a:lvl1pPr marL="0" indent="0" algn="r">
              <a:buNone/>
              <a:defRPr sz="3200" b="1">
                <a:solidFill>
                  <a:schemeClr val="tx2">
                    <a:lumMod val="50000"/>
                  </a:schemeClr>
                </a:solidFill>
              </a:defRPr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dirty="0"/>
              <a:t>마스터 텍스트 스타일을 편집합니다</a:t>
            </a:r>
          </a:p>
        </p:txBody>
      </p:sp>
      <p:cxnSp>
        <p:nvCxnSpPr>
          <p:cNvPr id="9" name="직선 연결선 8"/>
          <p:cNvCxnSpPr/>
          <p:nvPr userDrawn="1"/>
        </p:nvCxnSpPr>
        <p:spPr>
          <a:xfrm>
            <a:off x="0" y="6500813"/>
            <a:ext cx="9144000" cy="0"/>
          </a:xfrm>
          <a:prstGeom prst="line">
            <a:avLst/>
          </a:prstGeom>
          <a:ln w="25400">
            <a:solidFill>
              <a:schemeClr val="tx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6"/>
          <p:cNvSpPr>
            <a:spLocks noGrp="1" noChangeArrowheads="1"/>
          </p:cNvSpPr>
          <p:nvPr>
            <p:ph type="sldNum" sz="quarter" idx="11"/>
          </p:nvPr>
        </p:nvSpPr>
        <p:spPr>
          <a:xfrm>
            <a:off x="7964934" y="6592713"/>
            <a:ext cx="1071562" cy="220663"/>
          </a:xfrm>
        </p:spPr>
        <p:txBody>
          <a:bodyPr/>
          <a:lstStyle>
            <a:lvl1pPr>
              <a:defRPr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‹#›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15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82995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0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pic>
        <p:nvPicPr>
          <p:cNvPr id="10" name="그림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6854" y="6593998"/>
            <a:ext cx="768052" cy="219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5305002"/>
      </p:ext>
    </p:extLst>
  </p:cSld>
  <p:clrMapOvr>
    <a:masterClrMapping/>
  </p:clrMapOvr>
  <p:transition>
    <p:zoom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-611"/>
            <a:ext cx="9144000" cy="706619"/>
          </a:xfrm>
          <a:prstGeom prst="rect">
            <a:avLst/>
          </a:prstGeom>
          <a:solidFill>
            <a:schemeClr val="tx2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2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14313" y="55563"/>
            <a:ext cx="8786812" cy="5857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7961" dir="2700000" algn="ctr" rotWithShape="0">
              <a:schemeClr val="tx1"/>
            </a:outerShdw>
          </a:effec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제목 스타일 편집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14313" y="1000125"/>
            <a:ext cx="8786812" cy="5429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dirty="0"/>
              <a:t>마스터 텍스트 스타일을 편집합니다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  <a:p>
            <a:pPr lvl="4"/>
            <a:r>
              <a:rPr lang="ko-KR" altLang="en-US" dirty="0"/>
              <a:t>다섯째 수준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214313" y="6562725"/>
            <a:ext cx="1285875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BBD8453-7B88-4217-BA7B-2CBC395807F6}" type="datetime1">
              <a:rPr kumimoji="1" lang="ko-KR" altLang="en-US" smtClean="0">
                <a:solidFill>
                  <a:srgbClr val="1F497D">
                    <a:lumMod val="50000"/>
                  </a:srgbClr>
                </a:solidFill>
              </a:rPr>
              <a:t>2020. 4. 12.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500938" y="6562725"/>
            <a:ext cx="1071562" cy="220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000">
                <a:solidFill>
                  <a:schemeClr val="tx2">
                    <a:lumMod val="50000"/>
                  </a:schemeClr>
                </a:solidFill>
                <a:latin typeface="굴림" pitchFamily="50" charset="-127"/>
                <a:ea typeface="굴림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85A0C360-F875-469D-A977-82806D0D3C5E}" type="slidenum">
              <a:rPr kumimoji="1" lang="en-US" altLang="ko-KR">
                <a:solidFill>
                  <a:srgbClr val="1F497D">
                    <a:lumMod val="50000"/>
                  </a:srgbClr>
                </a:solidFill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‹#›</a:t>
            </a:fld>
            <a:endParaRPr kumimoji="1" lang="en-US" altLang="ko-KR">
              <a:solidFill>
                <a:srgbClr val="1F497D">
                  <a:lumMod val="50000"/>
                </a:srgbClr>
              </a:solidFill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3"/>
          </p:nvPr>
        </p:nvSpPr>
        <p:spPr>
          <a:xfrm>
            <a:off x="3033713" y="6559550"/>
            <a:ext cx="3038475" cy="220663"/>
          </a:xfrm>
          <a:prstGeom prst="rect">
            <a:avLst/>
          </a:prstGeom>
        </p:spPr>
        <p:txBody>
          <a:bodyPr/>
          <a:lstStyle>
            <a:lvl1pPr algn="ctr">
              <a:defRPr sz="1100" b="1">
                <a:latin typeface="맑은 고딕" pitchFamily="50" charset="-127"/>
                <a:ea typeface="맑은 고딕" pitchFamily="50" charset="-127"/>
              </a:defRPr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dirty="0" err="1">
                <a:solidFill>
                  <a:prstClr val="black"/>
                </a:solidFill>
              </a:rPr>
              <a:t>Youjip</a:t>
            </a:r>
            <a:r>
              <a:rPr kumimoji="1" lang="en-US" altLang="ko-KR" dirty="0">
                <a:solidFill>
                  <a:prstClr val="black"/>
                </a:solidFill>
              </a:rPr>
              <a:t> Won</a:t>
            </a:r>
            <a:endParaRPr kumimoji="1" lang="ko-KR" altLang="en-US" dirty="0">
              <a:solidFill>
                <a:prstClr val="black"/>
              </a:solidFill>
            </a:endParaRPr>
          </a:p>
        </p:txBody>
      </p:sp>
      <p:sp>
        <p:nvSpPr>
          <p:cNvPr id="10" name="직사각형 9"/>
          <p:cNvSpPr/>
          <p:nvPr userDrawn="1"/>
        </p:nvSpPr>
        <p:spPr>
          <a:xfrm>
            <a:off x="0" y="706008"/>
            <a:ext cx="914400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 w="9525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929193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2" r:id="rId2"/>
    <p:sldLayoutId id="2147483673" r:id="rId3"/>
  </p:sldLayoutIdLst>
  <p:transition>
    <p:zoom/>
  </p:transition>
  <p:hf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400">
          <a:solidFill>
            <a:srgbClr val="FFFF00"/>
          </a:solidFill>
          <a:latin typeface="HY견고딕" pitchFamily="18" charset="-127"/>
          <a:ea typeface="HY견고딕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kumimoji="1" sz="3000">
          <a:solidFill>
            <a:schemeClr val="bg1"/>
          </a:solidFill>
          <a:latin typeface="HY견고딕" pitchFamily="18" charset="-127"/>
          <a:ea typeface="HY견고딕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"/>
        <a:defRPr kumimoji="1" sz="2000">
          <a:solidFill>
            <a:srgbClr val="10253F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007E3C"/>
        </a:buClr>
        <a:buSzPct val="100000"/>
        <a:buFont typeface="Wingdings" pitchFamily="2" charset="2"/>
        <a:buChar char=""/>
        <a:defRPr kumimoji="1">
          <a:solidFill>
            <a:srgbClr val="10253F"/>
          </a:solidFill>
          <a:latin typeface="맑은 고딕" pitchFamily="50" charset="-127"/>
          <a:ea typeface="맑은 고딕" pitchFamily="50" charset="-127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SzPct val="65000"/>
        <a:buFont typeface="Wingdings" pitchFamily="2" charset="2"/>
        <a:buChar char=""/>
        <a:defRPr kumimoji="1" sz="1600">
          <a:solidFill>
            <a:srgbClr val="10253F"/>
          </a:solidFill>
          <a:latin typeface="맑은 고딕" pitchFamily="50" charset="-127"/>
          <a:ea typeface="맑은 고딕" pitchFamily="50" charset="-127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B03C"/>
        </a:buClr>
        <a:buSzPct val="65000"/>
        <a:buFont typeface="Wingdings" pitchFamily="2" charset="2"/>
        <a:buChar char="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2060"/>
        </a:buClr>
        <a:buFont typeface="Wingdings" pitchFamily="2" charset="2"/>
        <a:buChar char=""/>
        <a:defRPr kumimoji="1" sz="1400">
          <a:solidFill>
            <a:srgbClr val="10253F"/>
          </a:solidFill>
          <a:latin typeface="맑은 고딕" pitchFamily="50" charset="-127"/>
          <a:ea typeface="맑은 고딕" pitchFamily="50" charset="-127"/>
        </a:defRPr>
      </a:lvl5pPr>
      <a:lvl6pPr marL="25146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eaLnBrk="1" fontAlgn="base" latinLnBrk="1" hangingPunct="1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0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>
          <a:xfrm>
            <a:off x="683568" y="1484784"/>
            <a:ext cx="7772400" cy="1326009"/>
          </a:xfrm>
        </p:spPr>
        <p:txBody>
          <a:bodyPr/>
          <a:lstStyle/>
          <a:p>
            <a:r>
              <a:rPr lang="en-US" sz="3600" dirty="0"/>
              <a:t>Operating Systems</a:t>
            </a:r>
            <a:br>
              <a:rPr lang="en-US" sz="3600" dirty="0"/>
            </a:br>
            <a:endParaRPr lang="en-US" sz="1600" b="0" dirty="0"/>
          </a:p>
        </p:txBody>
      </p:sp>
    </p:spTree>
    <p:extLst>
      <p:ext uri="{BB962C8B-B14F-4D97-AF65-F5344CB8AC3E}">
        <p14:creationId xmlns:p14="http://schemas.microsoft.com/office/powerpoint/2010/main" val="3918690818"/>
      </p:ext>
    </p:extLst>
  </p:cSld>
  <p:clrMapOvr>
    <a:masterClrMapping/>
  </p:clrMapOvr>
  <p:transition>
    <p:zoom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 dirty="0"/>
              <a:t>18. Paging: Introduction</a:t>
            </a:r>
            <a:endParaRPr lang="ko-KR" altLang="en-US" dirty="0"/>
          </a:p>
        </p:txBody>
      </p:sp>
      <p:sp>
        <p:nvSpPr>
          <p:cNvPr id="3" name="슬라이드 번호 개체 틀 2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090051"/>
      </p:ext>
    </p:extLst>
  </p:cSld>
  <p:clrMapOvr>
    <a:masterClrMapping/>
  </p:clrMapOvr>
  <p:transition>
    <p:zoom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Concept of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Paging </a:t>
            </a:r>
            <a:r>
              <a:rPr lang="en-US" altLang="ko-KR" b="1" dirty="0"/>
              <a:t>splits up</a:t>
            </a:r>
            <a:r>
              <a:rPr lang="en-US" altLang="ko-KR" dirty="0"/>
              <a:t> address space into </a:t>
            </a:r>
            <a:r>
              <a:rPr lang="en-US" altLang="ko-KR" b="1" dirty="0"/>
              <a:t>fixed-zed</a:t>
            </a:r>
            <a:r>
              <a:rPr lang="en-US" altLang="ko-KR" dirty="0"/>
              <a:t> unit called a </a:t>
            </a:r>
            <a:r>
              <a:rPr lang="en-US" altLang="ko-KR" b="1" dirty="0"/>
              <a:t>page</a:t>
            </a:r>
            <a:r>
              <a:rPr lang="en-US" altLang="ko-KR" dirty="0"/>
              <a:t>.</a:t>
            </a:r>
          </a:p>
          <a:p>
            <a:pPr lvl="1"/>
            <a:r>
              <a:rPr lang="en-US" altLang="ko-KR" dirty="0"/>
              <a:t>Segmentation: variable size of logical segments(code, stack, heap, etc.)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With paging, </a:t>
            </a:r>
            <a:r>
              <a:rPr lang="en-US" altLang="ko-KR" b="1" dirty="0"/>
              <a:t>physical memory</a:t>
            </a:r>
            <a:r>
              <a:rPr lang="en-US" altLang="ko-KR" dirty="0"/>
              <a:t> is also </a:t>
            </a:r>
            <a:r>
              <a:rPr lang="en-US" altLang="ko-KR" b="1" dirty="0"/>
              <a:t>split</a:t>
            </a:r>
            <a:r>
              <a:rPr lang="en-US" altLang="ko-KR" dirty="0"/>
              <a:t> into some number of pages called a </a:t>
            </a:r>
            <a:r>
              <a:rPr lang="en-US" altLang="ko-KR" b="1" dirty="0"/>
              <a:t>page frame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b="1" dirty="0"/>
              <a:t>Page table</a:t>
            </a:r>
            <a:r>
              <a:rPr lang="en-US" altLang="ko-KR" dirty="0"/>
              <a:t> per process is needed </a:t>
            </a:r>
            <a:r>
              <a:rPr lang="en-US" altLang="ko-KR" b="1" dirty="0"/>
              <a:t>to translate</a:t>
            </a:r>
            <a:r>
              <a:rPr lang="en-US" altLang="ko-KR" dirty="0"/>
              <a:t> the virtual address to physical address.</a:t>
            </a:r>
          </a:p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37071718"/>
      </p:ext>
    </p:extLst>
  </p:cSld>
  <p:clrMapOvr>
    <a:masterClrMapping/>
  </p:clrMapOvr>
  <p:transition>
    <p:zoom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Advantages Of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lvl="1" indent="-342900">
              <a:buSzPct val="65000"/>
              <a:buFont typeface="Wingdings" pitchFamily="2" charset="2"/>
              <a:buChar char=""/>
            </a:pPr>
            <a:r>
              <a:rPr lang="en-US" altLang="ko-KR" sz="2000" b="1" dirty="0"/>
              <a:t>Flexibility: </a:t>
            </a:r>
            <a:r>
              <a:rPr lang="en-US" altLang="ko-KR" sz="2000" dirty="0"/>
              <a:t>Supporting the abstraction of address space effectively</a:t>
            </a:r>
            <a:endParaRPr lang="ko-KR" altLang="en-US" sz="2000" dirty="0"/>
          </a:p>
          <a:p>
            <a:pPr lvl="1"/>
            <a:r>
              <a:rPr lang="en-US" altLang="ko-KR" dirty="0"/>
              <a:t>Don’t need assumption how heap and stack grow and are used.</a:t>
            </a:r>
          </a:p>
          <a:p>
            <a:endParaRPr lang="en-US" altLang="ko-KR" dirty="0"/>
          </a:p>
          <a:p>
            <a:r>
              <a:rPr lang="en-US" altLang="ko-KR" b="1" dirty="0"/>
              <a:t>Simplicity</a:t>
            </a:r>
            <a:r>
              <a:rPr lang="en-US" altLang="ko-KR" dirty="0"/>
              <a:t>: ease of free-space management</a:t>
            </a:r>
          </a:p>
          <a:p>
            <a:pPr lvl="1"/>
            <a:r>
              <a:rPr lang="en-US" altLang="ko-KR" dirty="0"/>
              <a:t>The page in address space and the page frame are the same size.</a:t>
            </a:r>
          </a:p>
          <a:p>
            <a:pPr lvl="1"/>
            <a:r>
              <a:rPr lang="en-US" altLang="ko-KR" dirty="0"/>
              <a:t>Easy to allocate and keep a free list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70626133"/>
      </p:ext>
    </p:extLst>
  </p:cSld>
  <p:clrMapOvr>
    <a:masterClrMapping/>
  </p:clrMapOvr>
  <p:transition>
    <p:zoom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 Simple Paging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128-byte physical memory with 16 bytes page frames</a:t>
            </a:r>
            <a:endParaRPr lang="ko-KR" altLang="en-US" dirty="0"/>
          </a:p>
          <a:p>
            <a:r>
              <a:rPr lang="en-US" altLang="ko-KR" dirty="0"/>
              <a:t>64-byte address space with 16 bytes pages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21" name="그룹 20"/>
          <p:cNvGrpSpPr/>
          <p:nvPr/>
        </p:nvGrpSpPr>
        <p:grpSpPr>
          <a:xfrm>
            <a:off x="755576" y="2924944"/>
            <a:ext cx="4021772" cy="2332746"/>
            <a:chOff x="2017433" y="3207007"/>
            <a:chExt cx="4068610" cy="2332746"/>
          </a:xfrm>
        </p:grpSpPr>
        <p:sp>
          <p:nvSpPr>
            <p:cNvPr id="6" name="직사각형 5"/>
            <p:cNvSpPr/>
            <p:nvPr/>
          </p:nvSpPr>
          <p:spPr>
            <a:xfrm>
              <a:off x="2726259" y="3367162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" name="직사각형 6"/>
            <p:cNvSpPr/>
            <p:nvPr/>
          </p:nvSpPr>
          <p:spPr>
            <a:xfrm>
              <a:off x="2726259" y="3799210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" name="직사각형 7"/>
            <p:cNvSpPr/>
            <p:nvPr/>
          </p:nvSpPr>
          <p:spPr>
            <a:xfrm>
              <a:off x="2726259" y="4227458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726259" y="4659506"/>
              <a:ext cx="1584176" cy="432048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66219" y="3207007"/>
              <a:ext cx="36004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0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294211" y="3600480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16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294211" y="4067303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32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294211" y="4499351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48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294211" y="4931399"/>
              <a:ext cx="43204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64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4371043" y="3357219"/>
              <a:ext cx="1715000" cy="49775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0 of                            the address space)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404373" y="3855079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1)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4393697" y="4283326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2)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4404373" y="4715374"/>
              <a:ext cx="853420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(page 3)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017433" y="5219444"/>
              <a:ext cx="300182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 Simple 64-byte Address Space</a:t>
              </a:r>
              <a:endParaRPr lang="ko-KR" altLang="en-US" sz="1600" b="1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48" name="그룹 47"/>
          <p:cNvGrpSpPr/>
          <p:nvPr/>
        </p:nvGrpSpPr>
        <p:grpSpPr>
          <a:xfrm>
            <a:off x="4432559" y="1844824"/>
            <a:ext cx="4531929" cy="4536504"/>
            <a:chOff x="2024895" y="1733326"/>
            <a:chExt cx="4896544" cy="4536504"/>
          </a:xfrm>
        </p:grpSpPr>
        <p:sp>
          <p:nvSpPr>
            <p:cNvPr id="49" name="TextBox 48"/>
            <p:cNvSpPr txBox="1"/>
            <p:nvPr/>
          </p:nvSpPr>
          <p:spPr>
            <a:xfrm>
              <a:off x="2746987" y="1733326"/>
              <a:ext cx="602401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0" name="TextBox 49"/>
            <p:cNvSpPr txBox="1"/>
            <p:nvPr/>
          </p:nvSpPr>
          <p:spPr>
            <a:xfrm>
              <a:off x="2713522" y="2217637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3411957" y="1887700"/>
              <a:ext cx="1456785" cy="498877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reserved for OS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3411957" y="2890633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3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3411957" y="2386577"/>
              <a:ext cx="1456785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3411957" y="3389510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0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3411957" y="3888387"/>
              <a:ext cx="1456785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411957" y="4392443"/>
              <a:ext cx="1456785" cy="498877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/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2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7" name="TextBox 56"/>
            <p:cNvSpPr txBox="1"/>
            <p:nvPr/>
          </p:nvSpPr>
          <p:spPr>
            <a:xfrm>
              <a:off x="2024895" y="5962053"/>
              <a:ext cx="4896544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400" b="1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64-Byte Address Space Placed In Physical Memory</a:t>
              </a:r>
              <a:endParaRPr lang="ko-KR" altLang="en-US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3411956" y="4891320"/>
              <a:ext cx="1455993" cy="504056"/>
            </a:xfrm>
            <a:prstGeom prst="rect">
              <a:avLst/>
            </a:prstGeom>
            <a:pattFill prst="dkUpDiag">
              <a:fgClr>
                <a:schemeClr val="tx2">
                  <a:lumMod val="20000"/>
                  <a:lumOff val="80000"/>
                </a:schemeClr>
              </a:fgClr>
              <a:bgClr>
                <a:schemeClr val="bg1"/>
              </a:bgClr>
            </a:patt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(unused)</a:t>
              </a:r>
              <a:endParaRPr lang="ko-KR" altLang="en-US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3411957" y="5395376"/>
              <a:ext cx="1456784" cy="504056"/>
            </a:xfrm>
            <a:prstGeom prst="rect">
              <a:avLst/>
            </a:prstGeom>
            <a:noFill/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14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  <a:cs typeface="Courier New" pitchFamily="49" charset="0"/>
                </a:rPr>
                <a:t>page 1 of AS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endParaRPr>
            </a:p>
          </p:txBody>
        </p:sp>
        <p:sp>
          <p:nvSpPr>
            <p:cNvPr id="60" name="TextBox 59"/>
            <p:cNvSpPr txBox="1"/>
            <p:nvPr/>
          </p:nvSpPr>
          <p:spPr>
            <a:xfrm>
              <a:off x="2713522" y="2720113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32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1" name="TextBox 60"/>
            <p:cNvSpPr txBox="1"/>
            <p:nvPr/>
          </p:nvSpPr>
          <p:spPr>
            <a:xfrm>
              <a:off x="2713523" y="3251010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48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2" name="TextBox 61"/>
            <p:cNvSpPr txBox="1"/>
            <p:nvPr/>
          </p:nvSpPr>
          <p:spPr>
            <a:xfrm>
              <a:off x="2713521" y="3749887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64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3" name="TextBox 62"/>
            <p:cNvSpPr txBox="1"/>
            <p:nvPr/>
          </p:nvSpPr>
          <p:spPr>
            <a:xfrm>
              <a:off x="2713525" y="4253943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80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2713525" y="4752820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96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2713522" y="5260138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112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6" name="TextBox 65"/>
            <p:cNvSpPr txBox="1"/>
            <p:nvPr/>
          </p:nvSpPr>
          <p:spPr>
            <a:xfrm>
              <a:off x="2713521" y="5724544"/>
              <a:ext cx="669333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solidFill>
                    <a:prstClr val="black"/>
                  </a:solidFill>
                  <a:latin typeface="맑은 고딕" pitchFamily="50" charset="-127"/>
                  <a:ea typeface="맑은 고딕" pitchFamily="50" charset="-127"/>
                </a:rPr>
                <a:t>128</a:t>
              </a:r>
              <a:endParaRPr lang="ko-KR" altLang="en-US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4903546" y="1838483"/>
              <a:ext cx="1685014" cy="517653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0 of                           physical memory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4960116" y="2478450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1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960116" y="2979915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2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960116" y="3478792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3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4960116" y="3980259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4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4960116" y="4481726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5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3" name="TextBox 72"/>
            <p:cNvSpPr txBox="1"/>
            <p:nvPr/>
          </p:nvSpPr>
          <p:spPr>
            <a:xfrm>
              <a:off x="4960116" y="4983193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6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74" name="TextBox 73"/>
            <p:cNvSpPr txBox="1"/>
            <p:nvPr/>
          </p:nvSpPr>
          <p:spPr>
            <a:xfrm>
              <a:off x="4960116" y="5487249"/>
              <a:ext cx="1512168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page frame 7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36807910"/>
      </p:ext>
    </p:extLst>
  </p:cSld>
  <p:clrMapOvr>
    <a:masterClrMapping/>
  </p:clrMapOvr>
  <p:transition>
    <p:zoom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50602" y="836712"/>
            <a:ext cx="8786812" cy="5501258"/>
          </a:xfrm>
        </p:spPr>
        <p:txBody>
          <a:bodyPr/>
          <a:lstStyle/>
          <a:p>
            <a:r>
              <a:rPr lang="en-US" altLang="ko-KR" dirty="0"/>
              <a:t>Two components in the virtual address</a:t>
            </a:r>
          </a:p>
          <a:p>
            <a:pPr lvl="1"/>
            <a:r>
              <a:rPr lang="en-US" altLang="ko-KR" dirty="0"/>
              <a:t>VPN: virtual page number</a:t>
            </a:r>
          </a:p>
          <a:p>
            <a:pPr lvl="1"/>
            <a:r>
              <a:rPr lang="en-US" altLang="ko-KR" dirty="0"/>
              <a:t>Offset: offset within the page</a:t>
            </a:r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pPr lvl="1"/>
            <a:endParaRPr lang="en-US" altLang="ko-KR" dirty="0"/>
          </a:p>
          <a:p>
            <a:r>
              <a:rPr lang="en-US" altLang="ko-KR" dirty="0"/>
              <a:t>Example: virtual address 21 in 64-byte address space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2843808" y="2437398"/>
            <a:ext cx="3024336" cy="1063610"/>
            <a:chOff x="2915816" y="3429000"/>
            <a:chExt cx="3024336" cy="1063610"/>
          </a:xfrm>
        </p:grpSpPr>
        <p:sp>
          <p:nvSpPr>
            <p:cNvPr id="13" name="직사각형 12"/>
            <p:cNvSpPr/>
            <p:nvPr/>
          </p:nvSpPr>
          <p:spPr>
            <a:xfrm>
              <a:off x="2915816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Va5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4" name="직사각형 13"/>
            <p:cNvSpPr/>
            <p:nvPr/>
          </p:nvSpPr>
          <p:spPr>
            <a:xfrm>
              <a:off x="3419872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Va4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3923928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Va3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4427984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Va2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4932040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436096" y="3988554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Va0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27" name="그룹 26"/>
            <p:cNvGrpSpPr/>
            <p:nvPr/>
          </p:nvGrpSpPr>
          <p:grpSpPr>
            <a:xfrm>
              <a:off x="2915816" y="3754529"/>
              <a:ext cx="936104" cy="162022"/>
              <a:chOff x="1763688" y="3699031"/>
              <a:chExt cx="1008112" cy="162022"/>
            </a:xfrm>
          </p:grpSpPr>
          <p:sp>
            <p:nvSpPr>
              <p:cNvPr id="19" name="왼쪽 대괄호 18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2" name="직선 연결선 21"/>
              <p:cNvCxnSpPr>
                <a:stCxn id="19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8" name="그룹 27"/>
            <p:cNvGrpSpPr/>
            <p:nvPr/>
          </p:nvGrpSpPr>
          <p:grpSpPr>
            <a:xfrm>
              <a:off x="3995936" y="3754529"/>
              <a:ext cx="1944216" cy="162023"/>
              <a:chOff x="2771800" y="3700791"/>
              <a:chExt cx="2016224" cy="160263"/>
            </a:xfrm>
          </p:grpSpPr>
          <p:sp>
            <p:nvSpPr>
              <p:cNvPr id="20" name="왼쪽 대괄호 19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25" name="직선 연결선 24"/>
              <p:cNvCxnSpPr>
                <a:stCxn id="20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9" name="TextBox 28"/>
            <p:cNvSpPr txBox="1"/>
            <p:nvPr/>
          </p:nvSpPr>
          <p:spPr>
            <a:xfrm>
              <a:off x="3059832" y="3429000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VPN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4644988" y="3429000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88" name="직사각형 87"/>
          <p:cNvSpPr/>
          <p:nvPr/>
        </p:nvSpPr>
        <p:spPr>
          <a:xfrm>
            <a:off x="2915816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89" name="직사각형 88"/>
          <p:cNvSpPr/>
          <p:nvPr/>
        </p:nvSpPr>
        <p:spPr>
          <a:xfrm>
            <a:off x="3419872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0" name="직사각형 89"/>
          <p:cNvSpPr/>
          <p:nvPr/>
        </p:nvSpPr>
        <p:spPr>
          <a:xfrm>
            <a:off x="3923928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1" name="직사각형 90"/>
          <p:cNvSpPr/>
          <p:nvPr/>
        </p:nvSpPr>
        <p:spPr>
          <a:xfrm>
            <a:off x="4427984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2" name="직사각형 91"/>
          <p:cNvSpPr/>
          <p:nvPr/>
        </p:nvSpPr>
        <p:spPr>
          <a:xfrm>
            <a:off x="4932040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0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sp>
        <p:nvSpPr>
          <p:cNvPr id="93" name="직사각형 92"/>
          <p:cNvSpPr/>
          <p:nvPr/>
        </p:nvSpPr>
        <p:spPr>
          <a:xfrm>
            <a:off x="5436096" y="4978665"/>
            <a:ext cx="504056" cy="504056"/>
          </a:xfrm>
          <a:prstGeom prst="rect">
            <a:avLst/>
          </a:prstGeom>
          <a:solidFill>
            <a:schemeClr val="bg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r>
              <a:rPr lang="en-US" altLang="ko-KR" sz="14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rPr>
              <a:t>1</a:t>
            </a:r>
            <a:endParaRPr lang="ko-KR" altLang="en-US" sz="1400" dirty="0" err="1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Courier New" panose="02070309020205020404" pitchFamily="49" charset="0"/>
            </a:endParaRPr>
          </a:p>
        </p:txBody>
      </p:sp>
      <p:grpSp>
        <p:nvGrpSpPr>
          <p:cNvPr id="94" name="그룹 93"/>
          <p:cNvGrpSpPr/>
          <p:nvPr/>
        </p:nvGrpSpPr>
        <p:grpSpPr>
          <a:xfrm>
            <a:off x="2915816" y="4744640"/>
            <a:ext cx="936104" cy="162022"/>
            <a:chOff x="1763688" y="3699031"/>
            <a:chExt cx="1008112" cy="162022"/>
          </a:xfrm>
        </p:grpSpPr>
        <p:sp>
          <p:nvSpPr>
            <p:cNvPr id="95" name="왼쪽 대괄호 94"/>
            <p:cNvSpPr/>
            <p:nvPr/>
          </p:nvSpPr>
          <p:spPr>
            <a:xfrm rot="5400000">
              <a:off x="2213736" y="3302990"/>
              <a:ext cx="108015" cy="1008112"/>
            </a:xfrm>
            <a:prstGeom prst="leftBracket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6" name="직선 연결선 95"/>
            <p:cNvCxnSpPr>
              <a:stCxn id="95" idx="1"/>
            </p:cNvCxnSpPr>
            <p:nvPr/>
          </p:nvCxnSpPr>
          <p:spPr>
            <a:xfrm flipH="1" flipV="1">
              <a:off x="2267743" y="3699031"/>
              <a:ext cx="1" cy="54008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97" name="그룹 96"/>
          <p:cNvGrpSpPr/>
          <p:nvPr/>
        </p:nvGrpSpPr>
        <p:grpSpPr>
          <a:xfrm>
            <a:off x="3995936" y="4744640"/>
            <a:ext cx="1944216" cy="162023"/>
            <a:chOff x="2771800" y="3700791"/>
            <a:chExt cx="2016224" cy="160263"/>
          </a:xfrm>
        </p:grpSpPr>
        <p:sp>
          <p:nvSpPr>
            <p:cNvPr id="98" name="왼쪽 대괄호 97"/>
            <p:cNvSpPr/>
            <p:nvPr/>
          </p:nvSpPr>
          <p:spPr>
            <a:xfrm rot="5400000">
              <a:off x="3725905" y="2798935"/>
              <a:ext cx="108014" cy="2016224"/>
            </a:xfrm>
            <a:prstGeom prst="leftBracket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cxnSp>
          <p:nvCxnSpPr>
            <p:cNvPr id="99" name="직선 연결선 98"/>
            <p:cNvCxnSpPr>
              <a:stCxn id="98" idx="1"/>
            </p:cNvCxnSpPr>
            <p:nvPr/>
          </p:nvCxnSpPr>
          <p:spPr>
            <a:xfrm flipV="1">
              <a:off x="3779912" y="3700791"/>
              <a:ext cx="0" cy="52249"/>
            </a:xfrm>
            <a:prstGeom prst="line">
              <a:avLst/>
            </a:prstGeom>
            <a:ln w="12700">
              <a:solidFill>
                <a:schemeClr val="tx1"/>
              </a:solidFill>
              <a:tailEnd type="none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0" name="TextBox 99"/>
          <p:cNvSpPr txBox="1"/>
          <p:nvPr/>
        </p:nvSpPr>
        <p:spPr>
          <a:xfrm>
            <a:off x="3059832" y="4365104"/>
            <a:ext cx="648072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VPN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1" name="TextBox 100"/>
          <p:cNvSpPr txBox="1"/>
          <p:nvPr/>
        </p:nvSpPr>
        <p:spPr>
          <a:xfrm>
            <a:off x="4644988" y="4365104"/>
            <a:ext cx="648072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algn="ctr"/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offset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03113948"/>
      </p:ext>
    </p:extLst>
  </p:cSld>
  <p:clrMapOvr>
    <a:masterClrMapping/>
  </p:clrMapOvr>
  <p:transition>
    <p:zoom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Address Translation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The virtual address 21 in 64-byte address space</a:t>
            </a:r>
          </a:p>
          <a:p>
            <a:pPr lvl="1"/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45" name="그룹 44"/>
          <p:cNvGrpSpPr/>
          <p:nvPr/>
        </p:nvGrpSpPr>
        <p:grpSpPr>
          <a:xfrm>
            <a:off x="1835696" y="1700808"/>
            <a:ext cx="4680520" cy="3979936"/>
            <a:chOff x="1403648" y="1465288"/>
            <a:chExt cx="4680520" cy="3979936"/>
          </a:xfrm>
        </p:grpSpPr>
        <p:sp>
          <p:nvSpPr>
            <p:cNvPr id="46" name="직사각형 45"/>
            <p:cNvSpPr/>
            <p:nvPr/>
          </p:nvSpPr>
          <p:spPr>
            <a:xfrm>
              <a:off x="3059832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7" name="직사각형 46"/>
            <p:cNvSpPr/>
            <p:nvPr/>
          </p:nvSpPr>
          <p:spPr>
            <a:xfrm>
              <a:off x="3563888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8" name="직사각형 47"/>
            <p:cNvSpPr/>
            <p:nvPr/>
          </p:nvSpPr>
          <p:spPr>
            <a:xfrm>
              <a:off x="4067944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572000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5076056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5580112" y="2078849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52" name="그룹 51"/>
            <p:cNvGrpSpPr/>
            <p:nvPr/>
          </p:nvGrpSpPr>
          <p:grpSpPr>
            <a:xfrm>
              <a:off x="3059832" y="1844824"/>
              <a:ext cx="936104" cy="162022"/>
              <a:chOff x="1763688" y="3699031"/>
              <a:chExt cx="1008112" cy="162022"/>
            </a:xfrm>
          </p:grpSpPr>
          <p:sp>
            <p:nvSpPr>
              <p:cNvPr id="85" name="왼쪽 대괄호 84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6" name="직선 연결선 85"/>
              <p:cNvCxnSpPr>
                <a:stCxn id="85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53" name="그룹 52"/>
            <p:cNvGrpSpPr/>
            <p:nvPr/>
          </p:nvGrpSpPr>
          <p:grpSpPr>
            <a:xfrm>
              <a:off x="4139952" y="1844824"/>
              <a:ext cx="1944216" cy="162023"/>
              <a:chOff x="2771800" y="3700791"/>
              <a:chExt cx="2016224" cy="160263"/>
            </a:xfrm>
          </p:grpSpPr>
          <p:sp>
            <p:nvSpPr>
              <p:cNvPr id="83" name="왼쪽 대괄호 82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4" name="직선 연결선 83"/>
              <p:cNvCxnSpPr>
                <a:stCxn id="83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4" name="TextBox 53"/>
            <p:cNvSpPr txBox="1"/>
            <p:nvPr/>
          </p:nvSpPr>
          <p:spPr>
            <a:xfrm>
              <a:off x="3203848" y="1465288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VPN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5" name="TextBox 54"/>
            <p:cNvSpPr txBox="1"/>
            <p:nvPr/>
          </p:nvSpPr>
          <p:spPr>
            <a:xfrm>
              <a:off x="4789004" y="1465288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059832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7" name="직사각형 56"/>
            <p:cNvSpPr/>
            <p:nvPr/>
          </p:nvSpPr>
          <p:spPr>
            <a:xfrm>
              <a:off x="3563888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8" name="직사각형 57"/>
            <p:cNvSpPr/>
            <p:nvPr/>
          </p:nvSpPr>
          <p:spPr>
            <a:xfrm>
              <a:off x="4067944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59" name="직사각형 58"/>
            <p:cNvSpPr/>
            <p:nvPr/>
          </p:nvSpPr>
          <p:spPr>
            <a:xfrm>
              <a:off x="4572000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0" name="직사각형 59"/>
            <p:cNvSpPr/>
            <p:nvPr/>
          </p:nvSpPr>
          <p:spPr>
            <a:xfrm>
              <a:off x="5076056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0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1" name="직사각형 60"/>
            <p:cNvSpPr/>
            <p:nvPr/>
          </p:nvSpPr>
          <p:spPr>
            <a:xfrm>
              <a:off x="5580112" y="4344935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grpSp>
          <p:nvGrpSpPr>
            <p:cNvPr id="62" name="그룹 61"/>
            <p:cNvGrpSpPr/>
            <p:nvPr/>
          </p:nvGrpSpPr>
          <p:grpSpPr>
            <a:xfrm rot="10800000">
              <a:off x="2555776" y="4902990"/>
              <a:ext cx="1440160" cy="180518"/>
              <a:chOff x="1763688" y="3699031"/>
              <a:chExt cx="1008112" cy="162022"/>
            </a:xfrm>
          </p:grpSpPr>
          <p:sp>
            <p:nvSpPr>
              <p:cNvPr id="81" name="왼쪽 대괄호 80"/>
              <p:cNvSpPr/>
              <p:nvPr/>
            </p:nvSpPr>
            <p:spPr>
              <a:xfrm rot="5400000">
                <a:off x="2213736" y="3302990"/>
                <a:ext cx="108015" cy="1008112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2" name="직선 연결선 81"/>
              <p:cNvCxnSpPr>
                <a:stCxn id="81" idx="1"/>
              </p:cNvCxnSpPr>
              <p:nvPr/>
            </p:nvCxnSpPr>
            <p:spPr>
              <a:xfrm flipH="1" flipV="1">
                <a:off x="2267743" y="3699031"/>
                <a:ext cx="1" cy="54008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3" name="그룹 62"/>
            <p:cNvGrpSpPr/>
            <p:nvPr/>
          </p:nvGrpSpPr>
          <p:grpSpPr>
            <a:xfrm rot="10800000">
              <a:off x="4139952" y="4902991"/>
              <a:ext cx="1944216" cy="162023"/>
              <a:chOff x="2771800" y="3700791"/>
              <a:chExt cx="2016224" cy="160263"/>
            </a:xfrm>
          </p:grpSpPr>
          <p:sp>
            <p:nvSpPr>
              <p:cNvPr id="79" name="왼쪽 대괄호 78"/>
              <p:cNvSpPr/>
              <p:nvPr/>
            </p:nvSpPr>
            <p:spPr>
              <a:xfrm rot="5400000">
                <a:off x="3725905" y="2798935"/>
                <a:ext cx="108014" cy="2016224"/>
              </a:xfrm>
              <a:prstGeom prst="leftBracket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/>
              </a:p>
            </p:txBody>
          </p:sp>
          <p:cxnSp>
            <p:nvCxnSpPr>
              <p:cNvPr id="80" name="직선 연결선 79"/>
              <p:cNvCxnSpPr>
                <a:stCxn id="79" idx="1"/>
              </p:cNvCxnSpPr>
              <p:nvPr/>
            </p:nvCxnSpPr>
            <p:spPr>
              <a:xfrm flipV="1">
                <a:off x="3779912" y="3700791"/>
                <a:ext cx="0" cy="5224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4" name="TextBox 63"/>
            <p:cNvSpPr txBox="1"/>
            <p:nvPr/>
          </p:nvSpPr>
          <p:spPr>
            <a:xfrm>
              <a:off x="2951821" y="5124915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PFN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4789004" y="5119965"/>
              <a:ext cx="648072" cy="320309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offset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6" name="직사각형 65"/>
            <p:cNvSpPr/>
            <p:nvPr/>
          </p:nvSpPr>
          <p:spPr>
            <a:xfrm>
              <a:off x="2555776" y="4346443"/>
              <a:ext cx="504056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1</a:t>
              </a:r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67" name="TextBox 66"/>
            <p:cNvSpPr txBox="1"/>
            <p:nvPr/>
          </p:nvSpPr>
          <p:spPr>
            <a:xfrm>
              <a:off x="1979713" y="2061778"/>
              <a:ext cx="972108" cy="538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Virtual</a:t>
              </a:r>
            </a:p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Address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403648" y="4327864"/>
              <a:ext cx="972108" cy="538198"/>
            </a:xfrm>
            <a:prstGeom prst="rect">
              <a:avLst/>
            </a:prstGeom>
            <a:noFill/>
          </p:spPr>
          <p:txBody>
            <a:bodyPr wrap="square" rtlCol="0">
              <a:noAutofit/>
            </a:bodyPr>
            <a:lstStyle/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Physical</a:t>
              </a:r>
            </a:p>
            <a:p>
              <a:pPr algn="ctr"/>
              <a:r>
                <a:rPr lang="en-US" altLang="ko-KR" sz="1400" dirty="0">
                  <a:latin typeface="맑은 고딕" panose="020B0503020000020004" pitchFamily="50" charset="-127"/>
                  <a:ea typeface="맑은 고딕" panose="020B0503020000020004" pitchFamily="50" charset="-127"/>
                </a:rPr>
                <a:t>Address</a:t>
              </a:r>
              <a:endParaRPr lang="ko-KR" altLang="en-US" sz="1600" dirty="0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69" name="직사각형 68"/>
            <p:cNvSpPr/>
            <p:nvPr/>
          </p:nvSpPr>
          <p:spPr>
            <a:xfrm>
              <a:off x="2555777" y="2996952"/>
              <a:ext cx="1440160" cy="936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6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Address Translation</a:t>
              </a:r>
              <a:endParaRPr lang="ko-KR" altLang="en-US" sz="16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cxnSp>
          <p:nvCxnSpPr>
            <p:cNvPr id="70" name="직선 화살표 연결선 69"/>
            <p:cNvCxnSpPr>
              <a:stCxn id="51" idx="2"/>
              <a:endCxn id="61" idx="0"/>
            </p:cNvCxnSpPr>
            <p:nvPr/>
          </p:nvCxnSpPr>
          <p:spPr>
            <a:xfrm>
              <a:off x="5832140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직선 화살표 연결선 70"/>
            <p:cNvCxnSpPr>
              <a:stCxn id="50" idx="2"/>
              <a:endCxn id="60" idx="0"/>
            </p:cNvCxnSpPr>
            <p:nvPr/>
          </p:nvCxnSpPr>
          <p:spPr>
            <a:xfrm>
              <a:off x="5328084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2" name="직선 화살표 연결선 71"/>
            <p:cNvCxnSpPr>
              <a:stCxn id="49" idx="2"/>
              <a:endCxn id="59" idx="0"/>
            </p:cNvCxnSpPr>
            <p:nvPr/>
          </p:nvCxnSpPr>
          <p:spPr>
            <a:xfrm>
              <a:off x="4824028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3" name="직선 화살표 연결선 72"/>
            <p:cNvCxnSpPr>
              <a:stCxn id="48" idx="2"/>
              <a:endCxn id="58" idx="0"/>
            </p:cNvCxnSpPr>
            <p:nvPr/>
          </p:nvCxnSpPr>
          <p:spPr>
            <a:xfrm>
              <a:off x="4319972" y="2662998"/>
              <a:ext cx="0" cy="160184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4" name="직선 화살표 연결선 73"/>
            <p:cNvCxnSpPr/>
            <p:nvPr/>
          </p:nvCxnSpPr>
          <p:spPr>
            <a:xfrm>
              <a:off x="3815916" y="2635529"/>
              <a:ext cx="0" cy="316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직선 화살표 연결선 74"/>
            <p:cNvCxnSpPr/>
            <p:nvPr/>
          </p:nvCxnSpPr>
          <p:spPr>
            <a:xfrm>
              <a:off x="3311860" y="2635529"/>
              <a:ext cx="0" cy="3169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직선 화살표 연결선 75"/>
            <p:cNvCxnSpPr/>
            <p:nvPr/>
          </p:nvCxnSpPr>
          <p:spPr>
            <a:xfrm>
              <a:off x="2807804" y="3976634"/>
              <a:ext cx="0" cy="301393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직선 화살표 연결선 76"/>
            <p:cNvCxnSpPr/>
            <p:nvPr/>
          </p:nvCxnSpPr>
          <p:spPr>
            <a:xfrm>
              <a:off x="3311860" y="3976181"/>
              <a:ext cx="0" cy="316915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8" name="직선 화살표 연결선 77"/>
            <p:cNvCxnSpPr/>
            <p:nvPr/>
          </p:nvCxnSpPr>
          <p:spPr>
            <a:xfrm>
              <a:off x="3815916" y="3975516"/>
              <a:ext cx="0" cy="316916"/>
            </a:xfrm>
            <a:prstGeom prst="straightConnector1">
              <a:avLst/>
            </a:prstGeom>
            <a:ln w="19050">
              <a:solidFill>
                <a:schemeClr val="tx1"/>
              </a:solidFill>
              <a:tailEnd type="stealth" w="lg" len="lg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121795845"/>
      </p:ext>
    </p:extLst>
  </p:cSld>
  <p:clrMapOvr>
    <a:masterClrMapping/>
  </p:clrMapOvr>
  <p:transition>
    <p:zoom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Where Are Page Tables Stored?</a:t>
            </a:r>
            <a:endParaRPr lang="ko-KR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내용 개체 틀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ko-KR" dirty="0"/>
                  <a:t>Page tables can get awfully large.</a:t>
                </a:r>
              </a:p>
              <a:p>
                <a:pPr lvl="1"/>
                <a:r>
                  <a:rPr lang="en-US" altLang="ko-KR" dirty="0"/>
                  <a:t>32-bit address space with 4-KB pages, 20 bits for VPN</a:t>
                </a:r>
              </a:p>
              <a:p>
                <a:pPr lvl="2"/>
                <a:r>
                  <a:rPr lang="en-US" altLang="ko-KR" b="0" dirty="0">
                    <a:latin typeface="Cambria Math" panose="02040503050406030204" pitchFamily="18" charset="0"/>
                  </a:rPr>
                  <a:t>Page offset for 4 Kbyte page: 20 bit</a:t>
                </a: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altLang="ko-KR" b="0" i="1" smtClean="0">
                            <a:latin typeface="Cambria Math" charset="0"/>
                          </a:rPr>
                        </m:ctrlPr>
                      </m:sSupPr>
                      <m:e>
                        <m:r>
                          <a:rPr lang="en-US" altLang="ko-KR" b="0" i="1" smtClean="0">
                            <a:latin typeface="Cambria Math"/>
                          </a:rPr>
                          <m:t>4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𝑀𝐵</m:t>
                        </m:r>
                        <m:r>
                          <a:rPr lang="en-US" altLang="ko-KR" b="0" i="1" smtClean="0">
                            <a:latin typeface="Cambria Math"/>
                          </a:rPr>
                          <m:t>= 2</m:t>
                        </m:r>
                      </m:e>
                      <m:sup>
                        <m:r>
                          <a:rPr lang="en-US" altLang="ko-KR" b="0" i="1" smtClean="0">
                            <a:latin typeface="Cambria Math"/>
                          </a:rPr>
                          <m:t>20</m:t>
                        </m:r>
                      </m:sup>
                    </m:sSup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𝑒𝑛𝑡𝑟𝑖𝑒𝑠</m:t>
                    </m:r>
                    <m:r>
                      <a:rPr lang="en-US" altLang="ko-KR" b="0" i="1" smtClean="0">
                        <a:latin typeface="Cambria Math"/>
                      </a:rPr>
                      <m:t> ∗4 </m:t>
                    </m:r>
                    <m:r>
                      <a:rPr lang="en-US" altLang="ko-KR" b="0" i="1" smtClean="0">
                        <a:latin typeface="Cambria Math"/>
                      </a:rPr>
                      <m:t>𝐵𝑦𝑡𝑒𝑠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𝑝𝑒𝑟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𝑝𝑎𝑔𝑒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𝑡𝑎𝑏𝑙𝑒</m:t>
                    </m:r>
                    <m:r>
                      <a:rPr lang="en-US" altLang="ko-KR" b="0" i="1" smtClean="0">
                        <a:latin typeface="Cambria Math"/>
                      </a:rPr>
                      <m:t> </m:t>
                    </m:r>
                    <m:r>
                      <a:rPr lang="en-US" altLang="ko-KR" b="0" i="1" smtClean="0">
                        <a:latin typeface="Cambria Math"/>
                      </a:rPr>
                      <m:t>𝑒𝑛𝑡𝑟𝑦</m:t>
                    </m:r>
                  </m:oMath>
                </a14:m>
                <a:endParaRPr lang="en-US" altLang="ko-KR" dirty="0"/>
              </a:p>
              <a:p>
                <a:pPr lvl="2"/>
                <a:endParaRPr lang="en-US" altLang="ko-KR" dirty="0"/>
              </a:p>
              <a:p>
                <a:r>
                  <a:rPr lang="en-US" altLang="ko-KR" dirty="0"/>
                  <a:t>Page tables for each process are stored in memory.</a:t>
                </a:r>
                <a:endParaRPr lang="ko-KR" altLang="en-US" dirty="0"/>
              </a:p>
            </p:txBody>
          </p:sp>
        </mc:Choice>
        <mc:Fallback xmlns="">
          <p:sp>
            <p:nvSpPr>
              <p:cNvPr id="3" name="내용 개체 틀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8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4871778"/>
      </p:ext>
    </p:extLst>
  </p:cSld>
  <p:clrMapOvr>
    <a:masterClrMapping/>
  </p:clrMapOvr>
  <p:transition>
    <p:zoom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Page Table in Kernel Physical Memory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9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517234" y="1412776"/>
            <a:ext cx="6024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483769" y="1897087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16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8" name="직사각형 7"/>
          <p:cNvSpPr/>
          <p:nvPr/>
        </p:nvSpPr>
        <p:spPr>
          <a:xfrm>
            <a:off x="3182204" y="1567150"/>
            <a:ext cx="1456785" cy="498877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table</a:t>
            </a:r>
          </a:p>
          <a:p>
            <a:pPr algn="ct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3 7 5 2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직사각형 8"/>
          <p:cNvSpPr/>
          <p:nvPr/>
        </p:nvSpPr>
        <p:spPr>
          <a:xfrm>
            <a:off x="3182204" y="2570083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3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0" name="직사각형 9"/>
          <p:cNvSpPr/>
          <p:nvPr/>
        </p:nvSpPr>
        <p:spPr>
          <a:xfrm>
            <a:off x="3182204" y="2066027"/>
            <a:ext cx="1456785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1" name="직사각형 10"/>
          <p:cNvSpPr/>
          <p:nvPr/>
        </p:nvSpPr>
        <p:spPr>
          <a:xfrm>
            <a:off x="3182204" y="3068960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0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2" name="직사각형 11"/>
          <p:cNvSpPr/>
          <p:nvPr/>
        </p:nvSpPr>
        <p:spPr>
          <a:xfrm>
            <a:off x="3182204" y="3567837"/>
            <a:ext cx="1456785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3182204" y="4071893"/>
            <a:ext cx="1456785" cy="498877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2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59832" y="5680993"/>
            <a:ext cx="174038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Physical Memory</a:t>
            </a:r>
            <a:endParaRPr lang="ko-KR" altLang="en-US" sz="1400" b="1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182203" y="4570770"/>
            <a:ext cx="1455993" cy="504056"/>
          </a:xfrm>
          <a:prstGeom prst="rect">
            <a:avLst/>
          </a:prstGeom>
          <a:pattFill prst="dkUpDiag">
            <a:fgClr>
              <a:schemeClr val="tx2">
                <a:lumMod val="20000"/>
                <a:lumOff val="80000"/>
              </a:schemeClr>
            </a:fgClr>
            <a:bgClr>
              <a:schemeClr val="bg1"/>
            </a:bgClr>
          </a:patt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(unused)</a:t>
            </a:r>
            <a:endParaRPr lang="ko-KR" altLang="en-US" sz="14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6" name="직사각형 15"/>
          <p:cNvSpPr/>
          <p:nvPr/>
        </p:nvSpPr>
        <p:spPr>
          <a:xfrm>
            <a:off x="3182204" y="5074826"/>
            <a:ext cx="1456784" cy="504056"/>
          </a:xfrm>
          <a:prstGeom prst="rect">
            <a:avLst/>
          </a:prstGeom>
          <a:noFill/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lang="en-US" altLang="ko-KR" sz="14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  <a:cs typeface="Courier New" pitchFamily="49" charset="0"/>
              </a:rPr>
              <a:t>page 1 of AS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483769" y="2399563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32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483770" y="2930460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48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483768" y="3429337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64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2483772" y="3933393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80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483772" y="4432270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96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483769" y="4939588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112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483768" y="5403994"/>
            <a:ext cx="6693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ko-KR" sz="1200" dirty="0">
                <a:solidFill>
                  <a:prstClr val="black"/>
                </a:solidFill>
                <a:latin typeface="맑은 고딕" pitchFamily="50" charset="-127"/>
                <a:ea typeface="맑은 고딕" pitchFamily="50" charset="-127"/>
              </a:rPr>
              <a:t>128</a:t>
            </a:r>
            <a:endParaRPr lang="ko-KR" altLang="en-US" sz="1200" dirty="0">
              <a:solidFill>
                <a:prstClr val="black"/>
              </a:solidFill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60032" y="1656433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0 of physical memory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4932040" y="2157900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1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4932040" y="2659365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2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932040" y="3158242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3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932040" y="3659709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4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4932040" y="4161176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5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4932040" y="4662643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6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4932040" y="5166699"/>
            <a:ext cx="3024336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400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page frame 7</a:t>
            </a:r>
            <a:endParaRPr lang="ko-KR" altLang="en-US" sz="160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905748373"/>
      </p:ext>
    </p:extLst>
  </p:cSld>
  <p:clrMapOvr>
    <a:masterClrMapping/>
  </p:clrMapOvr>
  <p:transition>
    <p:zoom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What Is In The Page Table?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5" y="880070"/>
            <a:ext cx="8424937" cy="5501258"/>
          </a:xfrm>
        </p:spPr>
        <p:txBody>
          <a:bodyPr/>
          <a:lstStyle/>
          <a:p>
            <a:r>
              <a:rPr lang="en-US" altLang="ko-KR" dirty="0"/>
              <a:t>The page table is a </a:t>
            </a:r>
            <a:r>
              <a:rPr lang="en-US" altLang="ko-KR" b="1" dirty="0"/>
              <a:t>data structure</a:t>
            </a:r>
            <a:r>
              <a:rPr lang="en-US" altLang="ko-KR" dirty="0"/>
              <a:t> that is used to map the virtual address to physical address.</a:t>
            </a:r>
          </a:p>
          <a:p>
            <a:pPr lvl="1"/>
            <a:r>
              <a:rPr lang="en-US" altLang="ko-KR" dirty="0"/>
              <a:t>Simplest form: a linear page table, an array</a:t>
            </a:r>
          </a:p>
          <a:p>
            <a:pPr lvl="1"/>
            <a:endParaRPr lang="en-US" altLang="ko-KR" dirty="0"/>
          </a:p>
          <a:p>
            <a:r>
              <a:rPr lang="en-US" altLang="ko-KR" dirty="0"/>
              <a:t>The OS </a:t>
            </a:r>
            <a:r>
              <a:rPr lang="en-US" altLang="ko-KR" b="1" dirty="0"/>
              <a:t>indexes</a:t>
            </a:r>
            <a:r>
              <a:rPr lang="en-US" altLang="ko-KR" dirty="0"/>
              <a:t> the array by VPN, and looks up the page-table entry.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10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39268222"/>
      </p:ext>
    </p:extLst>
  </p:cSld>
  <p:clrMapOvr>
    <a:masterClrMapping/>
  </p:clrMapOvr>
  <p:transition>
    <p:zoom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Common Flags Of Page Table Entry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95536" y="880070"/>
            <a:ext cx="8424936" cy="5501258"/>
          </a:xfrm>
        </p:spPr>
        <p:txBody>
          <a:bodyPr/>
          <a:lstStyle/>
          <a:p>
            <a:r>
              <a:rPr lang="en-US" altLang="ko-KR" sz="1800" b="1" dirty="0"/>
              <a:t>Valid Bit</a:t>
            </a:r>
            <a:r>
              <a:rPr lang="en-US" altLang="ko-KR" sz="1800" dirty="0"/>
              <a:t>: Indicating whether the particular translation is valid.</a:t>
            </a:r>
          </a:p>
          <a:p>
            <a:r>
              <a:rPr lang="en-US" altLang="ko-KR" sz="1800" b="1" dirty="0"/>
              <a:t>Protection Bit</a:t>
            </a:r>
            <a:r>
              <a:rPr lang="en-US" altLang="ko-KR" sz="1800" dirty="0"/>
              <a:t>: Indicating whether the page could be read from, written to, or executed from</a:t>
            </a:r>
          </a:p>
          <a:p>
            <a:r>
              <a:rPr lang="en-US" altLang="ko-KR" sz="1800" b="1" dirty="0"/>
              <a:t>Present Bit</a:t>
            </a:r>
            <a:r>
              <a:rPr lang="en-US" altLang="ko-KR" sz="1800" dirty="0"/>
              <a:t>: Indicating whether this page is in physical memory or on disk(swapped out)</a:t>
            </a:r>
          </a:p>
          <a:p>
            <a:r>
              <a:rPr lang="en-US" altLang="ko-KR" sz="1800" b="1" dirty="0"/>
              <a:t>Dirty Bit</a:t>
            </a:r>
            <a:r>
              <a:rPr lang="en-US" altLang="ko-KR" sz="1800" dirty="0"/>
              <a:t>: Indicating whether the page has been modified since it was brought into memory</a:t>
            </a:r>
          </a:p>
          <a:p>
            <a:r>
              <a:rPr lang="en-US" altLang="ko-KR" sz="1800" b="1" dirty="0"/>
              <a:t>Reference Bit(Accessed Bit): </a:t>
            </a:r>
            <a:r>
              <a:rPr lang="en-US" altLang="ko-KR" sz="1800" dirty="0"/>
              <a:t>Indicating that a page has been accessed</a:t>
            </a:r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  <a:p>
            <a:endParaRPr lang="en-US" altLang="ko-KR" sz="180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11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69437086"/>
      </p:ext>
    </p:extLst>
  </p:cSld>
  <p:clrMapOvr>
    <a:masterClrMapping/>
  </p:clrMapOvr>
  <p:transition>
    <p:zoom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Example: x86 Page Table Entry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810106" y="3284984"/>
            <a:ext cx="4141663" cy="2520280"/>
          </a:xfrm>
        </p:spPr>
        <p:txBody>
          <a:bodyPr/>
          <a:lstStyle/>
          <a:p>
            <a:r>
              <a:rPr lang="en-US" altLang="ko-KR" sz="1600"/>
              <a:t>P</a:t>
            </a:r>
            <a:r>
              <a:rPr lang="en-US" altLang="ko-KR" sz="1600" dirty="0"/>
              <a:t>: present</a:t>
            </a:r>
          </a:p>
          <a:p>
            <a:r>
              <a:rPr lang="en-US" altLang="ko-KR" sz="1600" dirty="0"/>
              <a:t>R/W: read/write bit</a:t>
            </a:r>
          </a:p>
          <a:p>
            <a:r>
              <a:rPr lang="en-US" altLang="ko-KR" sz="1600" dirty="0"/>
              <a:t>U/S: supervisor</a:t>
            </a:r>
          </a:p>
          <a:p>
            <a:r>
              <a:rPr lang="en-US" altLang="ko-KR" sz="1600" dirty="0"/>
              <a:t>A: accessed bit</a:t>
            </a:r>
          </a:p>
          <a:p>
            <a:r>
              <a:rPr lang="en-US" altLang="ko-KR" sz="1600" dirty="0"/>
              <a:t>D: dirty bit</a:t>
            </a:r>
          </a:p>
          <a:p>
            <a:r>
              <a:rPr lang="en-US" altLang="ko-KR" sz="1600" dirty="0"/>
              <a:t>PFN: the page frame number</a:t>
            </a: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12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31" name="그룹 30"/>
          <p:cNvGrpSpPr/>
          <p:nvPr/>
        </p:nvGrpSpPr>
        <p:grpSpPr>
          <a:xfrm>
            <a:off x="1028958" y="1484784"/>
            <a:ext cx="7029456" cy="763136"/>
            <a:chOff x="899592" y="1657752"/>
            <a:chExt cx="7029456" cy="763136"/>
          </a:xfrm>
        </p:grpSpPr>
        <p:graphicFrame>
          <p:nvGraphicFramePr>
            <p:cNvPr id="18" name="내용 개체 틀 11"/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1462053666"/>
                </p:ext>
              </p:extLst>
            </p:nvPr>
          </p:nvGraphicFramePr>
          <p:xfrm>
            <a:off x="899592" y="1657752"/>
            <a:ext cx="7029456" cy="274320"/>
          </p:xfrm>
          <a:graphic>
            <a:graphicData uri="http://schemas.openxmlformats.org/drawingml/2006/table">
              <a:tbl>
                <a:tblPr firstRow="1" bandRow="1">
                  <a:tableStyleId>{5C22544A-7EE6-4342-B048-85BDC9FD1C3A}</a:tableStyleId>
                </a:tblPr>
                <a:tblGrid>
                  <a:gridCol w="219670">
                    <a:extLst>
                      <a:ext uri="{9D8B030D-6E8A-4147-A177-3AD203B41FA5}">
                        <a16:colId xmlns:a16="http://schemas.microsoft.com/office/drawing/2014/main" xmlns="" val="20000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01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02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03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04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05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06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07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08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09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10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11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12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13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14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15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16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17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18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19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20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21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22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23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24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25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26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27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28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29"/>
                      </a:ext>
                    </a:extLst>
                  </a:gridCol>
                  <a:gridCol w="219671">
                    <a:extLst>
                      <a:ext uri="{9D8B030D-6E8A-4147-A177-3AD203B41FA5}">
                        <a16:colId xmlns:a16="http://schemas.microsoft.com/office/drawing/2014/main" xmlns="" val="20030"/>
                      </a:ext>
                    </a:extLst>
                  </a:gridCol>
                  <a:gridCol w="219670">
                    <a:extLst>
                      <a:ext uri="{9D8B030D-6E8A-4147-A177-3AD203B41FA5}">
                        <a16:colId xmlns:a16="http://schemas.microsoft.com/office/drawing/2014/main" xmlns="" val="20031"/>
                      </a:ext>
                    </a:extLst>
                  </a:gridCol>
                </a:tblGrid>
                <a:tr h="216024"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9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8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7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6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5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4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3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2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1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algn="ctr" latinLnBrk="1"/>
                        <a:r>
                          <a:rPr lang="en-US" altLang="ko-KR" sz="1200" b="0" spc="-150" dirty="0">
                            <a:solidFill>
                              <a:schemeClr val="tx1"/>
                            </a:solidFill>
                            <a:latin typeface="맑은 고딕" panose="020B0503020000020004" pitchFamily="50" charset="-127"/>
                            <a:ea typeface="맑은 고딕" panose="020B0503020000020004" pitchFamily="50" charset="-127"/>
                          </a:rPr>
                          <a:t>0</a:t>
                        </a:r>
                        <a:endParaRPr lang="ko-KR" altLang="en-US" sz="1200" b="0" spc="-150" dirty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endParaRPr>
                      </a:p>
                    </a:txBody>
                    <a:tcPr marL="36000" marR="36000">
                      <a:lnL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noFill/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xmlns="" val="10000"/>
                    </a:ext>
                  </a:extLst>
                </a:tr>
              </a:tbl>
            </a:graphicData>
          </a:graphic>
        </p:graphicFrame>
        <p:sp>
          <p:nvSpPr>
            <p:cNvPr id="19" name="직사각형 18"/>
            <p:cNvSpPr/>
            <p:nvPr/>
          </p:nvSpPr>
          <p:spPr>
            <a:xfrm>
              <a:off x="899592" y="1916832"/>
              <a:ext cx="4392488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r>
                <a:rPr lang="en-US" altLang="ko-KR" sz="1400" b="1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PFN</a:t>
              </a:r>
              <a:endParaRPr lang="ko-KR" altLang="en-US" sz="1400" b="1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0" name="직사각형 19"/>
            <p:cNvSpPr/>
            <p:nvPr/>
          </p:nvSpPr>
          <p:spPr>
            <a:xfrm>
              <a:off x="5292079" y="1916832"/>
              <a:ext cx="658800" cy="504056"/>
            </a:xfrm>
            <a:prstGeom prst="rect">
              <a:avLst/>
            </a:prstGeom>
            <a:solidFill>
              <a:schemeClr val="tx2">
                <a:lumMod val="40000"/>
                <a:lumOff val="6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1" name="직사각형 20"/>
            <p:cNvSpPr/>
            <p:nvPr/>
          </p:nvSpPr>
          <p:spPr>
            <a:xfrm>
              <a:off x="59508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G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3" name="직사각형 22"/>
            <p:cNvSpPr/>
            <p:nvPr/>
          </p:nvSpPr>
          <p:spPr>
            <a:xfrm>
              <a:off x="61704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PAT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4" name="직사각형 23"/>
            <p:cNvSpPr/>
            <p:nvPr/>
          </p:nvSpPr>
          <p:spPr>
            <a:xfrm>
              <a:off x="63900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D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66096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A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6" name="직사각형 25"/>
            <p:cNvSpPr/>
            <p:nvPr/>
          </p:nvSpPr>
          <p:spPr>
            <a:xfrm>
              <a:off x="68292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PCD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7" name="직사각형 26"/>
            <p:cNvSpPr/>
            <p:nvPr/>
          </p:nvSpPr>
          <p:spPr>
            <a:xfrm>
              <a:off x="70488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PWT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8" name="직사각형 27"/>
            <p:cNvSpPr/>
            <p:nvPr/>
          </p:nvSpPr>
          <p:spPr>
            <a:xfrm>
              <a:off x="72684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U/S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29" name="직사각형 28"/>
            <p:cNvSpPr/>
            <p:nvPr/>
          </p:nvSpPr>
          <p:spPr>
            <a:xfrm>
              <a:off x="74880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R/W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>
              <a:off x="7707679" y="1916832"/>
              <a:ext cx="219600" cy="504056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vert270" wrap="square" lIns="0" rIns="0" rtlCol="0" anchor="ctr">
              <a:noAutofit/>
            </a:bodyPr>
            <a:lstStyle/>
            <a:p>
              <a:pPr algn="ctr"/>
              <a:r>
                <a:rPr lang="en-US" altLang="ko-KR" sz="1300" dirty="0">
                  <a:solidFill>
                    <a:schemeClr val="tx1"/>
                  </a:solidFill>
                  <a:latin typeface="맑은 고딕" panose="020B0503020000020004" pitchFamily="50" charset="-127"/>
                  <a:ea typeface="맑은 고딕" panose="020B0503020000020004" pitchFamily="50" charset="-127"/>
                  <a:cs typeface="Courier New" panose="02070309020205020404" pitchFamily="49" charset="0"/>
                </a:rPr>
                <a:t>P</a:t>
              </a:r>
              <a:endParaRPr lang="ko-KR" altLang="en-US" sz="1300" dirty="0" err="1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Courier New" panose="02070309020205020404" pitchFamily="49" charset="0"/>
              </a:endParaRPr>
            </a:p>
          </p:txBody>
        </p:sp>
      </p:grpSp>
      <p:sp>
        <p:nvSpPr>
          <p:cNvPr id="22" name="TextBox 21"/>
          <p:cNvSpPr txBox="1"/>
          <p:nvPr/>
        </p:nvSpPr>
        <p:spPr>
          <a:xfrm>
            <a:off x="2912130" y="2464559"/>
            <a:ext cx="3281639" cy="32030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en-US" altLang="ko-KR" sz="1600" dirty="0">
                <a:latin typeface="맑은 고딕" pitchFamily="50" charset="-127"/>
                <a:ea typeface="맑은 고딕" pitchFamily="50" charset="-127"/>
              </a:rPr>
              <a:t>An x86 Page Table Entry(PTE)</a:t>
            </a:r>
            <a:endParaRPr lang="ko-KR" altLang="en-US" sz="1600" dirty="0">
              <a:latin typeface="맑은 고딕" pitchFamily="50" charset="-127"/>
              <a:ea typeface="맑은 고딕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964112057"/>
      </p:ext>
    </p:extLst>
  </p:cSld>
  <p:clrMapOvr>
    <a:masterClrMapping/>
  </p:clrMapOvr>
  <p:transition>
    <p:zoom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Paging: Too Slow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To find a location of the desired PTE, the </a:t>
            </a:r>
            <a:r>
              <a:rPr lang="en-US" altLang="ko-KR" b="1" dirty="0"/>
              <a:t>starting location</a:t>
            </a:r>
            <a:r>
              <a:rPr lang="en-US" altLang="ko-KR" dirty="0"/>
              <a:t> of the page table is </a:t>
            </a:r>
            <a:r>
              <a:rPr lang="en-US" altLang="ko-KR" b="1" dirty="0"/>
              <a:t>needed</a:t>
            </a:r>
            <a:r>
              <a:rPr lang="en-US" altLang="ko-KR" dirty="0"/>
              <a:t>.</a:t>
            </a:r>
          </a:p>
          <a:p>
            <a:endParaRPr lang="en-US" altLang="ko-KR" dirty="0"/>
          </a:p>
          <a:p>
            <a:r>
              <a:rPr lang="en-US" altLang="ko-KR" dirty="0"/>
              <a:t>For every memory reference, paging requires the OS to perform one </a:t>
            </a:r>
            <a:r>
              <a:rPr lang="en-US" altLang="ko-KR" b="1" dirty="0"/>
              <a:t>extra memory reference</a:t>
            </a:r>
            <a:r>
              <a:rPr lang="en-US" altLang="ko-KR" dirty="0"/>
              <a:t>.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13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7046922"/>
      </p:ext>
    </p:extLst>
  </p:cSld>
  <p:clrMapOvr>
    <a:masterClrMapping/>
  </p:clrMapOvr>
  <p:transition>
    <p:zoom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Accessing Memory With Paging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14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11275" y="1420787"/>
            <a:ext cx="7992888" cy="439248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Extract the VPN from the virtual address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VPN = (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VPN_MASK) &gt;&gt; SHIFT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4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Form the address of the page-table entry (PTE)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PTEAddr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PTBR + (VPN * </a:t>
            </a:r>
            <a:r>
              <a:rPr lang="en-US" altLang="ko-KR" b="1" dirty="0" err="1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(PTE))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6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7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Fetch the PTE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PTE = 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AccessMemory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PTEAddr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9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61362464"/>
      </p:ext>
    </p:extLst>
  </p:cSld>
  <p:clrMapOvr>
    <a:masterClrMapping/>
  </p:clrMapOvr>
  <p:transition>
    <p:zoom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Accessing Memory With Paging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15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107504" y="1401446"/>
            <a:ext cx="8893621" cy="439248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Check if process can access the page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11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PTE.Valid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False)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RaiseException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(SEGMENTATION_FAULT)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13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 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CanAccess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PTE.ProtectBits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== False)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RaiseException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(PROTECTION_FAULT)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15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</a:t>
            </a: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16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b="1" dirty="0">
                <a:solidFill>
                  <a:srgbClr val="00B0F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Access is OK: form physical address and fetch it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17 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	offset = 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VirtualAddress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 OFFSET_MASK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18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(PTE.PFN &lt;&lt; PFN_SHIFT) | offset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19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		Register = 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AccessMemory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PhysAddr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ko-KR" b="1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76539819"/>
      </p:ext>
    </p:extLst>
  </p:cSld>
  <p:clrMapOvr>
    <a:masterClrMapping/>
  </p:clrMapOvr>
  <p:transition>
    <p:zoom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Memory Trace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16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695880" y="1243087"/>
            <a:ext cx="4897412" cy="1008112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n-NO" altLang="ko-KR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nn-NO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array[</a:t>
            </a:r>
            <a:r>
              <a:rPr lang="nn-NO" altLang="ko-K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</a:t>
            </a:r>
            <a:r>
              <a:rPr lang="nn-NO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 </a:t>
            </a:r>
          </a:p>
          <a:p>
            <a:r>
              <a:rPr lang="nn-NO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... </a:t>
            </a:r>
          </a:p>
          <a:p>
            <a:r>
              <a:rPr lang="nn-NO" altLang="ko-KR" b="1" dirty="0">
                <a:solidFill>
                  <a:schemeClr val="accent6">
                    <a:lumMod val="75000"/>
                  </a:schemeClr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for</a:t>
            </a:r>
            <a:r>
              <a:rPr lang="nn-NO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(i = </a:t>
            </a:r>
            <a:r>
              <a:rPr lang="nn-NO" altLang="ko-K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nn-NO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 &lt; </a:t>
            </a:r>
            <a:r>
              <a:rPr lang="nn-NO" altLang="ko-K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1000</a:t>
            </a:r>
            <a:r>
              <a:rPr lang="nn-NO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i++) </a:t>
            </a:r>
          </a:p>
          <a:p>
            <a:r>
              <a:rPr lang="nn-NO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	array[i] = </a:t>
            </a:r>
            <a:r>
              <a:rPr lang="nn-NO" altLang="ko-KR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nn-NO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ko-KR" b="1" dirty="0">
              <a:solidFill>
                <a:schemeClr val="tx1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713004" y="2956922"/>
            <a:ext cx="5399608" cy="792088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nn-NO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prompt&gt; gcc –o array array.c –Wall –o</a:t>
            </a:r>
          </a:p>
          <a:p>
            <a:r>
              <a:rPr lang="nn-NO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prompt&gt;./array</a:t>
            </a:r>
          </a:p>
        </p:txBody>
      </p:sp>
      <p:sp>
        <p:nvSpPr>
          <p:cNvPr id="8" name="직사각형 7"/>
          <p:cNvSpPr/>
          <p:nvPr/>
        </p:nvSpPr>
        <p:spPr>
          <a:xfrm>
            <a:off x="714174" y="4365104"/>
            <a:ext cx="7890274" cy="1782579"/>
          </a:xfrm>
          <a:prstGeom prst="rect">
            <a:avLst/>
          </a:prstGeom>
          <a:solidFill>
            <a:schemeClr val="bg1"/>
          </a:solidFill>
          <a:ln w="12700">
            <a:noFill/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252000" rIns="36000" rtlCol="0" anchor="ctr">
            <a:noAutofit/>
          </a:bodyPr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0x1024 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movl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$0x0,(%edi,%eax,4)</a:t>
            </a:r>
            <a:r>
              <a:rPr lang="ko-KR" alt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//[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edi+eax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*4]= 0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0x1028 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incl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%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eax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0x102c 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cmpl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$0x03e8,%eax //0000 0011 1110 1000</a:t>
            </a:r>
            <a:r>
              <a:rPr lang="en-US" altLang="ko-KR" b="1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1000</a:t>
            </a:r>
            <a:r>
              <a:rPr lang="en-US" altLang="ko-KR" b="1" baseline="-25000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10</a:t>
            </a:r>
          </a:p>
          <a:p>
            <a:pPr>
              <a:lnSpc>
                <a:spcPct val="150000"/>
              </a:lnSpc>
            </a:pP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0x1030 </a:t>
            </a:r>
            <a:r>
              <a:rPr lang="en-US" altLang="ko-KR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jne</a:t>
            </a:r>
            <a:r>
              <a:rPr lang="en-US" altLang="ko-KR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0x1024 </a:t>
            </a:r>
            <a:endParaRPr lang="nn-NO" altLang="ko-KR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11" name="Straight Connector 10"/>
          <p:cNvCxnSpPr/>
          <p:nvPr/>
        </p:nvCxnSpPr>
        <p:spPr>
          <a:xfrm>
            <a:off x="695880" y="2564904"/>
            <a:ext cx="7548528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>
            <a:off x="713004" y="4077072"/>
            <a:ext cx="7548528" cy="0"/>
          </a:xfrm>
          <a:prstGeom prst="line">
            <a:avLst/>
          </a:prstGeom>
          <a:ln w="12700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직사각형 2">
            <a:extLst>
              <a:ext uri="{FF2B5EF4-FFF2-40B4-BE49-F238E27FC236}">
                <a16:creationId xmlns:a16="http://schemas.microsoft.com/office/drawing/2014/main" xmlns="" id="{FEAA0546-3295-D444-95B4-A7A91D282953}"/>
              </a:ext>
            </a:extLst>
          </p:cNvPr>
          <p:cNvSpPr/>
          <p:nvPr/>
        </p:nvSpPr>
        <p:spPr>
          <a:xfrm>
            <a:off x="827584" y="4365104"/>
            <a:ext cx="7200800" cy="576064"/>
          </a:xfrm>
          <a:prstGeom prst="rect">
            <a:avLst/>
          </a:prstGeom>
          <a:noFill/>
          <a:ln w="9525"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252000" rtlCol="0" anchor="ctr"/>
          <a:lstStyle/>
          <a:p>
            <a:pPr algn="ctr"/>
            <a:endParaRPr kumimoji="1" lang="ko-KR" altLang="en-US" sz="1600" dirty="0">
              <a:solidFill>
                <a:srgbClr val="00B050"/>
              </a:solidFill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92EDE979-A756-ED44-9D1D-D5FCDD84E62B}"/>
              </a:ext>
            </a:extLst>
          </p:cNvPr>
          <p:cNvSpPr txBox="1"/>
          <p:nvPr/>
        </p:nvSpPr>
        <p:spPr>
          <a:xfrm>
            <a:off x="7124139" y="4098184"/>
            <a:ext cx="14649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400" dirty="0">
                <a:latin typeface="Helvetica" pitchFamily="2" charset="0"/>
              </a:rPr>
              <a:t>Memory access</a:t>
            </a:r>
            <a:endParaRPr kumimoji="1" lang="ko-KR" altLang="en-US" sz="14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470450"/>
      </p:ext>
    </p:extLst>
  </p:cSld>
  <p:clrMapOvr>
    <a:masterClrMapping/>
  </p:clrMapOvr>
  <p:transition>
    <p:zoom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A Virtual(And Physical) Memory Trace</a:t>
            </a: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15CC4ED-1449-4712-AE45-EBC263B4DD26}" type="slidenum">
              <a:rPr lang="en-US" altLang="ko-KR" smtClean="0">
                <a:solidFill>
                  <a:srgbClr val="1F497D">
                    <a:lumMod val="50000"/>
                  </a:srgbClr>
                </a:solidFill>
              </a:rPr>
              <a:pPr>
                <a:defRPr/>
              </a:pPr>
              <a:t>17</a:t>
            </a:fld>
            <a:r>
              <a:rPr lang="en-US" altLang="ko-KR">
                <a:solidFill>
                  <a:srgbClr val="1F497D">
                    <a:lumMod val="50000"/>
                  </a:srgbClr>
                </a:solidFill>
              </a:rPr>
              <a:t> </a:t>
            </a: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pPr>
              <a:defRPr/>
            </a:pPr>
            <a:r>
              <a:rPr lang="en-US" altLang="ko-KR">
                <a:solidFill>
                  <a:prstClr val="black"/>
                </a:solidFill>
              </a:rPr>
              <a:t>Youjip Won</a:t>
            </a:r>
            <a:endParaRPr lang="ko-KR" altLang="en-US">
              <a:solidFill>
                <a:prstClr val="black"/>
              </a:solidFill>
            </a:endParaRPr>
          </a:p>
        </p:txBody>
      </p:sp>
      <p:grpSp>
        <p:nvGrpSpPr>
          <p:cNvPr id="118" name="그룹 117"/>
          <p:cNvGrpSpPr/>
          <p:nvPr/>
        </p:nvGrpSpPr>
        <p:grpSpPr>
          <a:xfrm>
            <a:off x="832241" y="997438"/>
            <a:ext cx="6995622" cy="1999514"/>
            <a:chOff x="832241" y="775737"/>
            <a:chExt cx="6995622" cy="1999514"/>
          </a:xfrm>
        </p:grpSpPr>
        <p:grpSp>
          <p:nvGrpSpPr>
            <p:cNvPr id="47" name="그룹 46"/>
            <p:cNvGrpSpPr/>
            <p:nvPr/>
          </p:nvGrpSpPr>
          <p:grpSpPr>
            <a:xfrm>
              <a:off x="2138561" y="1196752"/>
              <a:ext cx="4788520" cy="1440000"/>
              <a:chOff x="2138561" y="1052896"/>
              <a:chExt cx="4788520" cy="1440000"/>
            </a:xfrm>
          </p:grpSpPr>
          <p:grpSp>
            <p:nvGrpSpPr>
              <p:cNvPr id="38" name="그룹 37"/>
              <p:cNvGrpSpPr/>
              <p:nvPr/>
            </p:nvGrpSpPr>
            <p:grpSpPr>
              <a:xfrm>
                <a:off x="2138561" y="1052896"/>
                <a:ext cx="4788520" cy="1440000"/>
                <a:chOff x="2138561" y="1052896"/>
                <a:chExt cx="4788520" cy="1440000"/>
              </a:xfrm>
            </p:grpSpPr>
            <p:cxnSp>
              <p:nvCxnSpPr>
                <p:cNvPr id="22" name="직선 화살표 연결선 21"/>
                <p:cNvCxnSpPr/>
                <p:nvPr/>
              </p:nvCxnSpPr>
              <p:spPr>
                <a:xfrm>
                  <a:off x="2138561" y="2492896"/>
                  <a:ext cx="478852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37" name="그룹 36"/>
                <p:cNvGrpSpPr/>
                <p:nvPr/>
              </p:nvGrpSpPr>
              <p:grpSpPr>
                <a:xfrm>
                  <a:off x="6818262" y="1052896"/>
                  <a:ext cx="108819" cy="1440000"/>
                  <a:chOff x="6818262" y="1052896"/>
                  <a:chExt cx="108819" cy="1440000"/>
                </a:xfrm>
              </p:grpSpPr>
              <p:cxnSp>
                <p:nvCxnSpPr>
                  <p:cNvPr id="23" name="직선 화살표 연결선 22"/>
                  <p:cNvCxnSpPr/>
                  <p:nvPr/>
                </p:nvCxnSpPr>
                <p:spPr>
                  <a:xfrm>
                    <a:off x="6818262" y="1052896"/>
                    <a:ext cx="0" cy="1440000"/>
                  </a:xfrm>
                  <a:prstGeom prst="straightConnector1">
                    <a:avLst/>
                  </a:prstGeom>
                  <a:ln w="12700">
                    <a:solidFill>
                      <a:schemeClr val="tx1"/>
                    </a:solidFill>
                    <a:tailEnd type="non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" name="직선 연결선 30"/>
                  <p:cNvCxnSpPr/>
                  <p:nvPr/>
                </p:nvCxnSpPr>
                <p:spPr>
                  <a:xfrm>
                    <a:off x="6819081" y="1414232"/>
                    <a:ext cx="1080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3" name="직선 연결선 32"/>
                  <p:cNvCxnSpPr/>
                  <p:nvPr/>
                </p:nvCxnSpPr>
                <p:spPr>
                  <a:xfrm>
                    <a:off x="6819081" y="1774232"/>
                    <a:ext cx="1080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5" name="직선 연결선 34"/>
                  <p:cNvCxnSpPr/>
                  <p:nvPr/>
                </p:nvCxnSpPr>
                <p:spPr>
                  <a:xfrm>
                    <a:off x="6819081" y="2134232"/>
                    <a:ext cx="108000" cy="0"/>
                  </a:xfrm>
                  <a:prstGeom prst="line">
                    <a:avLst/>
                  </a:prstGeom>
                  <a:ln w="12700">
                    <a:solidFill>
                      <a:schemeClr val="tx1"/>
                    </a:solidFill>
                    <a:tailEnd type="none" w="lg" len="lg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cxnSp>
            <p:nvCxnSpPr>
              <p:cNvPr id="46" name="직선 연결선 45"/>
              <p:cNvCxnSpPr/>
              <p:nvPr/>
            </p:nvCxnSpPr>
            <p:spPr>
              <a:xfrm>
                <a:off x="6819081" y="1057428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67" name="직사각형 66"/>
            <p:cNvSpPr/>
            <p:nvPr/>
          </p:nvSpPr>
          <p:spPr>
            <a:xfrm>
              <a:off x="2138562" y="2536264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8" name="직사각형 77"/>
            <p:cNvSpPr/>
            <p:nvPr/>
          </p:nvSpPr>
          <p:spPr>
            <a:xfrm>
              <a:off x="2555776" y="2536264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79" name="직사각형 78"/>
            <p:cNvSpPr/>
            <p:nvPr/>
          </p:nvSpPr>
          <p:spPr>
            <a:xfrm>
              <a:off x="2735808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0" name="직사각형 79"/>
            <p:cNvSpPr/>
            <p:nvPr/>
          </p:nvSpPr>
          <p:spPr>
            <a:xfrm>
              <a:off x="2915816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1" name="직사각형 80"/>
            <p:cNvSpPr/>
            <p:nvPr/>
          </p:nvSpPr>
          <p:spPr>
            <a:xfrm>
              <a:off x="3095848" y="2536264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3" name="직사각형 82"/>
            <p:cNvSpPr/>
            <p:nvPr/>
          </p:nvSpPr>
          <p:spPr>
            <a:xfrm>
              <a:off x="3491880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4" name="직사각형 83"/>
            <p:cNvSpPr/>
            <p:nvPr/>
          </p:nvSpPr>
          <p:spPr>
            <a:xfrm>
              <a:off x="3671912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5" name="직사각형 84"/>
            <p:cNvSpPr/>
            <p:nvPr/>
          </p:nvSpPr>
          <p:spPr>
            <a:xfrm>
              <a:off x="3851920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6" name="직사각형 85"/>
            <p:cNvSpPr/>
            <p:nvPr/>
          </p:nvSpPr>
          <p:spPr>
            <a:xfrm>
              <a:off x="4031952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7" name="직사각형 86"/>
            <p:cNvSpPr/>
            <p:nvPr/>
          </p:nvSpPr>
          <p:spPr>
            <a:xfrm>
              <a:off x="4381897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8" name="직사각형 87"/>
            <p:cNvSpPr/>
            <p:nvPr/>
          </p:nvSpPr>
          <p:spPr>
            <a:xfrm>
              <a:off x="4561929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89" name="직사각형 88"/>
            <p:cNvSpPr/>
            <p:nvPr/>
          </p:nvSpPr>
          <p:spPr>
            <a:xfrm>
              <a:off x="4741937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0" name="직사각형 89"/>
            <p:cNvSpPr/>
            <p:nvPr/>
          </p:nvSpPr>
          <p:spPr>
            <a:xfrm>
              <a:off x="4921969" y="2536570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1" name="직사각형 90"/>
            <p:cNvSpPr/>
            <p:nvPr/>
          </p:nvSpPr>
          <p:spPr>
            <a:xfrm>
              <a:off x="6192168" y="253718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2" name="직사각형 91"/>
            <p:cNvSpPr/>
            <p:nvPr/>
          </p:nvSpPr>
          <p:spPr>
            <a:xfrm>
              <a:off x="6372200" y="2537488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3" name="직사각형 92"/>
            <p:cNvSpPr/>
            <p:nvPr/>
          </p:nvSpPr>
          <p:spPr>
            <a:xfrm>
              <a:off x="6552208" y="2537488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5" name="직사각형 94"/>
            <p:cNvSpPr/>
            <p:nvPr/>
          </p:nvSpPr>
          <p:spPr>
            <a:xfrm>
              <a:off x="5292080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6" name="직사각형 95"/>
            <p:cNvSpPr/>
            <p:nvPr/>
          </p:nvSpPr>
          <p:spPr>
            <a:xfrm>
              <a:off x="5472112" y="253718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7" name="직사각형 96"/>
            <p:cNvSpPr/>
            <p:nvPr/>
          </p:nvSpPr>
          <p:spPr>
            <a:xfrm>
              <a:off x="5652120" y="253718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8" name="직사각형 97"/>
            <p:cNvSpPr/>
            <p:nvPr/>
          </p:nvSpPr>
          <p:spPr>
            <a:xfrm>
              <a:off x="5832152" y="253687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99" name="직사각형 98"/>
            <p:cNvSpPr/>
            <p:nvPr/>
          </p:nvSpPr>
          <p:spPr>
            <a:xfrm>
              <a:off x="2321768" y="150053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0" name="직사각형 99"/>
            <p:cNvSpPr/>
            <p:nvPr/>
          </p:nvSpPr>
          <p:spPr>
            <a:xfrm>
              <a:off x="3275856" y="150053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1" name="직사각형 100"/>
            <p:cNvSpPr/>
            <p:nvPr/>
          </p:nvSpPr>
          <p:spPr>
            <a:xfrm>
              <a:off x="4153520" y="150355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2" name="직사각형 101"/>
            <p:cNvSpPr/>
            <p:nvPr/>
          </p:nvSpPr>
          <p:spPr>
            <a:xfrm>
              <a:off x="5054109" y="1500536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3" name="직사각형 102"/>
            <p:cNvSpPr/>
            <p:nvPr/>
          </p:nvSpPr>
          <p:spPr>
            <a:xfrm>
              <a:off x="6012160" y="1503552"/>
              <a:ext cx="108000" cy="115104"/>
            </a:xfrm>
            <a:prstGeom prst="rect">
              <a:avLst/>
            </a:prstGeom>
            <a:solidFill>
              <a:schemeClr val="tx2">
                <a:lumMod val="20000"/>
                <a:lumOff val="80000"/>
              </a:schemeClr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04" name="TextBox 103"/>
            <p:cNvSpPr txBox="1"/>
            <p:nvPr/>
          </p:nvSpPr>
          <p:spPr>
            <a:xfrm>
              <a:off x="1268109" y="775737"/>
              <a:ext cx="1152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Page Table[39]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06" name="직선 화살표 연결선 105"/>
            <p:cNvCxnSpPr>
              <a:stCxn id="104" idx="2"/>
            </p:cNvCxnSpPr>
            <p:nvPr/>
          </p:nvCxnSpPr>
          <p:spPr>
            <a:xfrm>
              <a:off x="1844173" y="1052736"/>
              <a:ext cx="402389" cy="45081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8" name="TextBox 107"/>
            <p:cNvSpPr txBox="1"/>
            <p:nvPr/>
          </p:nvSpPr>
          <p:spPr>
            <a:xfrm>
              <a:off x="832241" y="1809673"/>
              <a:ext cx="1152128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Page Table[1]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cxnSp>
          <p:nvCxnSpPr>
            <p:cNvPr id="109" name="직선 화살표 연결선 108"/>
            <p:cNvCxnSpPr>
              <a:stCxn id="108" idx="2"/>
            </p:cNvCxnSpPr>
            <p:nvPr/>
          </p:nvCxnSpPr>
          <p:spPr>
            <a:xfrm>
              <a:off x="1408305" y="2086672"/>
              <a:ext cx="684065" cy="450816"/>
            </a:xfrm>
            <a:prstGeom prst="straightConnector1">
              <a:avLst/>
            </a:prstGeom>
            <a:ln w="12700">
              <a:solidFill>
                <a:schemeClr val="tx1"/>
              </a:solidFill>
              <a:tailEnd type="stealt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2" name="TextBox 111"/>
            <p:cNvSpPr txBox="1"/>
            <p:nvPr/>
          </p:nvSpPr>
          <p:spPr>
            <a:xfrm>
              <a:off x="6932761" y="2498252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1024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3" name="TextBox 112"/>
            <p:cNvSpPr txBox="1"/>
            <p:nvPr/>
          </p:nvSpPr>
          <p:spPr>
            <a:xfrm>
              <a:off x="6932761" y="2139588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1074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4" name="TextBox 113"/>
            <p:cNvSpPr txBox="1"/>
            <p:nvPr/>
          </p:nvSpPr>
          <p:spPr>
            <a:xfrm>
              <a:off x="6932761" y="1778252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1124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5" name="TextBox 114"/>
            <p:cNvSpPr txBox="1"/>
            <p:nvPr/>
          </p:nvSpPr>
          <p:spPr>
            <a:xfrm>
              <a:off x="6932761" y="142260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1174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6" name="TextBox 115"/>
            <p:cNvSpPr txBox="1"/>
            <p:nvPr/>
          </p:nvSpPr>
          <p:spPr>
            <a:xfrm>
              <a:off x="6932761" y="106278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1224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17" name="TextBox 116"/>
            <p:cNvSpPr txBox="1"/>
            <p:nvPr/>
          </p:nvSpPr>
          <p:spPr>
            <a:xfrm>
              <a:off x="7452320" y="1305979"/>
              <a:ext cx="375543" cy="1224217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Page Table(PA)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34" name="직사각형 133"/>
          <p:cNvSpPr/>
          <p:nvPr/>
        </p:nvSpPr>
        <p:spPr>
          <a:xfrm>
            <a:off x="2321768" y="552738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68" name="그룹 167"/>
          <p:cNvGrpSpPr/>
          <p:nvPr/>
        </p:nvGrpSpPr>
        <p:grpSpPr>
          <a:xfrm>
            <a:off x="1180598" y="4726440"/>
            <a:ext cx="6647265" cy="1250758"/>
            <a:chOff x="1180598" y="4946444"/>
            <a:chExt cx="6647265" cy="1250758"/>
          </a:xfrm>
        </p:grpSpPr>
        <p:sp>
          <p:nvSpPr>
            <p:cNvPr id="135" name="TextBox 134"/>
            <p:cNvSpPr txBox="1"/>
            <p:nvPr/>
          </p:nvSpPr>
          <p:spPr>
            <a:xfrm>
              <a:off x="7452320" y="5084667"/>
              <a:ext cx="375543" cy="720276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Code(PA)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6" name="TextBox 135"/>
            <p:cNvSpPr txBox="1"/>
            <p:nvPr/>
          </p:nvSpPr>
          <p:spPr>
            <a:xfrm>
              <a:off x="6960274" y="566644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4096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7" name="TextBox 136"/>
            <p:cNvSpPr txBox="1"/>
            <p:nvPr/>
          </p:nvSpPr>
          <p:spPr>
            <a:xfrm>
              <a:off x="6960274" y="5307780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4146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8" name="TextBox 137"/>
            <p:cNvSpPr txBox="1"/>
            <p:nvPr/>
          </p:nvSpPr>
          <p:spPr>
            <a:xfrm>
              <a:off x="6960274" y="494644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4196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39" name="TextBox 138"/>
            <p:cNvSpPr txBox="1"/>
            <p:nvPr/>
          </p:nvSpPr>
          <p:spPr>
            <a:xfrm>
              <a:off x="1556141" y="568034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1024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0" name="TextBox 139"/>
            <p:cNvSpPr txBox="1"/>
            <p:nvPr/>
          </p:nvSpPr>
          <p:spPr>
            <a:xfrm>
              <a:off x="1556141" y="5321680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1074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1" name="TextBox 140"/>
            <p:cNvSpPr txBox="1"/>
            <p:nvPr/>
          </p:nvSpPr>
          <p:spPr>
            <a:xfrm>
              <a:off x="1556141" y="4960344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1124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42" name="TextBox 141"/>
            <p:cNvSpPr txBox="1"/>
            <p:nvPr/>
          </p:nvSpPr>
          <p:spPr>
            <a:xfrm>
              <a:off x="1180598" y="5070766"/>
              <a:ext cx="375543" cy="720276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Code(VA)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grpSp>
          <p:nvGrpSpPr>
            <p:cNvPr id="160" name="그룹 159"/>
            <p:cNvGrpSpPr/>
            <p:nvPr/>
          </p:nvGrpSpPr>
          <p:grpSpPr>
            <a:xfrm>
              <a:off x="2138561" y="5085024"/>
              <a:ext cx="4788520" cy="796119"/>
              <a:chOff x="2138561" y="5085024"/>
              <a:chExt cx="4788520" cy="796119"/>
            </a:xfrm>
          </p:grpSpPr>
          <p:cxnSp>
            <p:nvCxnSpPr>
              <p:cNvPr id="63" name="직선 화살표 연결선 62"/>
              <p:cNvCxnSpPr/>
              <p:nvPr/>
            </p:nvCxnSpPr>
            <p:spPr>
              <a:xfrm>
                <a:off x="2138561" y="5804944"/>
                <a:ext cx="4788520" cy="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직선 화살표 연결선 63"/>
              <p:cNvCxnSpPr/>
              <p:nvPr/>
            </p:nvCxnSpPr>
            <p:spPr>
              <a:xfrm>
                <a:off x="6819081" y="5085024"/>
                <a:ext cx="0" cy="7961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직선 연결선 64"/>
              <p:cNvCxnSpPr/>
              <p:nvPr/>
            </p:nvCxnSpPr>
            <p:spPr>
              <a:xfrm>
                <a:off x="6819081" y="5086280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직선 연결선 65"/>
              <p:cNvCxnSpPr/>
              <p:nvPr/>
            </p:nvCxnSpPr>
            <p:spPr>
              <a:xfrm>
                <a:off x="6819081" y="5446280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0" name="직선 화살표 연결선 59"/>
              <p:cNvCxnSpPr/>
              <p:nvPr/>
            </p:nvCxnSpPr>
            <p:spPr>
              <a:xfrm flipH="1">
                <a:off x="2245742" y="5085024"/>
                <a:ext cx="818" cy="796119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1" name="직선 연결선 60"/>
              <p:cNvCxnSpPr/>
              <p:nvPr/>
            </p:nvCxnSpPr>
            <p:spPr>
              <a:xfrm>
                <a:off x="2138561" y="5088677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직선 연결선 61"/>
              <p:cNvCxnSpPr/>
              <p:nvPr/>
            </p:nvCxnSpPr>
            <p:spPr>
              <a:xfrm>
                <a:off x="2138561" y="5446280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9" name="직선 연결선 148"/>
              <p:cNvCxnSpPr/>
              <p:nvPr/>
            </p:nvCxnSpPr>
            <p:spPr>
              <a:xfrm>
                <a:off x="3160962" y="5804944"/>
                <a:ext cx="0" cy="7619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2" name="직선 연결선 151"/>
              <p:cNvCxnSpPr/>
              <p:nvPr/>
            </p:nvCxnSpPr>
            <p:spPr>
              <a:xfrm>
                <a:off x="4075362" y="5804944"/>
                <a:ext cx="0" cy="7619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4" name="직선 연결선 153"/>
              <p:cNvCxnSpPr/>
              <p:nvPr/>
            </p:nvCxnSpPr>
            <p:spPr>
              <a:xfrm>
                <a:off x="4989762" y="5804944"/>
                <a:ext cx="0" cy="7619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6" name="직선 연결선 155"/>
              <p:cNvCxnSpPr/>
              <p:nvPr/>
            </p:nvCxnSpPr>
            <p:spPr>
              <a:xfrm>
                <a:off x="5904162" y="5804944"/>
                <a:ext cx="0" cy="76199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61" name="TextBox 160"/>
            <p:cNvSpPr txBox="1"/>
            <p:nvPr/>
          </p:nvSpPr>
          <p:spPr>
            <a:xfrm>
              <a:off x="2102546" y="5897664"/>
              <a:ext cx="288032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2" name="TextBox 161"/>
            <p:cNvSpPr txBox="1"/>
            <p:nvPr/>
          </p:nvSpPr>
          <p:spPr>
            <a:xfrm>
              <a:off x="2969816" y="5897664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10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3" name="TextBox 162"/>
            <p:cNvSpPr txBox="1"/>
            <p:nvPr/>
          </p:nvSpPr>
          <p:spPr>
            <a:xfrm>
              <a:off x="3895342" y="5897664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20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4" name="TextBox 163"/>
            <p:cNvSpPr txBox="1"/>
            <p:nvPr/>
          </p:nvSpPr>
          <p:spPr>
            <a:xfrm>
              <a:off x="4795949" y="5897663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30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5" name="TextBox 164"/>
            <p:cNvSpPr txBox="1"/>
            <p:nvPr/>
          </p:nvSpPr>
          <p:spPr>
            <a:xfrm>
              <a:off x="5724142" y="5920203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40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66" name="TextBox 165"/>
            <p:cNvSpPr txBox="1"/>
            <p:nvPr/>
          </p:nvSpPr>
          <p:spPr>
            <a:xfrm>
              <a:off x="6638242" y="5904130"/>
              <a:ext cx="360040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50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</p:grpSp>
      <p:sp>
        <p:nvSpPr>
          <p:cNvPr id="170" name="직사각형 169"/>
          <p:cNvSpPr/>
          <p:nvPr/>
        </p:nvSpPr>
        <p:spPr>
          <a:xfrm>
            <a:off x="2669157" y="5486704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1" name="직사각형 170"/>
          <p:cNvSpPr/>
          <p:nvPr/>
        </p:nvSpPr>
        <p:spPr>
          <a:xfrm>
            <a:off x="2849736" y="5446440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2" name="직사각형 171"/>
          <p:cNvSpPr/>
          <p:nvPr/>
        </p:nvSpPr>
        <p:spPr>
          <a:xfrm>
            <a:off x="3023816" y="540278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3" name="직사각형 172"/>
          <p:cNvSpPr/>
          <p:nvPr/>
        </p:nvSpPr>
        <p:spPr>
          <a:xfrm>
            <a:off x="3221856" y="5527996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4" name="직사각형 173"/>
          <p:cNvSpPr/>
          <p:nvPr/>
        </p:nvSpPr>
        <p:spPr>
          <a:xfrm>
            <a:off x="3569245" y="5487312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5" name="직사각형 174"/>
          <p:cNvSpPr/>
          <p:nvPr/>
        </p:nvSpPr>
        <p:spPr>
          <a:xfrm>
            <a:off x="3749824" y="544704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6" name="직사각형 175"/>
          <p:cNvSpPr/>
          <p:nvPr/>
        </p:nvSpPr>
        <p:spPr>
          <a:xfrm>
            <a:off x="3923904" y="5403396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1" name="직사각형 180"/>
          <p:cNvSpPr/>
          <p:nvPr/>
        </p:nvSpPr>
        <p:spPr>
          <a:xfrm>
            <a:off x="4129707" y="5527996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2" name="직사각형 181"/>
          <p:cNvSpPr/>
          <p:nvPr/>
        </p:nvSpPr>
        <p:spPr>
          <a:xfrm>
            <a:off x="4477096" y="5487312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3" name="직사각형 182"/>
          <p:cNvSpPr/>
          <p:nvPr/>
        </p:nvSpPr>
        <p:spPr>
          <a:xfrm>
            <a:off x="4657675" y="544704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4" name="직사각형 183"/>
          <p:cNvSpPr/>
          <p:nvPr/>
        </p:nvSpPr>
        <p:spPr>
          <a:xfrm>
            <a:off x="4831755" y="5403396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5" name="직사각형 184"/>
          <p:cNvSpPr/>
          <p:nvPr/>
        </p:nvSpPr>
        <p:spPr>
          <a:xfrm>
            <a:off x="5054109" y="5522467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6" name="직사각형 185"/>
          <p:cNvSpPr/>
          <p:nvPr/>
        </p:nvSpPr>
        <p:spPr>
          <a:xfrm>
            <a:off x="5401498" y="5481783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7" name="직사각형 186"/>
          <p:cNvSpPr/>
          <p:nvPr/>
        </p:nvSpPr>
        <p:spPr>
          <a:xfrm>
            <a:off x="5582077" y="5441519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8" name="직사각형 187"/>
          <p:cNvSpPr/>
          <p:nvPr/>
        </p:nvSpPr>
        <p:spPr>
          <a:xfrm>
            <a:off x="5756157" y="5397867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89" name="직사각형 188"/>
          <p:cNvSpPr/>
          <p:nvPr/>
        </p:nvSpPr>
        <p:spPr>
          <a:xfrm>
            <a:off x="5976182" y="5517892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0" name="직사각형 189"/>
          <p:cNvSpPr/>
          <p:nvPr/>
        </p:nvSpPr>
        <p:spPr>
          <a:xfrm>
            <a:off x="6323571" y="5477208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1" name="직사각형 190"/>
          <p:cNvSpPr/>
          <p:nvPr/>
        </p:nvSpPr>
        <p:spPr>
          <a:xfrm>
            <a:off x="6504150" y="5436944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92" name="직사각형 191"/>
          <p:cNvSpPr/>
          <p:nvPr/>
        </p:nvSpPr>
        <p:spPr>
          <a:xfrm>
            <a:off x="6678230" y="5393292"/>
            <a:ext cx="108000" cy="115104"/>
          </a:xfrm>
          <a:prstGeom prst="rect">
            <a:avLst/>
          </a:prstGeom>
          <a:solidFill>
            <a:schemeClr val="tx1"/>
          </a:solidFill>
          <a:ln w="12700">
            <a:solidFill>
              <a:schemeClr val="tx1"/>
            </a:solidFill>
          </a:ln>
          <a:effectLst>
            <a:outerShdw sx="1000" sy="1000" rotWithShape="0">
              <a:srgbClr val="000000"/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lIns="36000" rIns="36000" rtlCol="0" anchor="ctr">
            <a:noAutofit/>
          </a:bodyPr>
          <a:lstStyle/>
          <a:p>
            <a:pPr algn="ctr"/>
            <a:endParaRPr lang="ko-KR" altLang="en-US" sz="1400" dirty="0" err="1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198" name="그룹 197"/>
          <p:cNvGrpSpPr/>
          <p:nvPr/>
        </p:nvGrpSpPr>
        <p:grpSpPr>
          <a:xfrm>
            <a:off x="1180597" y="3284984"/>
            <a:ext cx="6647265" cy="998295"/>
            <a:chOff x="1180597" y="3284984"/>
            <a:chExt cx="6647265" cy="998295"/>
          </a:xfrm>
        </p:grpSpPr>
        <p:grpSp>
          <p:nvGrpSpPr>
            <p:cNvPr id="57" name="그룹 56"/>
            <p:cNvGrpSpPr/>
            <p:nvPr/>
          </p:nvGrpSpPr>
          <p:grpSpPr>
            <a:xfrm>
              <a:off x="2138561" y="3424860"/>
              <a:ext cx="4788520" cy="719920"/>
              <a:chOff x="2138561" y="3501008"/>
              <a:chExt cx="4788520" cy="719920"/>
            </a:xfrm>
          </p:grpSpPr>
          <p:grpSp>
            <p:nvGrpSpPr>
              <p:cNvPr id="53" name="그룹 52"/>
              <p:cNvGrpSpPr/>
              <p:nvPr/>
            </p:nvGrpSpPr>
            <p:grpSpPr>
              <a:xfrm>
                <a:off x="2138561" y="3501008"/>
                <a:ext cx="4788520" cy="719920"/>
                <a:chOff x="2138561" y="3501008"/>
                <a:chExt cx="4788520" cy="719920"/>
              </a:xfrm>
            </p:grpSpPr>
            <p:cxnSp>
              <p:nvCxnSpPr>
                <p:cNvPr id="40" name="직선 화살표 연결선 39"/>
                <p:cNvCxnSpPr/>
                <p:nvPr/>
              </p:nvCxnSpPr>
              <p:spPr>
                <a:xfrm>
                  <a:off x="2138561" y="4220928"/>
                  <a:ext cx="4788520" cy="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2" name="직선 화살표 연결선 41"/>
                <p:cNvCxnSpPr/>
                <p:nvPr/>
              </p:nvCxnSpPr>
              <p:spPr>
                <a:xfrm flipH="1">
                  <a:off x="6818263" y="3501008"/>
                  <a:ext cx="818" cy="719920"/>
                </a:xfrm>
                <a:prstGeom prst="straightConnector1">
                  <a:avLst/>
                </a:prstGeom>
                <a:ln w="12700"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4" name="직선 연결선 43"/>
                <p:cNvCxnSpPr/>
                <p:nvPr/>
              </p:nvCxnSpPr>
              <p:spPr>
                <a:xfrm>
                  <a:off x="6819081" y="3502264"/>
                  <a:ext cx="1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45" name="직선 연결선 44"/>
                <p:cNvCxnSpPr/>
                <p:nvPr/>
              </p:nvCxnSpPr>
              <p:spPr>
                <a:xfrm>
                  <a:off x="6819081" y="3862264"/>
                  <a:ext cx="108000" cy="0"/>
                </a:xfrm>
                <a:prstGeom prst="line">
                  <a:avLst/>
                </a:prstGeom>
                <a:ln w="12700">
                  <a:solidFill>
                    <a:schemeClr val="tx1"/>
                  </a:solidFill>
                  <a:tailEnd type="none" w="lg" len="lg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4" name="직선 화살표 연결선 53"/>
              <p:cNvCxnSpPr/>
              <p:nvPr/>
            </p:nvCxnSpPr>
            <p:spPr>
              <a:xfrm flipH="1">
                <a:off x="2245742" y="3501008"/>
                <a:ext cx="818" cy="719920"/>
              </a:xfrm>
              <a:prstGeom prst="straightConnector1">
                <a:avLst/>
              </a:prstGeom>
              <a:ln w="12700">
                <a:solidFill>
                  <a:schemeClr val="tx1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직선 연결선 54"/>
              <p:cNvCxnSpPr/>
              <p:nvPr/>
            </p:nvCxnSpPr>
            <p:spPr>
              <a:xfrm>
                <a:off x="2138561" y="3504661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직선 연결선 55"/>
              <p:cNvCxnSpPr/>
              <p:nvPr/>
            </p:nvCxnSpPr>
            <p:spPr>
              <a:xfrm>
                <a:off x="2138561" y="3862264"/>
                <a:ext cx="108000" cy="0"/>
              </a:xfrm>
              <a:prstGeom prst="line">
                <a:avLst/>
              </a:prstGeom>
              <a:ln w="12700">
                <a:solidFill>
                  <a:schemeClr val="tx1"/>
                </a:solidFill>
                <a:tailEnd type="none" w="lg" len="lg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0" name="TextBox 119"/>
            <p:cNvSpPr txBox="1"/>
            <p:nvPr/>
          </p:nvSpPr>
          <p:spPr>
            <a:xfrm>
              <a:off x="7452319" y="3424860"/>
              <a:ext cx="375543" cy="720276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Array(PA)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1" name="TextBox 120"/>
            <p:cNvSpPr txBox="1"/>
            <p:nvPr/>
          </p:nvSpPr>
          <p:spPr>
            <a:xfrm>
              <a:off x="6960274" y="4006280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7232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2" name="TextBox 121"/>
            <p:cNvSpPr txBox="1"/>
            <p:nvPr/>
          </p:nvSpPr>
          <p:spPr>
            <a:xfrm>
              <a:off x="6960274" y="3647616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7282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3" name="TextBox 122"/>
            <p:cNvSpPr txBox="1"/>
            <p:nvPr/>
          </p:nvSpPr>
          <p:spPr>
            <a:xfrm>
              <a:off x="6960274" y="3286280"/>
              <a:ext cx="576064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7132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4" name="TextBox 123"/>
            <p:cNvSpPr txBox="1"/>
            <p:nvPr/>
          </p:nvSpPr>
          <p:spPr>
            <a:xfrm>
              <a:off x="1180597" y="3404135"/>
              <a:ext cx="375543" cy="720276"/>
            </a:xfrm>
            <a:prstGeom prst="rect">
              <a:avLst/>
            </a:prstGeom>
            <a:noFill/>
          </p:spPr>
          <p:txBody>
            <a:bodyPr vert="vert270" wrap="square" rtlCol="0">
              <a:noAutofit/>
            </a:bodyPr>
            <a:lstStyle/>
            <a:p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Array(VA)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5" name="TextBox 124"/>
            <p:cNvSpPr txBox="1"/>
            <p:nvPr/>
          </p:nvSpPr>
          <p:spPr>
            <a:xfrm>
              <a:off x="1455880" y="4004984"/>
              <a:ext cx="6336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40000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6" name="TextBox 125"/>
            <p:cNvSpPr txBox="1"/>
            <p:nvPr/>
          </p:nvSpPr>
          <p:spPr>
            <a:xfrm>
              <a:off x="1455880" y="3646320"/>
              <a:ext cx="6336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40050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7" name="TextBox 126"/>
            <p:cNvSpPr txBox="1"/>
            <p:nvPr/>
          </p:nvSpPr>
          <p:spPr>
            <a:xfrm>
              <a:off x="1455880" y="3284984"/>
              <a:ext cx="633636" cy="2769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en-US" altLang="ko-KR" sz="1200" dirty="0">
                  <a:latin typeface="맑은 고딕" pitchFamily="50" charset="-127"/>
                  <a:ea typeface="맑은 고딕" pitchFamily="50" charset="-127"/>
                </a:rPr>
                <a:t>40100</a:t>
              </a:r>
              <a:endParaRPr lang="ko-KR" altLang="en-US" sz="1200" dirty="0">
                <a:latin typeface="맑은 고딕" pitchFamily="50" charset="-127"/>
                <a:ea typeface="맑은 고딕" pitchFamily="50" charset="-127"/>
              </a:endParaRPr>
            </a:p>
          </p:txBody>
        </p:sp>
        <p:sp>
          <p:nvSpPr>
            <p:cNvPr id="128" name="직사각형 127"/>
            <p:cNvSpPr/>
            <p:nvPr/>
          </p:nvSpPr>
          <p:spPr>
            <a:xfrm>
              <a:off x="2528168" y="4085931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29" name="직사각형 128"/>
            <p:cNvSpPr/>
            <p:nvPr/>
          </p:nvSpPr>
          <p:spPr>
            <a:xfrm>
              <a:off x="3275856" y="4045628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1" name="직사각형 130"/>
            <p:cNvSpPr/>
            <p:nvPr/>
          </p:nvSpPr>
          <p:spPr>
            <a:xfrm>
              <a:off x="4224616" y="4012647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2" name="직사각형 131"/>
            <p:cNvSpPr/>
            <p:nvPr/>
          </p:nvSpPr>
          <p:spPr>
            <a:xfrm>
              <a:off x="5054109" y="3964283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33" name="직사각형 132"/>
            <p:cNvSpPr/>
            <p:nvPr/>
          </p:nvSpPr>
          <p:spPr>
            <a:xfrm>
              <a:off x="6012076" y="3889880"/>
              <a:ext cx="108000" cy="115104"/>
            </a:xfrm>
            <a:prstGeom prst="rect">
              <a:avLst/>
            </a:prstGeom>
            <a:solidFill>
              <a:schemeClr val="tx2"/>
            </a:solidFill>
            <a:ln w="12700">
              <a:solidFill>
                <a:schemeClr val="tx1"/>
              </a:solidFill>
            </a:ln>
            <a:effectLst>
              <a:outerShdw sx="1000" sy="1000" rotWithShape="0">
                <a:srgbClr val="000000"/>
              </a:outerShdw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wrap="square" lIns="36000" rIns="36000" rtlCol="0" anchor="ctr">
              <a:noAutofit/>
            </a:bodyPr>
            <a:lstStyle/>
            <a:p>
              <a:pPr algn="ctr"/>
              <a:endParaRPr lang="ko-KR" altLang="en-US" sz="1400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endParaRPr>
            </a:p>
          </p:txBody>
        </p:sp>
        <p:sp>
          <p:nvSpPr>
            <p:cNvPr id="193" name="TextBox 192"/>
            <p:cNvSpPr txBox="1"/>
            <p:nvPr/>
          </p:nvSpPr>
          <p:spPr>
            <a:xfrm>
              <a:off x="2450952" y="3392841"/>
              <a:ext cx="229397" cy="401003"/>
            </a:xfrm>
            <a:prstGeom prst="rect">
              <a:avLst/>
            </a:prstGeom>
            <a:noFill/>
          </p:spPr>
          <p:txBody>
            <a:bodyPr vert="vert270" wrap="square" rtlCol="0" anchor="ctr" anchorCtr="0">
              <a:noAutofit/>
            </a:bodyPr>
            <a:lstStyle/>
            <a:p>
              <a:r>
                <a:rPr lang="en-US" altLang="ko-KR" sz="1100" dirty="0" err="1">
                  <a:latin typeface="Courier New" pitchFamily="49" charset="0"/>
                  <a:ea typeface="맑은 고딕" pitchFamily="50" charset="-127"/>
                  <a:cs typeface="Courier New" pitchFamily="49" charset="0"/>
                </a:rPr>
                <a:t>mov</a:t>
              </a:r>
              <a:endParaRPr lang="ko-KR" altLang="en-US" sz="1100" dirty="0">
                <a:latin typeface="Courier New" pitchFamily="49" charset="0"/>
                <a:ea typeface="맑은 고딕" pitchFamily="50" charset="-127"/>
                <a:cs typeface="Courier New" pitchFamily="49" charset="0"/>
              </a:endParaRPr>
            </a:p>
          </p:txBody>
        </p:sp>
      </p:grpSp>
      <p:sp>
        <p:nvSpPr>
          <p:cNvPr id="194" name="TextBox 193"/>
          <p:cNvSpPr txBox="1"/>
          <p:nvPr/>
        </p:nvSpPr>
        <p:spPr>
          <a:xfrm>
            <a:off x="2261069" y="4793172"/>
            <a:ext cx="229397" cy="401003"/>
          </a:xfrm>
          <a:prstGeom prst="rect">
            <a:avLst/>
          </a:prstGeom>
          <a:noFill/>
        </p:spPr>
        <p:txBody>
          <a:bodyPr vert="vert270" wrap="square" rtlCol="0" anchor="ctr" anchorCtr="0">
            <a:noAutofit/>
          </a:bodyPr>
          <a:lstStyle/>
          <a:p>
            <a:r>
              <a:rPr lang="en-US" altLang="ko-KR" sz="11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mov</a:t>
            </a:r>
            <a:endParaRPr lang="ko-KR" altLang="en-US" sz="1100" dirty="0"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5" name="TextBox 194"/>
          <p:cNvSpPr txBox="1"/>
          <p:nvPr/>
        </p:nvSpPr>
        <p:spPr>
          <a:xfrm>
            <a:off x="2620339" y="4793172"/>
            <a:ext cx="229397" cy="401003"/>
          </a:xfrm>
          <a:prstGeom prst="rect">
            <a:avLst/>
          </a:prstGeom>
          <a:noFill/>
        </p:spPr>
        <p:txBody>
          <a:bodyPr vert="vert270" wrap="square" rtlCol="0" anchor="ctr" anchorCtr="0">
            <a:noAutofit/>
          </a:bodyPr>
          <a:lstStyle/>
          <a:p>
            <a:r>
              <a:rPr lang="en-US" altLang="ko-KR" sz="11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inc</a:t>
            </a:r>
            <a:endParaRPr lang="ko-KR" altLang="en-US" sz="1100" dirty="0"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6" name="TextBox 195"/>
          <p:cNvSpPr txBox="1"/>
          <p:nvPr/>
        </p:nvSpPr>
        <p:spPr>
          <a:xfrm>
            <a:off x="2801117" y="4793171"/>
            <a:ext cx="229397" cy="401003"/>
          </a:xfrm>
          <a:prstGeom prst="rect">
            <a:avLst/>
          </a:prstGeom>
          <a:noFill/>
        </p:spPr>
        <p:txBody>
          <a:bodyPr vert="vert270" wrap="square" rtlCol="0" anchor="ctr" anchorCtr="0">
            <a:noAutofit/>
          </a:bodyPr>
          <a:lstStyle/>
          <a:p>
            <a:r>
              <a:rPr lang="en-US" altLang="ko-KR" sz="11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cmp</a:t>
            </a:r>
            <a:endParaRPr lang="ko-KR" altLang="en-US" sz="1100" dirty="0"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7" name="TextBox 196"/>
          <p:cNvSpPr txBox="1"/>
          <p:nvPr/>
        </p:nvSpPr>
        <p:spPr>
          <a:xfrm>
            <a:off x="2993265" y="4793172"/>
            <a:ext cx="229397" cy="401003"/>
          </a:xfrm>
          <a:prstGeom prst="rect">
            <a:avLst/>
          </a:prstGeom>
          <a:noFill/>
        </p:spPr>
        <p:txBody>
          <a:bodyPr vert="vert270" wrap="square" rtlCol="0" anchor="ctr" anchorCtr="0">
            <a:noAutofit/>
          </a:bodyPr>
          <a:lstStyle/>
          <a:p>
            <a:r>
              <a:rPr lang="en-US" altLang="ko-KR" sz="1100" dirty="0" err="1">
                <a:latin typeface="Courier New" pitchFamily="49" charset="0"/>
                <a:ea typeface="맑은 고딕" pitchFamily="50" charset="-127"/>
                <a:cs typeface="Courier New" pitchFamily="49" charset="0"/>
              </a:rPr>
              <a:t>jne</a:t>
            </a:r>
            <a:endParaRPr lang="ko-KR" altLang="en-US" sz="1100" dirty="0">
              <a:latin typeface="Courier New" pitchFamily="49" charset="0"/>
              <a:ea typeface="맑은 고딕" pitchFamily="50" charset="-127"/>
              <a:cs typeface="Courier New" pitchFamily="49" charset="0"/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3733263" y="5998651"/>
            <a:ext cx="15956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00" b="1" dirty="0">
                <a:latin typeface="맑은 고딕" pitchFamily="50" charset="-127"/>
                <a:ea typeface="맑은 고딕" pitchFamily="50" charset="-127"/>
              </a:rPr>
              <a:t>Memory Access</a:t>
            </a:r>
            <a:endParaRPr lang="ko-KR" altLang="en-US" sz="1400" b="1" dirty="0">
              <a:latin typeface="맑은 고딕" pitchFamily="50" charset="-127"/>
              <a:ea typeface="맑은 고딕" pitchFamily="50" charset="-12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E5279FA9-15EF-9745-A802-FEE08F8489A9}"/>
              </a:ext>
            </a:extLst>
          </p:cNvPr>
          <p:cNvSpPr txBox="1"/>
          <p:nvPr/>
        </p:nvSpPr>
        <p:spPr>
          <a:xfrm>
            <a:off x="2517698" y="982097"/>
            <a:ext cx="320643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latin typeface="Helvetica" pitchFamily="2" charset="0"/>
              </a:rPr>
              <a:t>(PTE for data: 40000 / 1024)</a:t>
            </a:r>
            <a:endParaRPr kumimoji="1" lang="ko-KR" altLang="en-US" sz="1600" dirty="0">
              <a:latin typeface="Helvetica" pitchFamily="2" charset="0"/>
            </a:endParaRPr>
          </a:p>
        </p:txBody>
      </p:sp>
      <p:sp>
        <p:nvSpPr>
          <p:cNvPr id="130" name="TextBox 129">
            <a:extLst>
              <a:ext uri="{FF2B5EF4-FFF2-40B4-BE49-F238E27FC236}">
                <a16:creationId xmlns:a16="http://schemas.microsoft.com/office/drawing/2014/main" xmlns="" id="{D7712D62-20C2-184A-A3B8-7FF50C237254}"/>
              </a:ext>
            </a:extLst>
          </p:cNvPr>
          <p:cNvSpPr txBox="1"/>
          <p:nvPr/>
        </p:nvSpPr>
        <p:spPr>
          <a:xfrm>
            <a:off x="1897399" y="2003951"/>
            <a:ext cx="370138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ko-KR" sz="1600" dirty="0">
                <a:latin typeface="Helvetica" pitchFamily="2" charset="0"/>
              </a:rPr>
              <a:t>(PTE for code: 1024 / 1024)</a:t>
            </a:r>
            <a:endParaRPr kumimoji="1" lang="ko-KR" altLang="en-US" sz="16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3729385"/>
      </p:ext>
    </p:extLst>
  </p:cSld>
  <p:clrMapOvr>
    <a:masterClrMapping/>
  </p:clrMapOvr>
  <p:transition>
    <p:zoom/>
  </p:transition>
</p:sld>
</file>

<file path=ppt/theme/theme1.xml><?xml version="1.0" encoding="utf-8"?>
<a:theme xmlns:a="http://schemas.openxmlformats.org/drawingml/2006/main" name="양식_공청회_발표자료-총괄-양식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기본 디자인">
      <a:majorFont>
        <a:latin typeface="HY견고딕"/>
        <a:ea typeface="HY견고딕"/>
        <a:cs typeface=""/>
      </a:majorFont>
      <a:minorFont>
        <a:latin typeface="굴림"/>
        <a:ea typeface="굴림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1"/>
        </a:solidFill>
        <a:ln w="9525">
          <a:solidFill>
            <a:schemeClr val="tx1"/>
          </a:solidFill>
        </a:ln>
      </a:spPr>
      <a:bodyPr lIns="252000" rtlCol="0" anchor="ctr"/>
      <a:lstStyle>
        <a:defPPr>
          <a:defRPr sz="1600" dirty="0" smtClean="0">
            <a:solidFill>
              <a:srgbClr val="00B050"/>
            </a:solidFill>
            <a:latin typeface="Courier New" pitchFamily="49" charset="0"/>
            <a:ea typeface="맑은 고딕" pitchFamily="50" charset="-127"/>
            <a:cs typeface="Courier New" pitchFamily="49" charset="0"/>
          </a:defRPr>
        </a:defPPr>
      </a:lstStyle>
      <a:style>
        <a:lnRef idx="3">
          <a:schemeClr val="lt1"/>
        </a:lnRef>
        <a:fillRef idx="1">
          <a:schemeClr val="accent1"/>
        </a:fillRef>
        <a:effectRef idx="1">
          <a:schemeClr val="accent1"/>
        </a:effectRef>
        <a:fontRef idx="minor">
          <a:schemeClr val="lt1"/>
        </a:fontRef>
      </a:style>
    </a:spDef>
    <a:lnDef>
      <a:spPr>
        <a:ln w="12700">
          <a:solidFill>
            <a:schemeClr val="tx1"/>
          </a:solidFill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109986</TotalTime>
  <Words>900</Words>
  <Application>Microsoft Macintosh PowerPoint</Application>
  <PresentationFormat>On-screen Show (4:3)</PresentationFormat>
  <Paragraphs>309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8" baseType="lpstr">
      <vt:lpstr>Adobe Arabic</vt:lpstr>
      <vt:lpstr>Adobe 고딕 Std B</vt:lpstr>
      <vt:lpstr>Cambria Math</vt:lpstr>
      <vt:lpstr>Courier New</vt:lpstr>
      <vt:lpstr>Helvetica</vt:lpstr>
      <vt:lpstr>HY견고딕</vt:lpstr>
      <vt:lpstr>Wingdings</vt:lpstr>
      <vt:lpstr>굴림</vt:lpstr>
      <vt:lpstr>맑은 고딕</vt:lpstr>
      <vt:lpstr>Arial</vt:lpstr>
      <vt:lpstr>양식_공청회_발표자료-총괄-양식</vt:lpstr>
      <vt:lpstr>Operating Systems </vt:lpstr>
      <vt:lpstr>PowerPoint Presentation</vt:lpstr>
      <vt:lpstr>Concept of Paging</vt:lpstr>
      <vt:lpstr>Advantages Of Paging</vt:lpstr>
      <vt:lpstr>Example: A Simple Paging</vt:lpstr>
      <vt:lpstr>Address Translation</vt:lpstr>
      <vt:lpstr>Example: Address Translation</vt:lpstr>
      <vt:lpstr>Where Are Page Tables Stored?</vt:lpstr>
      <vt:lpstr>Example: Page Table in Kernel Physical Memory</vt:lpstr>
      <vt:lpstr>What Is In The Page Table?</vt:lpstr>
      <vt:lpstr>Common Flags Of Page Table Entry</vt:lpstr>
      <vt:lpstr>Example: x86 Page Table Entry</vt:lpstr>
      <vt:lpstr>Paging: Too Slow</vt:lpstr>
      <vt:lpstr>Accessing Memory With Paging</vt:lpstr>
      <vt:lpstr>Accessing Memory With Paging</vt:lpstr>
      <vt:lpstr>A Memory Trace</vt:lpstr>
      <vt:lpstr>A Virtual(And Physical) Memory Trace</vt:lpstr>
    </vt:vector>
  </TitlesOfParts>
  <Manager/>
  <Company/>
  <LinksUpToDate>false</LinksUpToDate>
  <SharedDoc>false</SharedDoc>
  <HyperlinkBase/>
  <HyperlinksChanged>false</HyperlinksChanged>
  <AppVersion>15.0029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Pintos Project</dc:title>
  <dc:subject/>
  <dc:creator>유진수 (jedisty@hanyang.ac.kr)</dc:creator>
  <cp:keywords/>
  <dc:description/>
  <cp:lastModifiedBy>Won Youjip</cp:lastModifiedBy>
  <cp:revision>4146</cp:revision>
  <cp:lastPrinted>2019-09-09T02:10:38Z</cp:lastPrinted>
  <dcterms:created xsi:type="dcterms:W3CDTF">2011-05-01T06:09:10Z</dcterms:created>
  <dcterms:modified xsi:type="dcterms:W3CDTF">2020-04-12T11:36:03Z</dcterms:modified>
  <cp:category/>
</cp:coreProperties>
</file>
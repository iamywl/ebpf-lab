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16"/>
  </p:notesMasterIdLst>
  <p:sldIdLst>
    <p:sldId id="2877" r:id="rId2"/>
    <p:sldId id="2257" r:id="rId3"/>
    <p:sldId id="2258" r:id="rId4"/>
    <p:sldId id="2822" r:id="rId5"/>
    <p:sldId id="2259" r:id="rId6"/>
    <p:sldId id="2951" r:id="rId7"/>
    <p:sldId id="2952" r:id="rId8"/>
    <p:sldId id="2953" r:id="rId9"/>
    <p:sldId id="2954" r:id="rId10"/>
    <p:sldId id="2955" r:id="rId11"/>
    <p:sldId id="2260" r:id="rId12"/>
    <p:sldId id="2949" r:id="rId13"/>
    <p:sldId id="2950" r:id="rId14"/>
    <p:sldId id="2261" r:id="rId1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5786" autoAdjust="0"/>
    <p:restoredTop sz="91978" autoAdjust="0"/>
  </p:normalViewPr>
  <p:slideViewPr>
    <p:cSldViewPr>
      <p:cViewPr varScale="1">
        <p:scale>
          <a:sx n="184" d="100"/>
          <a:sy n="184" d="100"/>
        </p:scale>
        <p:origin x="192" y="7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2020. 4. 26.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CCF23-7B81-4ACD-AAB4-8A73CD1B5721}" type="slidenum">
              <a:rPr lang="ko-KR" altLang="en-US" smtClean="0">
                <a:solidFill>
                  <a:prstClr val="black"/>
                </a:solidFill>
              </a:rPr>
              <a:pPr/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51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hyperlink" Target="https://oslab.kaist.ac.kr/" TargetMode="External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9" name="Picture 2">
            <a:hlinkClick r:id="rId5"/>
            <a:extLst>
              <a:ext uri="{FF2B5EF4-FFF2-40B4-BE49-F238E27FC236}">
                <a16:creationId xmlns="" xmlns:a16="http://schemas.microsoft.com/office/drawing/2014/main" id="{02C5B705-6683-0E42-9CAB-8553C64C4F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" y="6441219"/>
            <a:ext cx="2429396" cy="50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26. Concurrency: An Introduction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029955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 new abstraction for </a:t>
            </a:r>
            <a:r>
              <a:rPr lang="en-US" altLang="ko-KR" u="sng" dirty="0"/>
              <a:t>a single running process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Multi-threaded program</a:t>
            </a:r>
          </a:p>
          <a:p>
            <a:pPr lvl="1"/>
            <a:r>
              <a:rPr lang="en-US" altLang="ko-KR" dirty="0"/>
              <a:t>A multi-threaded program has more than one point of execution.</a:t>
            </a:r>
          </a:p>
          <a:p>
            <a:pPr lvl="1"/>
            <a:r>
              <a:rPr lang="en-US" altLang="ko-KR" dirty="0"/>
              <a:t>Multiple PCs (Program Counter)</a:t>
            </a:r>
          </a:p>
          <a:p>
            <a:pPr lvl="1"/>
            <a:r>
              <a:rPr lang="en-US" altLang="ko-KR" dirty="0"/>
              <a:t>They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share</a:t>
            </a:r>
            <a:r>
              <a:rPr lang="en-US" altLang="ko-KR" dirty="0"/>
              <a:t> the share the same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address space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349729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Context switch between threads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Each thread has its own </a:t>
            </a:r>
            <a:r>
              <a:rPr lang="en-US" altLang="ko-KR" u="sng" dirty="0"/>
              <a:t>program counter</a:t>
            </a:r>
            <a:r>
              <a:rPr lang="en-US" altLang="ko-KR" dirty="0"/>
              <a:t> and </a:t>
            </a:r>
            <a:r>
              <a:rPr lang="en-US" altLang="ko-KR" u="sng" dirty="0"/>
              <a:t>set of registers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One or more </a:t>
            </a:r>
            <a:r>
              <a:rPr lang="en-US" altLang="ko-KR" b="1" dirty="0"/>
              <a:t>thread control blocks(TCBs) </a:t>
            </a:r>
            <a:r>
              <a:rPr lang="en-US" altLang="ko-KR" dirty="0"/>
              <a:t>are needed to store the state of each thread.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When switching from running one (T1) to running the other (T2),</a:t>
            </a:r>
          </a:p>
          <a:p>
            <a:pPr lvl="1"/>
            <a:r>
              <a:rPr lang="en-US" altLang="ko-KR" dirty="0"/>
              <a:t>The register state of T1 be saved.</a:t>
            </a:r>
          </a:p>
          <a:p>
            <a:pPr lvl="1"/>
            <a:r>
              <a:rPr lang="en-US" altLang="ko-KR" dirty="0"/>
              <a:t>The register state of T2 restored.</a:t>
            </a:r>
          </a:p>
          <a:p>
            <a:pPr lvl="1"/>
            <a:r>
              <a:rPr lang="en-US" altLang="ko-KR" dirty="0"/>
              <a:t>The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address space remains</a:t>
            </a:r>
            <a:r>
              <a:rPr lang="en-US" altLang="ko-KR" dirty="0"/>
              <a:t> the same.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68475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will be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one stack per thread</a:t>
            </a:r>
            <a:r>
              <a:rPr lang="en-US" altLang="ko-KR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stack of the relevant thread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  <p:grpSp>
        <p:nvGrpSpPr>
          <p:cNvPr id="39" name="그룹 38"/>
          <p:cNvGrpSpPr/>
          <p:nvPr/>
        </p:nvGrpSpPr>
        <p:grpSpPr>
          <a:xfrm>
            <a:off x="5868344" y="1556792"/>
            <a:ext cx="2448072" cy="3926992"/>
            <a:chOff x="4860032" y="1844824"/>
            <a:chExt cx="2448072" cy="3926992"/>
          </a:xfrm>
        </p:grpSpPr>
        <p:sp>
          <p:nvSpPr>
            <p:cNvPr id="28" name="직사각형 27"/>
            <p:cNvSpPr/>
            <p:nvPr/>
          </p:nvSpPr>
          <p:spPr>
            <a:xfrm>
              <a:off x="5508104" y="5210554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 (1)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67351" y="5433262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875387" y="5041277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15KB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5508104" y="4742554"/>
              <a:ext cx="1800000" cy="468000"/>
            </a:xfrm>
            <a:prstGeom prst="rect">
              <a:avLst/>
            </a:prstGeom>
            <a:pattFill prst="lt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5508104" y="4274554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 (2)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5508104" y="2921526"/>
              <a:ext cx="1800000" cy="1353028"/>
            </a:xfrm>
            <a:prstGeom prst="rect">
              <a:avLst/>
            </a:prstGeom>
            <a:pattFill prst="lt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5508104" y="2453526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508104" y="1985526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860032" y="1844824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860032" y="2276676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860032" y="2754448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611560" y="1556792"/>
            <a:ext cx="4608512" cy="3926992"/>
            <a:chOff x="827584" y="1844824"/>
            <a:chExt cx="4608512" cy="3926992"/>
          </a:xfrm>
        </p:grpSpPr>
        <p:sp>
          <p:nvSpPr>
            <p:cNvPr id="41" name="직사각형 40"/>
            <p:cNvSpPr/>
            <p:nvPr/>
          </p:nvSpPr>
          <p:spPr>
            <a:xfrm>
              <a:off x="1475656" y="5210554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 (1)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34903" y="5433262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42939" y="5041277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15KB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475656" y="2921526"/>
              <a:ext cx="1800000" cy="2289028"/>
            </a:xfrm>
            <a:prstGeom prst="rect">
              <a:avLst/>
            </a:prstGeom>
            <a:pattFill prst="ltDnDiag">
              <a:fgClr>
                <a:schemeClr val="bg1">
                  <a:lumMod val="75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475656" y="2453526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475656" y="1985526"/>
              <a:ext cx="1800000" cy="46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9000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7584" y="1844824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7584" y="2276676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27584" y="2754448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2KB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353780" y="1916832"/>
              <a:ext cx="208231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code segment</a:t>
              </a:r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</a:p>
            <a:p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where instructions live</a:t>
              </a:r>
              <a:endPara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347864" y="2464440"/>
              <a:ext cx="2082316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heap segment</a:t>
              </a:r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contains </a:t>
              </a:r>
              <a:r>
                <a:rPr lang="en-US" altLang="ko-KR" sz="13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malloc’d</a:t>
              </a:r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data dynamic data structures (it grows downward)</a:t>
              </a:r>
              <a:endPara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353780" y="4640649"/>
              <a:ext cx="2082316" cy="1092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(it grows upward)</a:t>
              </a:r>
            </a:p>
            <a:p>
              <a:r>
                <a:rPr lang="en-US" altLang="ko-KR" sz="13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The stack segment</a:t>
              </a:r>
              <a:r>
                <a:rPr lang="en-US" altLang="ko-KR" sz="13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contains local variables arguments to routines, return values, etc.</a:t>
              </a:r>
              <a:endParaRPr lang="ko-KR" altLang="en-US" sz="13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755576" y="5479132"/>
            <a:ext cx="280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 Single-Threaded</a:t>
            </a:r>
          </a:p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Address Space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084168" y="5473799"/>
            <a:ext cx="2808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Two threaded</a:t>
            </a:r>
          </a:p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Address Space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906239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E4E7C5F-6673-4582-8606-9DAA12170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Use Threads?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D457CC57-D5DC-42C4-AFF1-6E6033332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Parallelism</a:t>
            </a:r>
          </a:p>
          <a:p>
            <a:pPr lvl="1"/>
            <a:r>
              <a:rPr lang="en-US" altLang="ko-KR" dirty="0"/>
              <a:t>Single-threaded program: the task is straightforward, but slow.</a:t>
            </a:r>
          </a:p>
          <a:p>
            <a:pPr lvl="1"/>
            <a:r>
              <a:rPr lang="en-US" altLang="ko-KR" dirty="0"/>
              <a:t>Multi-threaded program: natural and typical way to make programs run faster on modern hardware.</a:t>
            </a:r>
          </a:p>
          <a:p>
            <a:pPr lvl="1"/>
            <a:r>
              <a:rPr lang="en-US" altLang="ko-KR" b="1" dirty="0"/>
              <a:t>Parallelization</a:t>
            </a:r>
            <a:r>
              <a:rPr lang="en-US" altLang="ko-KR" dirty="0"/>
              <a:t>: The task of transforming standard </a:t>
            </a:r>
            <a:r>
              <a:rPr lang="en-US" altLang="ko-KR" b="1" dirty="0"/>
              <a:t>single-threaded</a:t>
            </a:r>
            <a:r>
              <a:rPr lang="en-US" altLang="ko-KR" dirty="0"/>
              <a:t> program into a program that does this sort of work on multiple CPUs.</a:t>
            </a:r>
          </a:p>
          <a:p>
            <a:r>
              <a:rPr lang="en-US" altLang="ko-KR" dirty="0"/>
              <a:t>Avoid blocking program progress due to slow </a:t>
            </a:r>
            <a:r>
              <a:rPr lang="en-US" altLang="ko-KR" dirty="0" smtClean="0"/>
              <a:t>I/O.</a:t>
            </a:r>
            <a:endParaRPr lang="en-US" altLang="ko-KR" dirty="0"/>
          </a:p>
          <a:p>
            <a:pPr lvl="1"/>
            <a:r>
              <a:rPr lang="en-US" altLang="ko-KR" dirty="0"/>
              <a:t>Threading enables </a:t>
            </a:r>
            <a:r>
              <a:rPr lang="en-US" altLang="ko-KR" b="1" dirty="0"/>
              <a:t>overlap</a:t>
            </a:r>
            <a:r>
              <a:rPr lang="en-US" altLang="ko-KR" dirty="0"/>
              <a:t> of I/O with other activities within a single program.</a:t>
            </a:r>
          </a:p>
          <a:p>
            <a:pPr lvl="1"/>
            <a:r>
              <a:rPr lang="en-US" altLang="ko-KR" dirty="0"/>
              <a:t>It is much like </a:t>
            </a:r>
            <a:r>
              <a:rPr lang="en-US" altLang="ko-KR" b="1" dirty="0"/>
              <a:t>multiprogramming</a:t>
            </a:r>
            <a:r>
              <a:rPr lang="en-US" altLang="ko-KR" dirty="0"/>
              <a:t> did for processes across programs.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1FBD1FFA-9C60-48E2-BED6-F27CC37446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BF3360E-A017-46D9-9951-6E07AFDAB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8035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9684" y="95809"/>
            <a:ext cx="8786812" cy="585787"/>
          </a:xfrm>
        </p:spPr>
        <p:txBody>
          <a:bodyPr/>
          <a:lstStyle/>
          <a:p>
            <a:r>
              <a:rPr lang="en-US" altLang="ko-KR" dirty="0"/>
              <a:t>An Example: Thread Creation</a:t>
            </a:r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xmlns="" id="{A28F166B-28AA-404E-9966-42B758190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594" y="754063"/>
            <a:ext cx="8786812" cy="5501258"/>
          </a:xfrm>
        </p:spPr>
        <p:txBody>
          <a:bodyPr/>
          <a:lstStyle/>
          <a:p>
            <a:r>
              <a:rPr lang="en-US" altLang="ko-KR" sz="1800" dirty="0"/>
              <a:t>Simple Thread Creation Code (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t0.c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9299" y="1340768"/>
            <a:ext cx="7605402" cy="4770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assert.h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pthread.h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&gt;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#include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“</a:t>
            </a:r>
            <a:r>
              <a:rPr lang="en-US" altLang="ko-KR" sz="1400" dirty="0" err="1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common.h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”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 #include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“</a:t>
            </a:r>
            <a:r>
              <a:rPr lang="en-US" altLang="ko-KR" sz="1400" dirty="0" err="1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common_threads.h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ea typeface="맑은 고딕" pitchFamily="50" charset="-127"/>
                <a:cs typeface="Courier New" panose="02070309020205020404" pitchFamily="49" charset="0"/>
              </a:rPr>
              <a:t>”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3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3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(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“%s\n”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(</a:t>
            </a:r>
            <a:r>
              <a:rPr lang="en-US" altLang="ko-KR" sz="13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>
                <a:solidFill>
                  <a:schemeClr val="accent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3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 (</a:t>
            </a:r>
            <a:r>
              <a:rPr lang="en-US" altLang="ko-KR" sz="13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3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 {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p1, p2;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rc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“main: begin\n”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(&amp;p1,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“A”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Pthread_create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(&amp;p2,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mythread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“B”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// join waits for </a:t>
            </a:r>
            <a:r>
              <a:rPr lang="en-US" altLang="ko-KR" sz="13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thre</a:t>
            </a:r>
            <a:r>
              <a:rPr lang="en-US" altLang="ko-KR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threads to finish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(p1,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Pthread_join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(p2,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NULL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“main: end\n”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 </a:t>
            </a:r>
            <a:r>
              <a:rPr lang="en-US" altLang="ko-KR" sz="1300" dirty="0">
                <a:solidFill>
                  <a:schemeClr val="accent6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3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0</a:t>
            </a: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pPr marL="342900" indent="-342900">
              <a:buFontTx/>
              <a:buAutoNum type="arabicPlain"/>
            </a:pPr>
            <a:r>
              <a:rPr lang="en-US" altLang="ko-KR" sz="13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220779372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 (1)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xmlns="" id="{41C745C1-ED05-415F-A28D-4906EC0275B8}"/>
              </a:ext>
            </a:extLst>
          </p:cNvPr>
          <p:cNvCxnSpPr>
            <a:cxnSpLocks/>
          </p:cNvCxnSpPr>
          <p:nvPr/>
        </p:nvCxnSpPr>
        <p:spPr>
          <a:xfrm>
            <a:off x="683568" y="1239332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B44C1D1-744C-4C8E-91F2-B732B420F278}"/>
              </a:ext>
            </a:extLst>
          </p:cNvPr>
          <p:cNvSpPr txBox="1"/>
          <p:nvPr/>
        </p:nvSpPr>
        <p:spPr>
          <a:xfrm>
            <a:off x="827584" y="879292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main</a:t>
            </a:r>
            <a:endParaRPr lang="ko-KR" altLang="en-US" b="1" dirty="0">
              <a:latin typeface="Couri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5BCCB9D-897B-4F9D-A170-512132E63201}"/>
              </a:ext>
            </a:extLst>
          </p:cNvPr>
          <p:cNvSpPr txBox="1"/>
          <p:nvPr/>
        </p:nvSpPr>
        <p:spPr>
          <a:xfrm>
            <a:off x="827584" y="1237843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starts</a:t>
            </a:r>
            <a:r>
              <a:rPr lang="ko-KR" altLang="en-US" dirty="0">
                <a:latin typeface="Courier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running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073D05B-944D-4598-A6F3-C9DF776E5117}"/>
              </a:ext>
            </a:extLst>
          </p:cNvPr>
          <p:cNvSpPr txBox="1"/>
          <p:nvPr/>
        </p:nvSpPr>
        <p:spPr>
          <a:xfrm>
            <a:off x="827584" y="1605686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“main: begin”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7932B70-7874-4A82-B1B6-E1DC2F7B2B87}"/>
              </a:ext>
            </a:extLst>
          </p:cNvPr>
          <p:cNvSpPr txBox="1"/>
          <p:nvPr/>
        </p:nvSpPr>
        <p:spPr>
          <a:xfrm>
            <a:off x="827584" y="1973529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creates Thread 1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9988E4-6383-468B-AAD5-A9720800C757}"/>
              </a:ext>
            </a:extLst>
          </p:cNvPr>
          <p:cNvSpPr txBox="1"/>
          <p:nvPr/>
        </p:nvSpPr>
        <p:spPr>
          <a:xfrm>
            <a:off x="827584" y="2341372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creates Thread 2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DEE60B1-6180-425E-924B-0E29B020891B}"/>
              </a:ext>
            </a:extLst>
          </p:cNvPr>
          <p:cNvSpPr txBox="1"/>
          <p:nvPr/>
        </p:nvSpPr>
        <p:spPr>
          <a:xfrm>
            <a:off x="827584" y="2709215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waits for T1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4369C78-2F57-4CE3-ABEB-58F4C348A65C}"/>
              </a:ext>
            </a:extLst>
          </p:cNvPr>
          <p:cNvSpPr txBox="1"/>
          <p:nvPr/>
        </p:nvSpPr>
        <p:spPr>
          <a:xfrm>
            <a:off x="4216947" y="30770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7A081871-CD4D-4D59-9A5F-1CBA14869BBC}"/>
              </a:ext>
            </a:extLst>
          </p:cNvPr>
          <p:cNvSpPr txBox="1"/>
          <p:nvPr/>
        </p:nvSpPr>
        <p:spPr>
          <a:xfrm>
            <a:off x="4216947" y="3444901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“A”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EB53AB3-B034-4294-B861-C4FC28029082}"/>
              </a:ext>
            </a:extLst>
          </p:cNvPr>
          <p:cNvSpPr txBox="1"/>
          <p:nvPr/>
        </p:nvSpPr>
        <p:spPr>
          <a:xfrm>
            <a:off x="4216947" y="3812744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returns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8180976-E319-4385-9F7F-D49F727466BB}"/>
              </a:ext>
            </a:extLst>
          </p:cNvPr>
          <p:cNvSpPr txBox="1"/>
          <p:nvPr/>
        </p:nvSpPr>
        <p:spPr>
          <a:xfrm>
            <a:off x="827584" y="4180587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waits for T2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32C7287-B377-4C35-B1C1-04F89C3D36D5}"/>
              </a:ext>
            </a:extLst>
          </p:cNvPr>
          <p:cNvSpPr txBox="1"/>
          <p:nvPr/>
        </p:nvSpPr>
        <p:spPr>
          <a:xfrm>
            <a:off x="6372200" y="454843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E738F06-FFAD-4A39-9D1E-BC2CBDC12789}"/>
              </a:ext>
            </a:extLst>
          </p:cNvPr>
          <p:cNvSpPr txBox="1"/>
          <p:nvPr/>
        </p:nvSpPr>
        <p:spPr>
          <a:xfrm>
            <a:off x="6372200" y="491627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“B”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6C01C68-C9B1-4F0D-AACF-A807C69EB236}"/>
              </a:ext>
            </a:extLst>
          </p:cNvPr>
          <p:cNvSpPr txBox="1"/>
          <p:nvPr/>
        </p:nvSpPr>
        <p:spPr>
          <a:xfrm>
            <a:off x="6372200" y="528411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returns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0E6184C-DC1E-44F6-AA7A-BD3AF6368DD8}"/>
              </a:ext>
            </a:extLst>
          </p:cNvPr>
          <p:cNvSpPr txBox="1"/>
          <p:nvPr/>
        </p:nvSpPr>
        <p:spPr>
          <a:xfrm>
            <a:off x="827584" y="5651956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“main: end”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567E15E-39A7-40C3-9E6C-BFFAAD69B63E}"/>
              </a:ext>
            </a:extLst>
          </p:cNvPr>
          <p:cNvSpPr txBox="1"/>
          <p:nvPr/>
        </p:nvSpPr>
        <p:spPr>
          <a:xfrm>
            <a:off x="4226615" y="87929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Thread 1</a:t>
            </a:r>
            <a:endParaRPr lang="ko-KR" altLang="en-US" b="1" dirty="0">
              <a:latin typeface="Couri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D824317-3BDA-47E8-B47A-CA949E0E4F54}"/>
              </a:ext>
            </a:extLst>
          </p:cNvPr>
          <p:cNvSpPr txBox="1"/>
          <p:nvPr/>
        </p:nvSpPr>
        <p:spPr>
          <a:xfrm>
            <a:off x="6371098" y="87929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Thread 2</a:t>
            </a:r>
            <a:endParaRPr lang="ko-KR" altLang="en-US" b="1" dirty="0">
              <a:latin typeface="Courier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xmlns="" id="{BECFB85D-E86E-4DB1-AF59-03386A91BA52}"/>
              </a:ext>
            </a:extLst>
          </p:cNvPr>
          <p:cNvCxnSpPr>
            <a:cxnSpLocks/>
          </p:cNvCxnSpPr>
          <p:nvPr/>
        </p:nvCxnSpPr>
        <p:spPr>
          <a:xfrm>
            <a:off x="683568" y="3088142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xmlns="" id="{E40120E5-01AF-42FC-9E69-1E6459E5845D}"/>
              </a:ext>
            </a:extLst>
          </p:cNvPr>
          <p:cNvCxnSpPr>
            <a:cxnSpLocks/>
          </p:cNvCxnSpPr>
          <p:nvPr/>
        </p:nvCxnSpPr>
        <p:spPr>
          <a:xfrm>
            <a:off x="683568" y="4174193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8E1F6A36-486B-4726-937E-2CF6A7140C7A}"/>
              </a:ext>
            </a:extLst>
          </p:cNvPr>
          <p:cNvCxnSpPr>
            <a:cxnSpLocks/>
          </p:cNvCxnSpPr>
          <p:nvPr/>
        </p:nvCxnSpPr>
        <p:spPr>
          <a:xfrm>
            <a:off x="683568" y="4548430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xmlns="" id="{AF72C463-CFE7-4738-9878-A1853E65C7CE}"/>
              </a:ext>
            </a:extLst>
          </p:cNvPr>
          <p:cNvCxnSpPr>
            <a:cxnSpLocks/>
          </p:cNvCxnSpPr>
          <p:nvPr/>
        </p:nvCxnSpPr>
        <p:spPr>
          <a:xfrm>
            <a:off x="683568" y="5651956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697200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 (2)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xmlns="" id="{41C745C1-ED05-415F-A28D-4906EC0275B8}"/>
              </a:ext>
            </a:extLst>
          </p:cNvPr>
          <p:cNvCxnSpPr>
            <a:cxnSpLocks/>
          </p:cNvCxnSpPr>
          <p:nvPr/>
        </p:nvCxnSpPr>
        <p:spPr>
          <a:xfrm>
            <a:off x="683568" y="1243175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B44C1D1-744C-4C8E-91F2-B732B420F278}"/>
              </a:ext>
            </a:extLst>
          </p:cNvPr>
          <p:cNvSpPr txBox="1"/>
          <p:nvPr/>
        </p:nvSpPr>
        <p:spPr>
          <a:xfrm>
            <a:off x="827584" y="88313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main</a:t>
            </a:r>
            <a:endParaRPr lang="ko-KR" altLang="en-US" b="1" dirty="0">
              <a:latin typeface="Couri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5BCCB9D-897B-4F9D-A170-512132E63201}"/>
              </a:ext>
            </a:extLst>
          </p:cNvPr>
          <p:cNvSpPr txBox="1"/>
          <p:nvPr/>
        </p:nvSpPr>
        <p:spPr>
          <a:xfrm>
            <a:off x="827584" y="1241686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starts</a:t>
            </a:r>
            <a:r>
              <a:rPr lang="ko-KR" altLang="en-US" dirty="0">
                <a:latin typeface="Courier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running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073D05B-944D-4598-A6F3-C9DF776E5117}"/>
              </a:ext>
            </a:extLst>
          </p:cNvPr>
          <p:cNvSpPr txBox="1"/>
          <p:nvPr/>
        </p:nvSpPr>
        <p:spPr>
          <a:xfrm>
            <a:off x="827584" y="1609529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“main: begin”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7932B70-7874-4A82-B1B6-E1DC2F7B2B87}"/>
              </a:ext>
            </a:extLst>
          </p:cNvPr>
          <p:cNvSpPr txBox="1"/>
          <p:nvPr/>
        </p:nvSpPr>
        <p:spPr>
          <a:xfrm>
            <a:off x="827584" y="1977372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creates Thread 1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9988E4-6383-468B-AAD5-A9720800C757}"/>
              </a:ext>
            </a:extLst>
          </p:cNvPr>
          <p:cNvSpPr txBox="1"/>
          <p:nvPr/>
        </p:nvSpPr>
        <p:spPr>
          <a:xfrm>
            <a:off x="827584" y="3448742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creates Thread 2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DEE60B1-6180-425E-924B-0E29B020891B}"/>
              </a:ext>
            </a:extLst>
          </p:cNvPr>
          <p:cNvSpPr txBox="1"/>
          <p:nvPr/>
        </p:nvSpPr>
        <p:spPr>
          <a:xfrm>
            <a:off x="827584" y="4926629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waits for T1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4369C78-2F57-4CE3-ABEB-58F4C348A65C}"/>
              </a:ext>
            </a:extLst>
          </p:cNvPr>
          <p:cNvSpPr txBox="1"/>
          <p:nvPr/>
        </p:nvSpPr>
        <p:spPr>
          <a:xfrm>
            <a:off x="4216947" y="234521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7A081871-CD4D-4D59-9A5F-1CBA14869BBC}"/>
              </a:ext>
            </a:extLst>
          </p:cNvPr>
          <p:cNvSpPr txBox="1"/>
          <p:nvPr/>
        </p:nvSpPr>
        <p:spPr>
          <a:xfrm>
            <a:off x="4216947" y="2713058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“A”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EB53AB3-B034-4294-B861-C4FC28029082}"/>
              </a:ext>
            </a:extLst>
          </p:cNvPr>
          <p:cNvSpPr txBox="1"/>
          <p:nvPr/>
        </p:nvSpPr>
        <p:spPr>
          <a:xfrm>
            <a:off x="4216947" y="3080901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returns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8180976-E319-4385-9F7F-D49F727466BB}"/>
              </a:ext>
            </a:extLst>
          </p:cNvPr>
          <p:cNvSpPr txBox="1"/>
          <p:nvPr/>
        </p:nvSpPr>
        <p:spPr>
          <a:xfrm>
            <a:off x="827584" y="5496711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waits for T2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32C7287-B377-4C35-B1C1-04F89C3D36D5}"/>
              </a:ext>
            </a:extLst>
          </p:cNvPr>
          <p:cNvSpPr txBox="1"/>
          <p:nvPr/>
        </p:nvSpPr>
        <p:spPr>
          <a:xfrm>
            <a:off x="6372200" y="381807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E738F06-FFAD-4A39-9D1E-BC2CBDC12789}"/>
              </a:ext>
            </a:extLst>
          </p:cNvPr>
          <p:cNvSpPr txBox="1"/>
          <p:nvPr/>
        </p:nvSpPr>
        <p:spPr>
          <a:xfrm>
            <a:off x="6372200" y="4185917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“B”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6C01C68-C9B1-4F0D-AACF-A807C69EB236}"/>
              </a:ext>
            </a:extLst>
          </p:cNvPr>
          <p:cNvSpPr txBox="1"/>
          <p:nvPr/>
        </p:nvSpPr>
        <p:spPr>
          <a:xfrm>
            <a:off x="6372200" y="455376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returns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0E6184C-DC1E-44F6-AA7A-BD3AF6368DD8}"/>
              </a:ext>
            </a:extLst>
          </p:cNvPr>
          <p:cNvSpPr txBox="1"/>
          <p:nvPr/>
        </p:nvSpPr>
        <p:spPr>
          <a:xfrm>
            <a:off x="827584" y="6011996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“main: end”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567E15E-39A7-40C3-9E6C-BFFAAD69B63E}"/>
              </a:ext>
            </a:extLst>
          </p:cNvPr>
          <p:cNvSpPr txBox="1"/>
          <p:nvPr/>
        </p:nvSpPr>
        <p:spPr>
          <a:xfrm>
            <a:off x="4226615" y="88313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Thread 1</a:t>
            </a:r>
            <a:endParaRPr lang="ko-KR" altLang="en-US" b="1" dirty="0">
              <a:latin typeface="Couri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D824317-3BDA-47E8-B47A-CA949E0E4F54}"/>
              </a:ext>
            </a:extLst>
          </p:cNvPr>
          <p:cNvSpPr txBox="1"/>
          <p:nvPr/>
        </p:nvSpPr>
        <p:spPr>
          <a:xfrm>
            <a:off x="6371098" y="88313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Thread 2</a:t>
            </a:r>
            <a:endParaRPr lang="ko-KR" altLang="en-US" b="1" dirty="0">
              <a:latin typeface="Courier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D783E35-662A-48D1-82E6-40CE39C4FEAB}"/>
              </a:ext>
            </a:extLst>
          </p:cNvPr>
          <p:cNvSpPr txBox="1"/>
          <p:nvPr/>
        </p:nvSpPr>
        <p:spPr>
          <a:xfrm>
            <a:off x="1148184" y="5242448"/>
            <a:ext cx="3514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Courier"/>
                <a:ea typeface="맑은 고딕" panose="020B0503020000020004" pitchFamily="50" charset="-127"/>
              </a:rPr>
              <a:t>returns immediately; T1 is done</a:t>
            </a:r>
            <a:endParaRPr lang="ko-KR" altLang="en-US" sz="1400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2CC71A94-B300-4BEA-A273-0D8EE9FBA517}"/>
              </a:ext>
            </a:extLst>
          </p:cNvPr>
          <p:cNvSpPr txBox="1"/>
          <p:nvPr/>
        </p:nvSpPr>
        <p:spPr>
          <a:xfrm>
            <a:off x="1148184" y="5794427"/>
            <a:ext cx="3514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Courier"/>
                <a:ea typeface="맑은 고딕" panose="020B0503020000020004" pitchFamily="50" charset="-127"/>
              </a:rPr>
              <a:t>returns immediately; T2 is done</a:t>
            </a:r>
            <a:endParaRPr lang="ko-KR" altLang="en-US" sz="1400" dirty="0">
              <a:latin typeface="Courier"/>
              <a:ea typeface="맑은 고딕" panose="020B0503020000020004" pitchFamily="50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BC01C32F-9792-411B-855B-8586CD50907A}"/>
              </a:ext>
            </a:extLst>
          </p:cNvPr>
          <p:cNvCxnSpPr>
            <a:cxnSpLocks/>
          </p:cNvCxnSpPr>
          <p:nvPr/>
        </p:nvCxnSpPr>
        <p:spPr>
          <a:xfrm>
            <a:off x="683568" y="2376130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xmlns="" id="{C41D44B4-430F-4F33-BEBE-024F66E7B06C}"/>
              </a:ext>
            </a:extLst>
          </p:cNvPr>
          <p:cNvCxnSpPr>
            <a:cxnSpLocks/>
          </p:cNvCxnSpPr>
          <p:nvPr/>
        </p:nvCxnSpPr>
        <p:spPr>
          <a:xfrm>
            <a:off x="683568" y="3429000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363757C0-3128-479E-A38B-B3513B88A42B}"/>
              </a:ext>
            </a:extLst>
          </p:cNvPr>
          <p:cNvCxnSpPr>
            <a:cxnSpLocks/>
          </p:cNvCxnSpPr>
          <p:nvPr/>
        </p:nvCxnSpPr>
        <p:spPr>
          <a:xfrm>
            <a:off x="683568" y="3818074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xmlns="" id="{1A7D7D96-AFEE-4E43-AC8C-9F9E30B2AC3E}"/>
              </a:ext>
            </a:extLst>
          </p:cNvPr>
          <p:cNvCxnSpPr>
            <a:cxnSpLocks/>
          </p:cNvCxnSpPr>
          <p:nvPr/>
        </p:nvCxnSpPr>
        <p:spPr>
          <a:xfrm>
            <a:off x="683568" y="4898128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71287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Thread Trace (3)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xmlns="" id="{41C745C1-ED05-415F-A28D-4906EC0275B8}"/>
              </a:ext>
            </a:extLst>
          </p:cNvPr>
          <p:cNvCxnSpPr>
            <a:cxnSpLocks/>
          </p:cNvCxnSpPr>
          <p:nvPr/>
        </p:nvCxnSpPr>
        <p:spPr>
          <a:xfrm>
            <a:off x="683568" y="1243175"/>
            <a:ext cx="7920880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B44C1D1-744C-4C8E-91F2-B732B420F278}"/>
              </a:ext>
            </a:extLst>
          </p:cNvPr>
          <p:cNvSpPr txBox="1"/>
          <p:nvPr/>
        </p:nvSpPr>
        <p:spPr>
          <a:xfrm>
            <a:off x="827584" y="88313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main</a:t>
            </a:r>
            <a:endParaRPr lang="ko-KR" altLang="en-US" b="1" dirty="0">
              <a:latin typeface="Couri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F5BCCB9D-897B-4F9D-A170-512132E63201}"/>
              </a:ext>
            </a:extLst>
          </p:cNvPr>
          <p:cNvSpPr txBox="1"/>
          <p:nvPr/>
        </p:nvSpPr>
        <p:spPr>
          <a:xfrm>
            <a:off x="827584" y="1241686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starts</a:t>
            </a:r>
            <a:r>
              <a:rPr lang="ko-KR" altLang="en-US" dirty="0">
                <a:latin typeface="Courier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running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073D05B-944D-4598-A6F3-C9DF776E5117}"/>
              </a:ext>
            </a:extLst>
          </p:cNvPr>
          <p:cNvSpPr txBox="1"/>
          <p:nvPr/>
        </p:nvSpPr>
        <p:spPr>
          <a:xfrm>
            <a:off x="827584" y="1609529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“main: begin”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7932B70-7874-4A82-B1B6-E1DC2F7B2B87}"/>
              </a:ext>
            </a:extLst>
          </p:cNvPr>
          <p:cNvSpPr txBox="1"/>
          <p:nvPr/>
        </p:nvSpPr>
        <p:spPr>
          <a:xfrm>
            <a:off x="827584" y="1977372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creates Thread 1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99988E4-6383-468B-AAD5-A9720800C757}"/>
              </a:ext>
            </a:extLst>
          </p:cNvPr>
          <p:cNvSpPr txBox="1"/>
          <p:nvPr/>
        </p:nvSpPr>
        <p:spPr>
          <a:xfrm>
            <a:off x="827584" y="2348031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creates Thread 2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8DEE60B1-6180-425E-924B-0E29B020891B}"/>
              </a:ext>
            </a:extLst>
          </p:cNvPr>
          <p:cNvSpPr txBox="1"/>
          <p:nvPr/>
        </p:nvSpPr>
        <p:spPr>
          <a:xfrm>
            <a:off x="827584" y="382089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waits for T1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4369C78-2F57-4CE3-ABEB-58F4C348A65C}"/>
              </a:ext>
            </a:extLst>
          </p:cNvPr>
          <p:cNvSpPr txBox="1"/>
          <p:nvPr/>
        </p:nvSpPr>
        <p:spPr>
          <a:xfrm>
            <a:off x="4216947" y="419022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7A081871-CD4D-4D59-9A5F-1CBA14869BBC}"/>
              </a:ext>
            </a:extLst>
          </p:cNvPr>
          <p:cNvSpPr txBox="1"/>
          <p:nvPr/>
        </p:nvSpPr>
        <p:spPr>
          <a:xfrm>
            <a:off x="4216947" y="4558067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“A”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EB53AB3-B034-4294-B861-C4FC28029082}"/>
              </a:ext>
            </a:extLst>
          </p:cNvPr>
          <p:cNvSpPr txBox="1"/>
          <p:nvPr/>
        </p:nvSpPr>
        <p:spPr>
          <a:xfrm>
            <a:off x="4216947" y="492591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returns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8180976-E319-4385-9F7F-D49F727466BB}"/>
              </a:ext>
            </a:extLst>
          </p:cNvPr>
          <p:cNvSpPr txBox="1"/>
          <p:nvPr/>
        </p:nvSpPr>
        <p:spPr>
          <a:xfrm>
            <a:off x="827584" y="531214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waits for T2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A32C7287-B377-4C35-B1C1-04F89C3D36D5}"/>
              </a:ext>
            </a:extLst>
          </p:cNvPr>
          <p:cNvSpPr txBox="1"/>
          <p:nvPr/>
        </p:nvSpPr>
        <p:spPr>
          <a:xfrm>
            <a:off x="6372200" y="271736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runs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FE738F06-FFAD-4A39-9D1E-BC2CBDC12789}"/>
              </a:ext>
            </a:extLst>
          </p:cNvPr>
          <p:cNvSpPr txBox="1"/>
          <p:nvPr/>
        </p:nvSpPr>
        <p:spPr>
          <a:xfrm>
            <a:off x="6372200" y="3085206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“B”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6C01C68-C9B1-4F0D-AACF-A807C69EB236}"/>
              </a:ext>
            </a:extLst>
          </p:cNvPr>
          <p:cNvSpPr txBox="1"/>
          <p:nvPr/>
        </p:nvSpPr>
        <p:spPr>
          <a:xfrm>
            <a:off x="6372200" y="345304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returns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90E6184C-DC1E-44F6-AA7A-BD3AF6368DD8}"/>
              </a:ext>
            </a:extLst>
          </p:cNvPr>
          <p:cNvSpPr txBox="1"/>
          <p:nvPr/>
        </p:nvSpPr>
        <p:spPr>
          <a:xfrm>
            <a:off x="827584" y="5827429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"/>
                <a:ea typeface="맑은 고딕" panose="020B0503020000020004" pitchFamily="50" charset="-127"/>
              </a:rPr>
              <a:t>prints “main: end”</a:t>
            </a:r>
            <a:endParaRPr lang="ko-KR" altLang="en-US" dirty="0">
              <a:latin typeface="Courier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567E15E-39A7-40C3-9E6C-BFFAAD69B63E}"/>
              </a:ext>
            </a:extLst>
          </p:cNvPr>
          <p:cNvSpPr txBox="1"/>
          <p:nvPr/>
        </p:nvSpPr>
        <p:spPr>
          <a:xfrm>
            <a:off x="4226615" y="88313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Thread 1</a:t>
            </a:r>
            <a:endParaRPr lang="ko-KR" altLang="en-US" b="1" dirty="0">
              <a:latin typeface="Couri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D824317-3BDA-47E8-B47A-CA949E0E4F54}"/>
              </a:ext>
            </a:extLst>
          </p:cNvPr>
          <p:cNvSpPr txBox="1"/>
          <p:nvPr/>
        </p:nvSpPr>
        <p:spPr>
          <a:xfrm>
            <a:off x="6371098" y="88313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ourier"/>
              </a:rPr>
              <a:t>Thread 2</a:t>
            </a:r>
            <a:endParaRPr lang="ko-KR" altLang="en-US" b="1" dirty="0">
              <a:latin typeface="Courier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2CC71A94-B300-4BEA-A273-0D8EE9FBA517}"/>
              </a:ext>
            </a:extLst>
          </p:cNvPr>
          <p:cNvSpPr txBox="1"/>
          <p:nvPr/>
        </p:nvSpPr>
        <p:spPr>
          <a:xfrm>
            <a:off x="1148184" y="5609860"/>
            <a:ext cx="3514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Courier"/>
                <a:ea typeface="맑은 고딕" panose="020B0503020000020004" pitchFamily="50" charset="-127"/>
              </a:rPr>
              <a:t>returns immediately; T2 is done</a:t>
            </a:r>
            <a:endParaRPr lang="ko-KR" altLang="en-US" sz="1400" dirty="0">
              <a:latin typeface="Courier"/>
              <a:ea typeface="맑은 고딕" panose="020B0503020000020004" pitchFamily="50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0277A79D-A9DE-4994-8207-C1F5C77406FE}"/>
              </a:ext>
            </a:extLst>
          </p:cNvPr>
          <p:cNvCxnSpPr>
            <a:cxnSpLocks/>
          </p:cNvCxnSpPr>
          <p:nvPr/>
        </p:nvCxnSpPr>
        <p:spPr>
          <a:xfrm>
            <a:off x="683568" y="2717363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xmlns="" id="{B37F5EE7-E311-4B6A-BAE4-94287AD2A898}"/>
              </a:ext>
            </a:extLst>
          </p:cNvPr>
          <p:cNvCxnSpPr>
            <a:cxnSpLocks/>
          </p:cNvCxnSpPr>
          <p:nvPr/>
        </p:nvCxnSpPr>
        <p:spPr>
          <a:xfrm>
            <a:off x="683568" y="3820892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xmlns="" id="{3524E38B-7775-434F-80E5-6B06DF7E98E2}"/>
              </a:ext>
            </a:extLst>
          </p:cNvPr>
          <p:cNvCxnSpPr>
            <a:cxnSpLocks/>
          </p:cNvCxnSpPr>
          <p:nvPr/>
        </p:nvCxnSpPr>
        <p:spPr>
          <a:xfrm>
            <a:off x="683568" y="4190224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xmlns="" id="{E36FE14C-FC3C-4C15-AFA3-50E567AA2795}"/>
              </a:ext>
            </a:extLst>
          </p:cNvPr>
          <p:cNvCxnSpPr>
            <a:cxnSpLocks/>
          </p:cNvCxnSpPr>
          <p:nvPr/>
        </p:nvCxnSpPr>
        <p:spPr>
          <a:xfrm>
            <a:off x="683568" y="5295242"/>
            <a:ext cx="7920880" cy="0"/>
          </a:xfrm>
          <a:prstGeom prst="line">
            <a:avLst/>
          </a:prstGeom>
          <a:ln w="635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52898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1396802"/>
          </a:xfrm>
        </p:spPr>
        <p:txBody>
          <a:bodyPr/>
          <a:lstStyle/>
          <a:p>
            <a:r>
              <a:rPr lang="en-US" altLang="ko-KR" dirty="0"/>
              <a:t>Increasing a value of a variable</a:t>
            </a:r>
          </a:p>
          <a:p>
            <a:pPr lvl="1"/>
            <a:r>
              <a:rPr lang="en-US" altLang="ko-KR" dirty="0"/>
              <a:t>counter = counter + 1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Race condition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524328" y="5929535"/>
            <a:ext cx="399468" cy="235769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29A338A1-E21A-AE4A-AD2B-7B795B38F8BC}"/>
              </a:ext>
            </a:extLst>
          </p:cNvPr>
          <p:cNvSpPr txBox="1"/>
          <p:nvPr/>
        </p:nvSpPr>
        <p:spPr>
          <a:xfrm>
            <a:off x="2735796" y="2780928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105	mov 0x8049a1c, %</a:t>
            </a:r>
            <a:r>
              <a:rPr lang="en-US" altLang="ko-KR" sz="16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eax</a:t>
            </a:r>
            <a:endParaRPr lang="en-US" altLang="ko-KR" sz="16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r>
              <a:rPr lang="en-US" altLang="ko-KR" sz="16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108	add $0x1, %</a:t>
            </a:r>
            <a:r>
              <a:rPr lang="en-US" altLang="ko-KR" sz="16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eax</a:t>
            </a:r>
            <a:endParaRPr lang="en-US" altLang="ko-KR" sz="16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r>
              <a:rPr lang="en-US" altLang="ko-KR" sz="16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113	mov %</a:t>
            </a:r>
            <a:r>
              <a:rPr lang="en-US" altLang="ko-KR" sz="16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eax</a:t>
            </a:r>
            <a:r>
              <a:rPr lang="en-US" altLang="ko-KR" sz="16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, 0x8049a1c</a:t>
            </a:r>
            <a:endParaRPr lang="ko-KR" altLang="en-US" sz="16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0757930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/>
          <a:p>
            <a:r>
              <a:rPr lang="en-US" altLang="ko-KR" dirty="0"/>
              <a:t>Example with two threads</a:t>
            </a:r>
          </a:p>
          <a:p>
            <a:pPr lvl="1"/>
            <a:r>
              <a:rPr lang="en-US" altLang="ko-KR" dirty="0"/>
              <a:t>counter = counter + 1 (default is 50)</a:t>
            </a:r>
          </a:p>
          <a:p>
            <a:pPr lvl="1"/>
            <a:r>
              <a:rPr lang="en-US" altLang="ko-KR" dirty="0"/>
              <a:t>We expect the result is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52</a:t>
            </a:r>
            <a:r>
              <a:rPr lang="en-US" altLang="ko-KR" dirty="0"/>
              <a:t>. However,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Race condition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395536" y="2503429"/>
            <a:ext cx="8748464" cy="3733883"/>
            <a:chOff x="755576" y="2348880"/>
            <a:chExt cx="7488832" cy="3733883"/>
          </a:xfrm>
        </p:grpSpPr>
        <p:cxnSp>
          <p:nvCxnSpPr>
            <p:cNvPr id="7" name="직선 연결선 6"/>
            <p:cNvCxnSpPr/>
            <p:nvPr/>
          </p:nvCxnSpPr>
          <p:spPr>
            <a:xfrm>
              <a:off x="1043608" y="2894666"/>
              <a:ext cx="72008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996005" y="2556112"/>
              <a:ext cx="45557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OS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411240" y="2556112"/>
              <a:ext cx="9367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Thread1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10749" y="2556112"/>
              <a:ext cx="9367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Thread2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156176" y="2556112"/>
              <a:ext cx="4315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PC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37408" y="2556112"/>
              <a:ext cx="6703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%</a:t>
              </a:r>
              <a:r>
                <a:rPr lang="en-US" altLang="ko-KR" sz="160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eax</a:t>
              </a:r>
              <a:endPara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77211" y="2556112"/>
              <a:ext cx="8946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counter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240993" y="2952716"/>
              <a:ext cx="1904885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i="1" dirty="0">
                  <a:solidFill>
                    <a:prstClr val="black"/>
                  </a:solidFill>
                  <a:latin typeface="Helvetica" pitchFamily="2" charset="0"/>
                  <a:ea typeface="맑은 고딕" pitchFamily="50" charset="-127"/>
                </a:rPr>
                <a:t>before critical section</a:t>
              </a:r>
            </a:p>
            <a:p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mov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0x8049a1c,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endPara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add $0x1,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56176" y="2952716"/>
              <a:ext cx="50687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105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108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01434" y="2952716"/>
              <a:ext cx="39946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524328" y="2952716"/>
              <a:ext cx="399468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55576" y="3739017"/>
              <a:ext cx="2123212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interrupt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save T1’s state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restore T2’s state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58879" y="4389250"/>
              <a:ext cx="222528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mov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0x8049a1c,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endPara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add $0x1,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endPara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  <a:p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mov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, 0x8049a1c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56176" y="4190810"/>
              <a:ext cx="506870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105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108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113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01434" y="4190810"/>
              <a:ext cx="39946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24328" y="4190810"/>
              <a:ext cx="399468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55576" y="5109984"/>
              <a:ext cx="2123212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interrupt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save T2’s state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restore T1’s state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267744" y="5774986"/>
              <a:ext cx="22252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mov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 %</a:t>
              </a:r>
              <a:r>
                <a:rPr lang="en-US" altLang="ko-KR" sz="1400" dirty="0" err="1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eax</a:t>
              </a:r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, 0x8049a1c</a:t>
              </a:r>
              <a:endParaRPr lang="ko-KR" altLang="en-US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56176" y="5559542"/>
              <a:ext cx="506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108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113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801434" y="5559542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524328" y="5559542"/>
              <a:ext cx="3994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50</a:t>
              </a:r>
            </a:p>
            <a:p>
              <a:r>
                <a:rPr lang="en-US" altLang="ko-KR" sz="1400" b="1" dirty="0">
                  <a:solidFill>
                    <a:prstClr val="black"/>
                  </a:solidFill>
                  <a:latin typeface="Courier" pitchFamily="49" charset="0"/>
                  <a:ea typeface="맑은 고딕" pitchFamily="50" charset="-127"/>
                </a:rPr>
                <a:t>51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45768" y="2348880"/>
              <a:ext cx="17915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en-US" altLang="ko-KR" sz="160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after instruction)</a:t>
              </a:r>
              <a:endPara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7524328" y="5929535"/>
            <a:ext cx="399468" cy="235769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3721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/>
          <a:p>
            <a:r>
              <a:rPr lang="en-US" altLang="ko-KR" dirty="0"/>
              <a:t>Race condition: </a:t>
            </a:r>
          </a:p>
          <a:p>
            <a:pPr lvl="1"/>
            <a:r>
              <a:rPr lang="en-US" altLang="ko-KR" dirty="0"/>
              <a:t>the results depend on the timing execution of the code.</a:t>
            </a:r>
          </a:p>
          <a:p>
            <a:pPr lvl="1"/>
            <a:r>
              <a:rPr lang="en-US" altLang="ko-KR" dirty="0"/>
              <a:t>Result is indeterminate.</a:t>
            </a:r>
          </a:p>
          <a:p>
            <a:r>
              <a:rPr lang="en-US" altLang="ko-KR" dirty="0"/>
              <a:t>Critical section</a:t>
            </a:r>
          </a:p>
          <a:p>
            <a:pPr lvl="1"/>
            <a:r>
              <a:rPr lang="en-US" altLang="ko-KR" dirty="0"/>
              <a:t>A piece of code that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accesses a shared variable </a:t>
            </a:r>
            <a:r>
              <a:rPr lang="en-US" altLang="ko-KR" dirty="0"/>
              <a:t>and must not be concurrently executed by more than one thread.</a:t>
            </a:r>
          </a:p>
          <a:p>
            <a:pPr lvl="1"/>
            <a:r>
              <a:rPr lang="en-US" altLang="ko-KR" dirty="0"/>
              <a:t>Multiple threads executing critical section can result in a race condition.</a:t>
            </a:r>
          </a:p>
          <a:p>
            <a:pPr lvl="1"/>
            <a:r>
              <a:rPr lang="en-US" altLang="ko-KR" dirty="0"/>
              <a:t>Need to support </a:t>
            </a:r>
            <a:r>
              <a:rPr lang="en-US" altLang="ko-KR" b="1" dirty="0"/>
              <a:t>atomicity</a:t>
            </a:r>
            <a:r>
              <a:rPr lang="en-US" altLang="ko-KR" dirty="0"/>
              <a:t> for critical sections (</a:t>
            </a:r>
            <a:r>
              <a:rPr lang="en-US" altLang="ko-KR" b="1" dirty="0"/>
              <a:t>mutual exclusion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few terminologies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7524328" y="5929535"/>
            <a:ext cx="399468" cy="235769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951365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wish for atomicity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1252786"/>
          </a:xfrm>
        </p:spPr>
        <p:txBody>
          <a:bodyPr/>
          <a:lstStyle/>
          <a:p>
            <a:r>
              <a:rPr lang="en-US" altLang="ko-KR" dirty="0"/>
              <a:t>Ideal approach; make the increment as a single assembly instruction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9F6586D-F743-AF49-8561-54F87E004AE2}"/>
              </a:ext>
            </a:extLst>
          </p:cNvPr>
          <p:cNvSpPr txBox="1"/>
          <p:nvPr/>
        </p:nvSpPr>
        <p:spPr>
          <a:xfrm>
            <a:off x="2555776" y="1794302"/>
            <a:ext cx="3672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memory-add 0x8049alc, $0x1</a:t>
            </a:r>
            <a:endParaRPr lang="ko-KR" altLang="en-US" sz="16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xmlns="" id="{A63A66FA-6BCD-484D-9FE1-8E7036BB1A16}"/>
              </a:ext>
            </a:extLst>
          </p:cNvPr>
          <p:cNvSpPr txBox="1">
            <a:spLocks/>
          </p:cNvSpPr>
          <p:nvPr/>
        </p:nvSpPr>
        <p:spPr bwMode="auto">
          <a:xfrm>
            <a:off x="231014" y="2364246"/>
            <a:ext cx="8786812" cy="1252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742950" indent="-28575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algn="l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In general, we do not have such instruction. Instead, we use lock.</a:t>
            </a:r>
          </a:p>
          <a:p>
            <a:r>
              <a:rPr lang="en-US" altLang="ko-KR" dirty="0"/>
              <a:t>Ensure that any such critical section executes as if it were a single atomic instruction (</a:t>
            </a:r>
            <a:r>
              <a:rPr lang="en-US" altLang="ko-KR" b="1" dirty="0"/>
              <a:t>execute a series of instructions atomically</a:t>
            </a:r>
            <a:r>
              <a:rPr lang="en-US" altLang="ko-KR" dirty="0"/>
              <a:t>).</a:t>
            </a:r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29CFAD0-7B22-4C47-992E-2DA1448E4E0E}"/>
              </a:ext>
            </a:extLst>
          </p:cNvPr>
          <p:cNvSpPr txBox="1"/>
          <p:nvPr/>
        </p:nvSpPr>
        <p:spPr>
          <a:xfrm>
            <a:off x="2123728" y="4635713"/>
            <a:ext cx="367240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1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lock_t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2    . . .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3    lock(&amp;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4    balance = balance + </a:t>
            </a:r>
            <a:r>
              <a:rPr lang="en-US" altLang="ko-KR" sz="1400" dirty="0">
                <a:solidFill>
                  <a:srgbClr val="FF0000"/>
                </a:solidFill>
                <a:latin typeface="Courier" pitchFamily="49" charset="0"/>
                <a:ea typeface="맑은 고딕" pitchFamily="50" charset="-127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5    unlock(&amp;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mutex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);</a:t>
            </a:r>
            <a:endParaRPr lang="ko-KR" altLang="en-US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C2CB867-5177-4C4D-BD63-71825C6D4E52}"/>
              </a:ext>
            </a:extLst>
          </p:cNvPr>
          <p:cNvSpPr txBox="1"/>
          <p:nvPr/>
        </p:nvSpPr>
        <p:spPr>
          <a:xfrm>
            <a:off x="6084168" y="5213921"/>
            <a:ext cx="1548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Critical section</a:t>
            </a:r>
            <a:endParaRPr lang="ko-KR" altLang="en-US" sz="16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xmlns="" id="{08E72B6D-05FD-8D47-8B2B-7618EFEF92FE}"/>
              </a:ext>
            </a:extLst>
          </p:cNvPr>
          <p:cNvSpPr/>
          <p:nvPr/>
        </p:nvSpPr>
        <p:spPr>
          <a:xfrm>
            <a:off x="2717722" y="5265313"/>
            <a:ext cx="2808312" cy="23576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xmlns="" id="{DCDF0A8D-AEB0-4740-A8D7-1457AB128FBD}"/>
              </a:ext>
            </a:extLst>
          </p:cNvPr>
          <p:cNvCxnSpPr>
            <a:stCxn id="11" idx="3"/>
          </p:cNvCxnSpPr>
          <p:nvPr/>
        </p:nvCxnSpPr>
        <p:spPr>
          <a:xfrm flipV="1">
            <a:off x="5526034" y="5383197"/>
            <a:ext cx="504056" cy="1"/>
          </a:xfrm>
          <a:prstGeom prst="straightConnector1">
            <a:avLst/>
          </a:prstGeom>
          <a:ln w="1905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65042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109964</TotalTime>
  <Words>944</Words>
  <Application>Microsoft Macintosh PowerPoint</Application>
  <PresentationFormat>On-screen Show (4:3)</PresentationFormat>
  <Paragraphs>239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Adobe Arabic</vt:lpstr>
      <vt:lpstr>Adobe 고딕 Std B</vt:lpstr>
      <vt:lpstr>Courier</vt:lpstr>
      <vt:lpstr>Courier New</vt:lpstr>
      <vt:lpstr>Helvetica</vt:lpstr>
      <vt:lpstr>HY견고딕</vt:lpstr>
      <vt:lpstr>Wingdings</vt:lpstr>
      <vt:lpstr>굴림</vt:lpstr>
      <vt:lpstr>맑은 고딕</vt:lpstr>
      <vt:lpstr>Arial</vt:lpstr>
      <vt:lpstr>양식_공청회_발표자료-총괄-양식</vt:lpstr>
      <vt:lpstr>Operating Systems </vt:lpstr>
      <vt:lpstr>PowerPoint Presentation</vt:lpstr>
      <vt:lpstr>Thread</vt:lpstr>
      <vt:lpstr>Context switch between threads</vt:lpstr>
      <vt:lpstr>The stack of the relevant thread</vt:lpstr>
      <vt:lpstr>Why Use Threads?</vt:lpstr>
      <vt:lpstr>An Example: Thread Creation</vt:lpstr>
      <vt:lpstr>Thread Trace (1)</vt:lpstr>
      <vt:lpstr>Thread Trace (2)</vt:lpstr>
      <vt:lpstr>Thread Trace (3)</vt:lpstr>
      <vt:lpstr>Race condition</vt:lpstr>
      <vt:lpstr>Race condition</vt:lpstr>
      <vt:lpstr>A few terminologies</vt:lpstr>
      <vt:lpstr>The wish for atomicity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4149</cp:revision>
  <cp:lastPrinted>2019-09-09T02:10:38Z</cp:lastPrinted>
  <dcterms:created xsi:type="dcterms:W3CDTF">2011-05-01T06:09:10Z</dcterms:created>
  <dcterms:modified xsi:type="dcterms:W3CDTF">2020-04-26T11:17:20Z</dcterms:modified>
  <cp:category/>
</cp:coreProperties>
</file>
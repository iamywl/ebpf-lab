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7"/>
  </p:notesMasterIdLst>
  <p:sldIdLst>
    <p:sldId id="2877" r:id="rId2"/>
    <p:sldId id="2673" r:id="rId3"/>
    <p:sldId id="2711" r:id="rId4"/>
    <p:sldId id="2840" r:id="rId5"/>
    <p:sldId id="2841" r:id="rId6"/>
    <p:sldId id="2961" r:id="rId7"/>
    <p:sldId id="2713" r:id="rId8"/>
    <p:sldId id="2715" r:id="rId9"/>
    <p:sldId id="2716" r:id="rId10"/>
    <p:sldId id="2717" r:id="rId11"/>
    <p:sldId id="2718" r:id="rId12"/>
    <p:sldId id="2719" r:id="rId13"/>
    <p:sldId id="2842" r:id="rId14"/>
    <p:sldId id="2843" r:id="rId15"/>
    <p:sldId id="2962" r:id="rId16"/>
    <p:sldId id="2721" r:id="rId17"/>
    <p:sldId id="2957" r:id="rId18"/>
    <p:sldId id="2846" r:id="rId19"/>
    <p:sldId id="2963" r:id="rId20"/>
    <p:sldId id="2847" r:id="rId21"/>
    <p:sldId id="2958" r:id="rId22"/>
    <p:sldId id="2848" r:id="rId23"/>
    <p:sldId id="2964" r:id="rId24"/>
    <p:sldId id="2849" r:id="rId25"/>
    <p:sldId id="2960" r:id="rId26"/>
    <p:sldId id="2723" r:id="rId27"/>
    <p:sldId id="2965" r:id="rId28"/>
    <p:sldId id="2850" r:id="rId29"/>
    <p:sldId id="2851" r:id="rId30"/>
    <p:sldId id="2725" r:id="rId31"/>
    <p:sldId id="2852" r:id="rId32"/>
    <p:sldId id="2853" r:id="rId33"/>
    <p:sldId id="2854" r:id="rId34"/>
    <p:sldId id="2959" r:id="rId35"/>
    <p:sldId id="2855" r:id="rId3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31" autoAdjust="0"/>
    <p:restoredTop sz="92011" autoAdjust="0"/>
  </p:normalViewPr>
  <p:slideViewPr>
    <p:cSldViewPr>
      <p:cViewPr varScale="1">
        <p:scale>
          <a:sx n="111" d="100"/>
          <a:sy n="111" d="100"/>
        </p:scale>
        <p:origin x="216" y="3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2020. 5. 19.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2020. 5. 19.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31. Semaphore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882306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A definition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An object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with an integer value</a:t>
            </a:r>
          </a:p>
          <a:p>
            <a:pPr lvl="1"/>
            <a:r>
              <a:rPr lang="en-US" altLang="ko-KR" dirty="0"/>
              <a:t>We can manipulate with two routines;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sem_wait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sem_post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Initialization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Declare a semaphore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s </a:t>
            </a:r>
            <a:r>
              <a:rPr lang="en-US" altLang="ko-KR" dirty="0"/>
              <a:t>and initialize it to the value 1</a:t>
            </a:r>
          </a:p>
          <a:p>
            <a:pPr lvl="2"/>
            <a:r>
              <a:rPr lang="en-US" altLang="ko-KR" dirty="0"/>
              <a:t>The second argument, 0, indicates that the semaphore is </a:t>
            </a:r>
            <a:r>
              <a:rPr lang="en-US" altLang="ko-KR" u="sng" dirty="0"/>
              <a:t>shared</a:t>
            </a:r>
            <a:r>
              <a:rPr lang="en-US" altLang="ko-KR" dirty="0"/>
              <a:t> between </a:t>
            </a:r>
            <a:r>
              <a:rPr lang="en-US" altLang="ko-KR" i="1" dirty="0"/>
              <a:t>threads in the same process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600" y="2453987"/>
            <a:ext cx="72008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#include &lt;semaphore.h&gt;</a:t>
            </a:r>
          </a:p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sem_t s;</a:t>
            </a:r>
          </a:p>
          <a:p>
            <a:pPr marL="342900" indent="-342900">
              <a:buFontTx/>
              <a:buAutoNum type="arabicPlain"/>
            </a:pP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sem_init(&amp;s, </a:t>
            </a:r>
            <a:r>
              <a:rPr lang="pt-BR" altLang="ko-KR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ko-KR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pt-BR" altLang="ko-KR" sz="16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pt-BR" altLang="ko-KR" sz="16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s to the value 1</a:t>
            </a:r>
            <a:endParaRPr lang="en-US" altLang="ko-KR" sz="16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5512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Interact with semaphore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If the value of the semaphore was </a:t>
            </a:r>
            <a:r>
              <a:rPr lang="en-US" altLang="ko-KR" i="1" dirty="0"/>
              <a:t>one</a:t>
            </a:r>
            <a:r>
              <a:rPr lang="en-US" altLang="ko-KR" dirty="0"/>
              <a:t> or </a:t>
            </a:r>
            <a:r>
              <a:rPr lang="en-US" altLang="ko-KR" i="1" dirty="0"/>
              <a:t>higher</a:t>
            </a:r>
            <a:r>
              <a:rPr lang="en-US" altLang="ko-KR" dirty="0"/>
              <a:t> when called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, </a:t>
            </a:r>
            <a:r>
              <a:rPr lang="en-US" altLang="ko-KR" b="1" dirty="0"/>
              <a:t>return right away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will cause the caller to </a:t>
            </a:r>
            <a:r>
              <a:rPr lang="en-US" altLang="ko-KR" u="sng" dirty="0"/>
              <a:t>suspend execution</a:t>
            </a:r>
            <a:r>
              <a:rPr lang="en-US" altLang="ko-KR" dirty="0"/>
              <a:t> waiting for a subsequent post.</a:t>
            </a:r>
          </a:p>
          <a:p>
            <a:pPr lvl="1"/>
            <a:r>
              <a:rPr lang="en-US" altLang="ko-KR" dirty="0"/>
              <a:t>When negative, the value of the semaphore is equal to the number of waiting threads.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1580" y="1538789"/>
            <a:ext cx="759684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	decrement the value of semaphore s by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	wait if value of semaphore s is negative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} </a:t>
            </a:r>
          </a:p>
        </p:txBody>
      </p:sp>
    </p:spTree>
    <p:extLst>
      <p:ext uri="{BB962C8B-B14F-4D97-AF65-F5344CB8AC3E}">
        <p14:creationId xmlns:p14="http://schemas.microsoft.com/office/powerpoint/2010/main" val="3847876216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Semaphore: Interact with semaphore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Simply </a:t>
            </a:r>
            <a:r>
              <a:rPr lang="en-US" altLang="ko-KR" b="1" dirty="0"/>
              <a:t>increments</a:t>
            </a:r>
            <a:r>
              <a:rPr lang="en-US" altLang="ko-KR" dirty="0"/>
              <a:t> the value of the semaphore.</a:t>
            </a:r>
          </a:p>
          <a:p>
            <a:pPr lvl="1"/>
            <a:r>
              <a:rPr lang="en-US" altLang="ko-KR" dirty="0"/>
              <a:t>If there is a thread waiting to be woken, </a:t>
            </a:r>
            <a:r>
              <a:rPr lang="en-US" altLang="ko-KR" b="1" dirty="0"/>
              <a:t>wakes </a:t>
            </a:r>
            <a:r>
              <a:rPr lang="en-US" altLang="ko-KR" dirty="0"/>
              <a:t>one of them up.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1580" y="1538789"/>
            <a:ext cx="759684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	increment the value of semaphore s by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	if there are one or more threads waiting, wake one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358373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30C47-1035-964C-B285-4CEDD08F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0F60120-BBBF-8D48-9BE3-9C801A5D9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3" y="879475"/>
            <a:ext cx="7887312" cy="55022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78AF8-0188-D34A-9284-17FBBF4666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B2F4E-B16E-654C-B13E-71679B3B2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97533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Binary Semaphores (Locks)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should </a:t>
            </a:r>
            <a:r>
              <a:rPr lang="en-US" altLang="ko-KR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ko-KR" dirty="0"/>
              <a:t> be?</a:t>
            </a:r>
          </a:p>
          <a:p>
            <a:pPr lvl="1"/>
            <a:r>
              <a:rPr lang="en-US" altLang="ko-KR" dirty="0"/>
              <a:t>The initial value should be </a:t>
            </a:r>
            <a:r>
              <a:rPr lang="en-US" altLang="ko-KR" b="1" dirty="0"/>
              <a:t>1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572" y="1971997"/>
            <a:ext cx="788487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semaphore to X; what should X be?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//critical section here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(&amp;m);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aphicFrame>
        <p:nvGraphicFramePr>
          <p:cNvPr id="7" name="내용 개체 틀 11">
            <a:extLst>
              <a:ext uri="{FF2B5EF4-FFF2-40B4-BE49-F238E27FC236}">
                <a16:creationId xmlns:a16="http://schemas.microsoft.com/office/drawing/2014/main" id="{D36606B8-8423-654E-B155-124966F73F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3411506"/>
              </p:ext>
            </p:extLst>
          </p:nvPr>
        </p:nvGraphicFramePr>
        <p:xfrm>
          <a:off x="791799" y="3715591"/>
          <a:ext cx="7776864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of Semaphore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Thread 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Thread 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6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sema_wait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sect)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14894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Two Threads Using A Semaphore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64274"/>
              </p:ext>
            </p:extLst>
          </p:nvPr>
        </p:nvGraphicFramePr>
        <p:xfrm>
          <a:off x="755576" y="803488"/>
          <a:ext cx="7308813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  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Thread  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set: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begin)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Switch → T1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&lt; 0)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 → T0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sect: end)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wait(T1)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34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Switch → T1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crit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sect)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8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returns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364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Semaphores As Condition Variables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What should </a:t>
            </a:r>
            <a:r>
              <a:rPr lang="en-US" altLang="ko-KR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ko-KR" dirty="0"/>
              <a:t> be?</a:t>
            </a:r>
          </a:p>
          <a:p>
            <a:pPr lvl="2"/>
            <a:r>
              <a:rPr lang="en-US" altLang="ko-KR" dirty="0"/>
              <a:t>The value of semaphore should be set to is </a:t>
            </a:r>
            <a:r>
              <a:rPr lang="en-US" altLang="ko-KR" b="1" dirty="0"/>
              <a:t>0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5904656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child(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("child\n");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signal here: child is done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what should X be?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("parent: begin\n");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child,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wait here for child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("parent: end\n");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} 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7704" y="5085184"/>
            <a:ext cx="2755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Parent Waiting For Its Child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224" y="4365104"/>
            <a:ext cx="237626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parent: begin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child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parent: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6953" y="5085184"/>
            <a:ext cx="1929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execution result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295647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Parent Waiting For Child (Case 1)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parent call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 before the child has called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7" name="내용 개체 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5395240"/>
              </p:ext>
            </p:extLst>
          </p:nvPr>
        </p:nvGraphicFramePr>
        <p:xfrm>
          <a:off x="323528" y="1715616"/>
          <a:ext cx="849694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2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Parent 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Create(Child)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(Child exists; is runnable)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&lt; 0)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Switch→Child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child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-1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sleeping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5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wake(Parent)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Switch→Parent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32681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Trace: Parent Waiting For Child (Case 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child runs to completion before the parent call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7" name="내용 개체 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230009"/>
              </p:ext>
            </p:extLst>
          </p:nvPr>
        </p:nvGraphicFramePr>
        <p:xfrm>
          <a:off x="323528" y="1696184"/>
          <a:ext cx="8496944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Parent 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Create(Child)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(Child exists; is runnable)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</a:t>
                      </a:r>
                      <a:r>
                        <a:rPr lang="en-US" altLang="ko-KR" sz="1400" i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switch→Child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child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increment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9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wake(nobody)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sem_post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returns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parent 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Interrupt; </a:t>
                      </a:r>
                      <a:r>
                        <a:rPr lang="en-US" altLang="ko-KR" sz="1400" i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Switch→Parent</a:t>
                      </a:r>
                      <a:endParaRPr lang="ko-KR" altLang="en-US" sz="1400" i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5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call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decrement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&lt;0)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Vijaya" panose="020B0604020202020204" pitchFamily="34" charset="0"/>
                          <a:ea typeface="맑은 고딕" panose="020B0503020000020004" pitchFamily="50" charset="-127"/>
                          <a:cs typeface="Vijaya" panose="020B0604020202020204" pitchFamily="34" charset="0"/>
                        </a:rPr>
                        <a:t>→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awake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sem_wait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retruns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Running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solidFill>
                          <a:schemeClr val="tx1"/>
                        </a:solidFill>
                        <a:latin typeface="Vijaya" panose="020B0604020202020204" pitchFamily="34" charset="0"/>
                        <a:ea typeface="맑은 고딕" panose="020B0503020000020004" pitchFamily="50" charset="-127"/>
                        <a:cs typeface="Vijaya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ourier New" panose="02070309020205020404" pitchFamily="49" charset="0"/>
                        </a:rPr>
                        <a:t>Ready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885924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Producer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put() </a:t>
            </a:r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Wait for a buffer to become </a:t>
            </a:r>
            <a:r>
              <a:rPr lang="en-US" altLang="ko-KR" i="1" dirty="0"/>
              <a:t>empty</a:t>
            </a:r>
            <a:r>
              <a:rPr lang="en-US" altLang="ko-KR" dirty="0"/>
              <a:t> in order to put data into it.</a:t>
            </a:r>
          </a:p>
          <a:p>
            <a:r>
              <a:rPr lang="en-US" altLang="ko-KR" b="1" dirty="0"/>
              <a:t>Consumer</a:t>
            </a:r>
            <a:r>
              <a:rPr lang="en-US" altLang="ko-KR" dirty="0"/>
              <a:t>: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get() </a:t>
            </a:r>
            <a:r>
              <a:rPr lang="en-US" altLang="ko-KR" dirty="0"/>
              <a:t>interface</a:t>
            </a:r>
          </a:p>
          <a:p>
            <a:pPr lvl="1"/>
            <a:r>
              <a:rPr lang="en-US" altLang="ko-KR" dirty="0"/>
              <a:t>Wait for a buffer to become </a:t>
            </a:r>
            <a:r>
              <a:rPr lang="en-US" altLang="ko-KR" i="1" dirty="0"/>
              <a:t>filled</a:t>
            </a:r>
            <a:r>
              <a:rPr lang="en-US" altLang="ko-KR" dirty="0"/>
              <a:t> before using it.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3578" y="3128769"/>
            <a:ext cx="7596844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buffer[MAX];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fill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put(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buffer[fill] = value;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line f1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fill = (fill +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MAX;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f2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get()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buffer[use];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g1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	use = (use +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MAX;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g2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}</a:t>
            </a:r>
          </a:p>
        </p:txBody>
      </p:sp>
    </p:spTree>
    <p:extLst>
      <p:ext uri="{BB962C8B-B14F-4D97-AF65-F5344CB8AC3E}">
        <p14:creationId xmlns:p14="http://schemas.microsoft.com/office/powerpoint/2010/main" val="1617900492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9572" y="980728"/>
            <a:ext cx="7704856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 	} 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7705" y="5833591"/>
            <a:ext cx="5328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First Attempt: Adding the Full and Empty Conditions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966709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Producer/Consumer (Bounded-Buffer)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Imagine that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ko-KR" dirty="0"/>
              <a:t> is greater than 1 .</a:t>
            </a:r>
          </a:p>
          <a:p>
            <a:pPr lvl="2"/>
            <a:r>
              <a:rPr lang="en-US" altLang="ko-KR" dirty="0"/>
              <a:t>If there are multiple producers,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race condition </a:t>
            </a:r>
            <a:r>
              <a:rPr lang="en-US" altLang="ko-KR" dirty="0"/>
              <a:t>can happen at line </a:t>
            </a:r>
            <a:r>
              <a:rPr lang="en-US" altLang="ko-KR" i="1" dirty="0"/>
              <a:t>f1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It means that the old data there is overwritten.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We’ve forgotten here is </a:t>
            </a:r>
            <a:r>
              <a:rPr lang="en-US" altLang="ko-KR" b="1" dirty="0"/>
              <a:t>mutual exclusion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The filling of a buffer and incrementing of the index into the buffer is a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critical section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9572" y="1172580"/>
            <a:ext cx="770485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altLang="ko-KR" sz="12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MAX); 	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MAX buffers are empty to begin with…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… and 0 are full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 …</a:t>
            </a:r>
          </a:p>
          <a:p>
            <a:pPr marL="228600" indent="-228600">
              <a:buFontTx/>
              <a:buAutoNum type="arabicPlain" startAt="21"/>
            </a:pPr>
            <a:r>
              <a:rPr lang="en-US" altLang="ko-KR" sz="1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3688" y="2401143"/>
            <a:ext cx="5904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First Attempt: Adding the Full and Empty Conditions (Cont.)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242410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A16C5-3C8A-6746-B5D5-1DB28389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9C57B5A-10A7-9049-AF7F-9D6198FDD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369783"/>
            <a:ext cx="8786812" cy="452165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5E722-E10F-3D48-A1EE-01801372AE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543B7-155A-D04A-9963-16A7530D3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17458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1525309"/>
            <a:ext cx="7488832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p0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p4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1800" y="5733256"/>
            <a:ext cx="3425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(Incorrectly)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1618743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1526468"/>
            <a:ext cx="7488832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c0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 </a:t>
            </a:r>
          </a:p>
          <a:p>
            <a:pPr marL="342900" indent="-342900">
              <a:buAutoNum type="arabicPlain" startAt="21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int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c4 (NEW LINE)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("%d\n",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  }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1800" y="5733256"/>
            <a:ext cx="3425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(Incorrectly)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5590405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Adding Mutual Exclusion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Imagine two thread: one producer and one consumer.</a:t>
            </a:r>
          </a:p>
          <a:p>
            <a:pPr lvl="2"/>
            <a:r>
              <a:rPr lang="en-US" altLang="ko-KR" dirty="0"/>
              <a:t>The consumer </a:t>
            </a:r>
            <a:r>
              <a:rPr lang="en-US" altLang="ko-KR" b="1" dirty="0"/>
              <a:t>acquire</a:t>
            </a:r>
            <a:r>
              <a:rPr lang="en-US" altLang="ko-KR" dirty="0"/>
              <a:t> the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dirty="0"/>
              <a:t> (line c0).</a:t>
            </a:r>
          </a:p>
          <a:p>
            <a:pPr lvl="2"/>
            <a:r>
              <a:rPr lang="en-US" altLang="ko-KR" dirty="0"/>
              <a:t>The consumer </a:t>
            </a:r>
            <a:r>
              <a:rPr lang="en-US" altLang="ko-KR" b="1" dirty="0"/>
              <a:t>calls</a:t>
            </a:r>
            <a:r>
              <a:rPr lang="en-US" altLang="ko-KR" dirty="0"/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on the full semaphore (line c1).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consumer is </a:t>
            </a:r>
            <a:r>
              <a:rPr lang="en-US" altLang="ko-KR" b="1" dirty="0">
                <a:sym typeface="Wingdings" panose="05000000000000000000" pitchFamily="2" charset="2"/>
              </a:rPr>
              <a:t>blocked</a:t>
            </a:r>
            <a:r>
              <a:rPr lang="en-US" altLang="ko-KR" dirty="0">
                <a:sym typeface="Wingdings" panose="05000000000000000000" pitchFamily="2" charset="2"/>
              </a:rPr>
              <a:t> and </a:t>
            </a:r>
            <a:r>
              <a:rPr lang="en-US" altLang="ko-KR" b="1" dirty="0">
                <a:sym typeface="Wingdings" panose="05000000000000000000" pitchFamily="2" charset="2"/>
              </a:rPr>
              <a:t>yield</a:t>
            </a:r>
            <a:r>
              <a:rPr lang="en-US" altLang="ko-KR" dirty="0">
                <a:sym typeface="Wingdings" panose="05000000000000000000" pitchFamily="2" charset="2"/>
              </a:rPr>
              <a:t> the CPU.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The consumer </a:t>
            </a:r>
            <a:r>
              <a:rPr lang="en-US" altLang="ko-KR" u="sng" dirty="0">
                <a:sym typeface="Wingdings" panose="05000000000000000000" pitchFamily="2" charset="2"/>
              </a:rPr>
              <a:t>still holds the </a:t>
            </a:r>
            <a:r>
              <a:rPr lang="en-US" altLang="ko-KR" u="sng" dirty="0" err="1">
                <a:sym typeface="Wingdings" panose="05000000000000000000" pitchFamily="2" charset="2"/>
              </a:rPr>
              <a:t>mutex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producer </a:t>
            </a:r>
            <a:r>
              <a:rPr lang="en-US" altLang="ko-KR" b="1" dirty="0">
                <a:sym typeface="Wingdings" panose="05000000000000000000" pitchFamily="2" charset="2"/>
              </a:rPr>
              <a:t>calls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sem_wait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</a:t>
            </a:r>
            <a:r>
              <a:rPr lang="en-US" altLang="ko-KR" dirty="0">
                <a:sym typeface="Wingdings" panose="05000000000000000000" pitchFamily="2" charset="2"/>
              </a:rPr>
              <a:t> on the binary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mutex</a:t>
            </a:r>
            <a:r>
              <a:rPr lang="en-US" altLang="ko-KR" dirty="0">
                <a:sym typeface="Wingdings" panose="05000000000000000000" pitchFamily="2" charset="2"/>
              </a:rPr>
              <a:t> semaphore (line p0).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The producer is now </a:t>
            </a:r>
            <a:r>
              <a:rPr lang="en-US" altLang="ko-KR" b="1" dirty="0">
                <a:sym typeface="Wingdings" panose="05000000000000000000" pitchFamily="2" charset="2"/>
              </a:rPr>
              <a:t>stuck</a:t>
            </a:r>
            <a:r>
              <a:rPr lang="en-US" altLang="ko-KR" dirty="0">
                <a:sym typeface="Wingdings" panose="05000000000000000000" pitchFamily="2" charset="2"/>
              </a:rPr>
              <a:t> waiting too.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 classic deadlock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54070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79D2D-E13D-B54A-96FE-E4F337F4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F6696-F30F-5C42-8DF7-6FBDF1F24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62F0E9-2337-B043-8AD4-A2B56F87D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03A4DD17-CF9D-9B45-9B28-AACB399E4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3" y="1209938"/>
            <a:ext cx="8786812" cy="4841349"/>
          </a:xfrm>
        </p:spPr>
      </p:pic>
    </p:spTree>
    <p:extLst>
      <p:ext uri="{BB962C8B-B14F-4D97-AF65-F5344CB8AC3E}">
        <p14:creationId xmlns:p14="http://schemas.microsoft.com/office/powerpoint/2010/main" val="1685806533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Working Solution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8352928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empty;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full;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*producer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p1.5 (MOVED MUTEX HERE…)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   		put(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p2.5 (… AND HERE)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p3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	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}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824" y="6001543"/>
            <a:ext cx="328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759570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Working Solution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08720"/>
            <a:ext cx="8352928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 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*consumer(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 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  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(&amp;full);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c1.5 (MOVED MUTEX HERE…)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get(); 	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 	</a:t>
            </a:r>
            <a:r>
              <a:rPr lang="en-US" altLang="ko-KR" sz="1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c2.5 (… AND HERE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(&amp;empty);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line c3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(“%d\n”,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//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(&amp;empty,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MAX);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MAX buffers are empty to begin with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(&amp;full,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 and 0 are full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(&amp;mutex,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mutex=1 because it is a lock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// …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342900" indent="-342900">
              <a:buAutoNum type="arabicPlain" startAt="23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824" y="6001543"/>
            <a:ext cx="328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Adding Mutual Exclusion (Correctly)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43392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Reader-Writer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Imagine a number of concurrent list operations, including </a:t>
            </a:r>
            <a:r>
              <a:rPr lang="en-US" altLang="ko-KR" b="1" dirty="0"/>
              <a:t>inserts</a:t>
            </a:r>
            <a:r>
              <a:rPr lang="en-US" altLang="ko-KR" dirty="0"/>
              <a:t> and simple </a:t>
            </a:r>
            <a:r>
              <a:rPr lang="en-US" altLang="ko-KR" b="1" dirty="0"/>
              <a:t>lookups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insert:</a:t>
            </a:r>
          </a:p>
          <a:p>
            <a:pPr lvl="2"/>
            <a:r>
              <a:rPr lang="en-US" altLang="ko-KR" dirty="0"/>
              <a:t>Change the state of the list</a:t>
            </a:r>
          </a:p>
          <a:p>
            <a:pPr lvl="2"/>
            <a:r>
              <a:rPr lang="en-US" altLang="ko-KR" dirty="0"/>
              <a:t>A traditional </a:t>
            </a:r>
            <a:r>
              <a:rPr lang="en-US" altLang="ko-KR" u="sng" dirty="0"/>
              <a:t>critical section</a:t>
            </a:r>
            <a:r>
              <a:rPr lang="en-US" altLang="ko-KR" dirty="0"/>
              <a:t> makes sense.</a:t>
            </a:r>
          </a:p>
          <a:p>
            <a:pPr lvl="1"/>
            <a:r>
              <a:rPr lang="en-US" altLang="ko-KR" b="1" dirty="0"/>
              <a:t>lookup:</a:t>
            </a:r>
          </a:p>
          <a:p>
            <a:pPr lvl="2"/>
            <a:r>
              <a:rPr lang="en-US" altLang="ko-KR" dirty="0"/>
              <a:t>Simply </a:t>
            </a:r>
            <a:r>
              <a:rPr lang="en-US" altLang="ko-KR" i="1" dirty="0"/>
              <a:t>read</a:t>
            </a:r>
            <a:r>
              <a:rPr lang="en-US" altLang="ko-KR" dirty="0"/>
              <a:t> the data structure.</a:t>
            </a:r>
          </a:p>
          <a:p>
            <a:pPr lvl="2"/>
            <a:r>
              <a:rPr lang="en-US" altLang="ko-KR" dirty="0"/>
              <a:t>As long as we can guarantee that no insert is on-going, we can allow many lookups to proceed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concurrently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5229200"/>
            <a:ext cx="6696744" cy="64807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This special type of lock is known as a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reader-write lock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122576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6ACFF-97F0-A540-9C0B-AF3A7E37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3BB4A7-D63E-624A-98DC-C56EC42B2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492896"/>
            <a:ext cx="4933181" cy="257766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A771BB-7D3F-3A45-849C-E8622054B6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9BE42-1A8C-0543-B528-B1EB8E4C5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188474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Only </a:t>
            </a:r>
            <a:r>
              <a:rPr lang="en-US" altLang="ko-KR" b="1" dirty="0"/>
              <a:t>a single writer </a:t>
            </a:r>
            <a:r>
              <a:rPr lang="en-US" altLang="ko-KR" dirty="0"/>
              <a:t>can acquire the lock.</a:t>
            </a:r>
          </a:p>
          <a:p>
            <a:r>
              <a:rPr lang="en-US" altLang="ko-KR" dirty="0"/>
              <a:t>Once a reader has acquired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 read lock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b="1" dirty="0"/>
              <a:t>More readers </a:t>
            </a:r>
            <a:r>
              <a:rPr lang="en-US" altLang="ko-KR" dirty="0"/>
              <a:t>will be allowed to acquire the read lock too.</a:t>
            </a:r>
          </a:p>
          <a:p>
            <a:pPr lvl="1"/>
            <a:r>
              <a:rPr lang="en-US" altLang="ko-KR" dirty="0"/>
              <a:t>A writer will </a:t>
            </a:r>
            <a:r>
              <a:rPr lang="en-US" altLang="ko-KR" u="sng" dirty="0"/>
              <a:t>have to wait</a:t>
            </a:r>
            <a:r>
              <a:rPr lang="en-US" altLang="ko-KR" dirty="0"/>
              <a:t> until all readers are finished.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9532" y="3057341"/>
            <a:ext cx="842493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lock;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binary semaphore (basic lock)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used to allow ONE writer or MANY readers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readers; 	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count of readers reading in critical section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49D3A-D939-E64B-8D8D-A60258617BE9}"/>
              </a:ext>
            </a:extLst>
          </p:cNvPr>
          <p:cNvSpPr txBox="1"/>
          <p:nvPr/>
        </p:nvSpPr>
        <p:spPr>
          <a:xfrm>
            <a:off x="395251" y="4941168"/>
            <a:ext cx="842493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 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sem_init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4225788698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95B61-1BFC-6B44-9EB5-2F088A9FCC35}"/>
              </a:ext>
            </a:extLst>
          </p:cNvPr>
          <p:cNvSpPr txBox="1"/>
          <p:nvPr/>
        </p:nvSpPr>
        <p:spPr>
          <a:xfrm>
            <a:off x="340482" y="1512916"/>
            <a:ext cx="842493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rwlock_acquire_readlock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-&gt;readers++;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-&gt;readers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first reader acquires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11237-6A6F-3548-A8F1-F9079521EC48}"/>
              </a:ext>
            </a:extLst>
          </p:cNvPr>
          <p:cNvSpPr txBox="1"/>
          <p:nvPr/>
        </p:nvSpPr>
        <p:spPr>
          <a:xfrm>
            <a:off x="340482" y="3647846"/>
            <a:ext cx="8424936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rwlock_release_readlock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-&gt;readers--;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-&gt;readers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// last reader releases </a:t>
            </a:r>
            <a:r>
              <a:rPr lang="en-US" altLang="ko-KR" sz="1400" dirty="0" err="1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 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-&gt;lock);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581414321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 (Cont.)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9FE47-C6BB-C246-98E9-11A3787A7037}"/>
              </a:ext>
            </a:extLst>
          </p:cNvPr>
          <p:cNvSpPr txBox="1"/>
          <p:nvPr/>
        </p:nvSpPr>
        <p:spPr>
          <a:xfrm>
            <a:off x="214313" y="1779294"/>
            <a:ext cx="842493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rwlock_acquire_writelock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916CA-68CD-5149-9D5F-CD38A8894EE5}"/>
              </a:ext>
            </a:extLst>
          </p:cNvPr>
          <p:cNvSpPr txBox="1"/>
          <p:nvPr/>
        </p:nvSpPr>
        <p:spPr>
          <a:xfrm>
            <a:off x="216219" y="3395121"/>
            <a:ext cx="842493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rwlock_release_writelock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rwlock_t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writelock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083134844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D3214-8D15-564C-8AB0-252C648A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C4623-AEA3-B446-B1C9-E87077E007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4E0D8-DAC7-5B4D-81EB-0F4AA0D7B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E443FC-3A5B-9346-8489-86EBAF076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44" y="776554"/>
            <a:ext cx="8245549" cy="566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33246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Reader-Writer 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reader-writer locks have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fairness problem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It would be relatively easy for reader to </a:t>
            </a:r>
            <a:r>
              <a:rPr lang="en-US" altLang="ko-KR" b="1" dirty="0"/>
              <a:t>starve writer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How to </a:t>
            </a:r>
            <a:r>
              <a:rPr lang="en-US" altLang="ko-KR" u="sng" dirty="0"/>
              <a:t>prevent</a:t>
            </a:r>
            <a:r>
              <a:rPr lang="en-US" altLang="ko-KR" dirty="0"/>
              <a:t> more readers from entering the lock once a writer is waiting?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013121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Assume there are five “</a:t>
            </a:r>
            <a:r>
              <a:rPr lang="en-US" altLang="ko-KR" sz="1800" b="1" dirty="0"/>
              <a:t>philosophers</a:t>
            </a:r>
            <a:r>
              <a:rPr lang="en-US" altLang="ko-KR" sz="1800" dirty="0"/>
              <a:t>” sitting around a table.</a:t>
            </a:r>
          </a:p>
          <a:p>
            <a:pPr lvl="1"/>
            <a:r>
              <a:rPr lang="en-US" altLang="ko-KR" sz="1600" dirty="0"/>
              <a:t>Between each pair of philosophers is </a:t>
            </a:r>
            <a:r>
              <a:rPr lang="en-US" altLang="ko-KR" sz="1600" u="sng" dirty="0"/>
              <a:t>a single fork</a:t>
            </a:r>
            <a:r>
              <a:rPr lang="en-US" altLang="ko-KR" sz="1600" dirty="0"/>
              <a:t> (five total).</a:t>
            </a:r>
          </a:p>
          <a:p>
            <a:pPr lvl="1"/>
            <a:r>
              <a:rPr lang="en-US" altLang="ko-KR" sz="1600" dirty="0"/>
              <a:t>The philosophers each have times where they </a:t>
            </a:r>
            <a:r>
              <a:rPr lang="en-US" altLang="ko-KR" sz="1600" b="1" dirty="0"/>
              <a:t>think</a:t>
            </a:r>
            <a:r>
              <a:rPr lang="en-US" altLang="ko-KR" sz="1600" dirty="0"/>
              <a:t>, and don’t need any forks, and times where they </a:t>
            </a:r>
            <a:r>
              <a:rPr lang="en-US" altLang="ko-KR" sz="1600" b="1" dirty="0"/>
              <a:t>eat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/>
              <a:t>In order to </a:t>
            </a:r>
            <a:r>
              <a:rPr lang="en-US" altLang="ko-KR" sz="1600" i="1" dirty="0"/>
              <a:t>eat</a:t>
            </a:r>
            <a:r>
              <a:rPr lang="en-US" altLang="ko-KR" sz="1600" dirty="0"/>
              <a:t>, a philosopher needs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two forks</a:t>
            </a:r>
            <a:r>
              <a:rPr lang="en-US" altLang="ko-KR" sz="1600" dirty="0"/>
              <a:t>, both the one on their </a:t>
            </a:r>
            <a:r>
              <a:rPr lang="en-US" altLang="ko-KR" sz="1600" i="1" dirty="0"/>
              <a:t>left</a:t>
            </a:r>
            <a:r>
              <a:rPr lang="en-US" altLang="ko-KR" sz="1600" dirty="0"/>
              <a:t> and the one on their </a:t>
            </a:r>
            <a:r>
              <a:rPr lang="en-US" altLang="ko-KR" sz="1600" i="1" dirty="0"/>
              <a:t>right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b="1" dirty="0"/>
              <a:t>The contention for these forks.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6516216" y="3140968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96336" y="3501008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7812360" y="4077072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7452320" y="5585563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028384" y="5085184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32240" y="5877272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5652120" y="5589240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364088" y="5085184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5148064" y="4077072"/>
            <a:ext cx="792088" cy="792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587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P2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96136" y="3501008"/>
            <a:ext cx="432048" cy="43204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f2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59543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Key challenge</a:t>
            </a:r>
          </a:p>
          <a:p>
            <a:pPr lvl="1"/>
            <a:r>
              <a:rPr lang="en-US" altLang="ko-KR" dirty="0"/>
              <a:t>There is </a:t>
            </a:r>
            <a:r>
              <a:rPr lang="en-US" altLang="ko-KR" b="1" dirty="0"/>
              <a:t>no deadlock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No</a:t>
            </a:r>
            <a:r>
              <a:rPr lang="en-US" altLang="ko-KR" dirty="0"/>
              <a:t> philosopher </a:t>
            </a:r>
            <a:r>
              <a:rPr lang="en-US" altLang="ko-KR" b="1" dirty="0"/>
              <a:t>starves</a:t>
            </a:r>
            <a:r>
              <a:rPr lang="en-US" altLang="ko-KR" dirty="0"/>
              <a:t> and never gets to eat.</a:t>
            </a:r>
          </a:p>
          <a:p>
            <a:pPr lvl="1"/>
            <a:r>
              <a:rPr lang="en-US" altLang="ko-KR" b="1" dirty="0"/>
              <a:t>Concurrency</a:t>
            </a:r>
            <a:r>
              <a:rPr lang="en-US" altLang="ko-KR" dirty="0"/>
              <a:t> is high.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Philosopher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/>
              <a:t> wishes to refer to the for on their left </a:t>
            </a:r>
            <a:r>
              <a:rPr lang="en-US" altLang="ko-KR" dirty="0">
                <a:sym typeface="Wingdings" panose="05000000000000000000" pitchFamily="2" charset="2"/>
              </a:rPr>
              <a:t> call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left(p)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Philosopher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dirty="0"/>
              <a:t> wishes to refer to the for on their right </a:t>
            </a:r>
            <a:r>
              <a:rPr lang="en-US" altLang="ko-KR" dirty="0">
                <a:sym typeface="Wingdings" panose="05000000000000000000" pitchFamily="2" charset="2"/>
              </a:rPr>
              <a:t> call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right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6674" y="2960944"/>
            <a:ext cx="3168352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3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while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think();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getforks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eat();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putforks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9083" y="2957942"/>
            <a:ext cx="3384376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3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helper functions</a:t>
            </a:r>
          </a:p>
          <a:p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left(</a:t>
            </a:r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p) { </a:t>
            </a: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 }</a:t>
            </a:r>
          </a:p>
          <a:p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right(</a:t>
            </a:r>
            <a:r>
              <a:rPr lang="en-US" altLang="ko-KR" sz="13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p) {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3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 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 +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%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2706" y="4253606"/>
            <a:ext cx="2836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Basic loop of each philosopher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9082" y="4273351"/>
            <a:ext cx="3449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Helper functions (Downey’s solutions)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07625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Dining Philosophers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need some </a:t>
            </a:r>
            <a:r>
              <a:rPr lang="en-US" altLang="ko-KR" b="1" dirty="0"/>
              <a:t>semaphore</a:t>
            </a:r>
            <a:r>
              <a:rPr lang="en-US" altLang="ko-KR" dirty="0"/>
              <a:t>, one for each fork: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forks[5]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Deadlock</a:t>
            </a:r>
            <a:r>
              <a:rPr lang="en-US" altLang="ko-KR" dirty="0"/>
              <a:t> occur!</a:t>
            </a:r>
          </a:p>
          <a:p>
            <a:pPr lvl="2"/>
            <a:r>
              <a:rPr lang="en-US" altLang="ko-KR" dirty="0"/>
              <a:t>If each philosopher happens to </a:t>
            </a:r>
            <a:r>
              <a:rPr lang="en-US" altLang="ko-KR" b="1" dirty="0"/>
              <a:t>grab the fork on their left</a:t>
            </a:r>
            <a:r>
              <a:rPr lang="en-US" altLang="ko-KR" dirty="0"/>
              <a:t> before any philosopher can grab the fork on their right.</a:t>
            </a:r>
          </a:p>
          <a:p>
            <a:pPr lvl="2"/>
            <a:r>
              <a:rPr lang="en-US" altLang="ko-KR" dirty="0"/>
              <a:t>Each will be stuck </a:t>
            </a:r>
            <a:r>
              <a:rPr lang="en-US" altLang="ko-KR" i="1" dirty="0"/>
              <a:t>holding one fork</a:t>
            </a:r>
            <a:r>
              <a:rPr lang="en-US" altLang="ko-KR" dirty="0"/>
              <a:t> and waiting for another, </a:t>
            </a:r>
            <a:r>
              <a:rPr lang="en-US" altLang="ko-KR" i="1" dirty="0"/>
              <a:t>forever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5736" y="1520788"/>
            <a:ext cx="4248472" cy="2052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9672" y="3573016"/>
            <a:ext cx="5875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getforks</a:t>
            </a:r>
            <a:r>
              <a:rPr lang="en-US" altLang="ko-KR" sz="1400" b="1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() 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and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putforks</a:t>
            </a:r>
            <a:r>
              <a:rPr lang="en-US" altLang="ko-KR" sz="1400" b="1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()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Routines (Broken Solution)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1424552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Solution: Breaking The Dependency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Change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how forks are acquired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Let’s assume that philosopher 4 acquire the forks in a </a:t>
            </a:r>
            <a:r>
              <a:rPr lang="en-US" altLang="ko-KR" i="1" dirty="0"/>
              <a:t>different order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There is no situation where each philosopher grabs one fork and is stuck waiting for another. </a:t>
            </a:r>
            <a:r>
              <a:rPr lang="en-US" altLang="ko-KR" b="1" dirty="0"/>
              <a:t>The cycle of waiting is broken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35696" y="2060848"/>
            <a:ext cx="5472608" cy="20162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getforks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==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}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(forks[left(p)]);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(forks[right(p)]);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}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sz="13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834246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r>
              <a:rPr lang="ko-KR" altLang="en-US" dirty="0"/>
              <a:t> </a:t>
            </a:r>
            <a:r>
              <a:rPr lang="en-US" altLang="ko-KR" dirty="0"/>
              <a:t>using condition variable: </a:t>
            </a:r>
            <a:r>
              <a:rPr lang="en-US" altLang="ko-KR" dirty="0" err="1"/>
              <a:t>Zemaphores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9558" y="1090328"/>
            <a:ext cx="6276322" cy="5043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pthread_cond_t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lock;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only one thread can call this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Zem_init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*s, </a:t>
            </a:r>
            <a:r>
              <a:rPr lang="en-US" altLang="ko-KR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value) {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 = value;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Cond_init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Mutex_init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1165900338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r>
              <a:rPr lang="ko-KR" altLang="en-US" dirty="0"/>
              <a:t> </a:t>
            </a:r>
            <a:r>
              <a:rPr lang="en-US" altLang="ko-KR" dirty="0"/>
              <a:t>using condition variable: </a:t>
            </a:r>
            <a:r>
              <a:rPr lang="en-US" altLang="ko-KR" dirty="0" err="1"/>
              <a:t>Zemaphores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4789" y="1916832"/>
            <a:ext cx="6276322" cy="2966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Zem_wait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while (s-&gt;value &lt;= 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Cond_wait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s-&gt;value--;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44863253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Implement Semaphores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ko-KR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Zemaphore</a:t>
            </a:r>
            <a:r>
              <a:rPr lang="en-US" altLang="ko-KR" dirty="0"/>
              <a:t> don’t maintain the invariant that </a:t>
            </a:r>
            <a:r>
              <a:rPr lang="en-US" altLang="ko-KR" i="1" dirty="0"/>
              <a:t>the value of </a:t>
            </a:r>
            <a:r>
              <a:rPr lang="en-US" altLang="ko-KR" dirty="0"/>
              <a:t>the semaphore.</a:t>
            </a:r>
          </a:p>
          <a:p>
            <a:pPr lvl="2"/>
            <a:r>
              <a:rPr lang="en-US" altLang="ko-KR" dirty="0"/>
              <a:t>The value </a:t>
            </a:r>
            <a:r>
              <a:rPr lang="en-US" altLang="ko-KR" u="sng" dirty="0"/>
              <a:t>never be lower than zero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This behavior is </a:t>
            </a:r>
            <a:r>
              <a:rPr lang="en-US" altLang="ko-KR" b="1" dirty="0"/>
              <a:t>easier</a:t>
            </a:r>
            <a:r>
              <a:rPr lang="en-US" altLang="ko-KR" dirty="0"/>
              <a:t> to implement and </a:t>
            </a:r>
            <a:r>
              <a:rPr lang="en-US" altLang="ko-KR" b="1" dirty="0"/>
              <a:t>matches</a:t>
            </a:r>
            <a:r>
              <a:rPr lang="en-US" altLang="ko-KR" dirty="0"/>
              <a:t> the current Linux implementation.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4789" y="1340768"/>
            <a:ext cx="6276322" cy="2550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AutoNum type="arabicPlain" startAt="22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Zem_post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Zem_t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*s) {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s-&gt;value++;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Cond_signal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(&amp;s-&gt;lock); </a:t>
            </a:r>
          </a:p>
          <a:p>
            <a:pPr marL="342900" indent="-342900">
              <a:lnSpc>
                <a:spcPct val="150000"/>
              </a:lnSpc>
              <a:buFontTx/>
              <a:buAutoNum type="arabicPlain" startAt="22"/>
            </a:pPr>
            <a:r>
              <a:rPr lang="en-US" altLang="ko-KR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ko-KR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056378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110128</TotalTime>
  <Words>3445</Words>
  <Application>Microsoft Macintosh PowerPoint</Application>
  <PresentationFormat>화면 슬라이드 쇼(4:3)</PresentationFormat>
  <Paragraphs>667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3" baseType="lpstr">
      <vt:lpstr>굴림</vt:lpstr>
      <vt:lpstr>맑은 고딕</vt:lpstr>
      <vt:lpstr>Adobe 고딕 Std B</vt:lpstr>
      <vt:lpstr>HY견고딕</vt:lpstr>
      <vt:lpstr>Courier New</vt:lpstr>
      <vt:lpstr>Vijaya</vt:lpstr>
      <vt:lpstr>Wingdings</vt:lpstr>
      <vt:lpstr>양식_공청회_발표자료-총괄-양식</vt:lpstr>
      <vt:lpstr>Operating Systems </vt:lpstr>
      <vt:lpstr>PowerPoint 프레젠테이션</vt:lpstr>
      <vt:lpstr>Semaphore: A definition</vt:lpstr>
      <vt:lpstr>Semaphore: Interact with semaphore</vt:lpstr>
      <vt:lpstr>Semaphore: Interact with semaphore (Cont.)</vt:lpstr>
      <vt:lpstr>PowerPoint 프레젠테이션</vt:lpstr>
      <vt:lpstr>Binary Semaphores (Locks)</vt:lpstr>
      <vt:lpstr>Thread Trace: Two Threads Using A Semaphore</vt:lpstr>
      <vt:lpstr>Semaphores As Condition Variables</vt:lpstr>
      <vt:lpstr>Thread Trace: Parent Waiting For Child (Case 1)</vt:lpstr>
      <vt:lpstr>Thread Trace: Parent Waiting For Child (Case 2)</vt:lpstr>
      <vt:lpstr>The Producer/Consumer (Bounded-Buffer) Problem</vt:lpstr>
      <vt:lpstr>The Producer/Consumer (Bounded-Buffer) Problem</vt:lpstr>
      <vt:lpstr>The Producer/Consumer (Bounded-Buffer) Problem</vt:lpstr>
      <vt:lpstr>PowerPoint 프레젠테이션</vt:lpstr>
      <vt:lpstr>A Solution: Adding Mutual Exclusion</vt:lpstr>
      <vt:lpstr>A Solution: Adding Mutual Exclusion</vt:lpstr>
      <vt:lpstr>A Solution: Adding Mutual Exclusion (Cont.)</vt:lpstr>
      <vt:lpstr>PowerPoint 프레젠테이션</vt:lpstr>
      <vt:lpstr>A Working Solution</vt:lpstr>
      <vt:lpstr>A Working Solution</vt:lpstr>
      <vt:lpstr>Reader-Writer Locks</vt:lpstr>
      <vt:lpstr>PowerPoint 프레젠테이션</vt:lpstr>
      <vt:lpstr>A Reader-Writer Locks</vt:lpstr>
      <vt:lpstr>A Reader-Writer Locks</vt:lpstr>
      <vt:lpstr>A Reader-Writer Locks (Cont.)</vt:lpstr>
      <vt:lpstr>PowerPoint 프레젠테이션</vt:lpstr>
      <vt:lpstr>A Reader-Writer Locks (Cont.)</vt:lpstr>
      <vt:lpstr>The Dining Philosophers</vt:lpstr>
      <vt:lpstr>The Dining Philosophers (Cont.)</vt:lpstr>
      <vt:lpstr>The Dining Philosophers (Cont.)</vt:lpstr>
      <vt:lpstr>A Solution: Breaking The Dependency</vt:lpstr>
      <vt:lpstr>Semaphore using condition variable: Zemaphores</vt:lpstr>
      <vt:lpstr>Semaphore using condition variable: Zemaphores</vt:lpstr>
      <vt:lpstr>How To Implement Semaphores (Cont.)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Youjip Won</cp:lastModifiedBy>
  <cp:revision>4150</cp:revision>
  <cp:lastPrinted>2019-09-09T02:10:38Z</cp:lastPrinted>
  <dcterms:created xsi:type="dcterms:W3CDTF">2011-05-01T06:09:10Z</dcterms:created>
  <dcterms:modified xsi:type="dcterms:W3CDTF">2020-05-19T09:00:33Z</dcterms:modified>
  <cp:category/>
</cp:coreProperties>
</file>
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  <p:sldMasterId id="2147483674" r:id="rId2"/>
  </p:sldMasterIdLst>
  <p:notesMasterIdLst>
    <p:notesMasterId r:id="rId20"/>
  </p:notesMasterIdLst>
  <p:sldIdLst>
    <p:sldId id="2877" r:id="rId3"/>
    <p:sldId id="2669" r:id="rId4"/>
    <p:sldId id="2184" r:id="rId5"/>
    <p:sldId id="2185" r:id="rId6"/>
    <p:sldId id="2186" r:id="rId7"/>
    <p:sldId id="2187" r:id="rId8"/>
    <p:sldId id="2188" r:id="rId9"/>
    <p:sldId id="2189" r:id="rId10"/>
    <p:sldId id="2191" r:id="rId11"/>
    <p:sldId id="2192" r:id="rId12"/>
    <p:sldId id="2193" r:id="rId13"/>
    <p:sldId id="2194" r:id="rId14"/>
    <p:sldId id="2195" r:id="rId15"/>
    <p:sldId id="2196" r:id="rId16"/>
    <p:sldId id="2197" r:id="rId17"/>
    <p:sldId id="2198" r:id="rId18"/>
    <p:sldId id="2199" r:id="rId19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98" autoAdjust="0"/>
    <p:restoredTop sz="91978" autoAdjust="0"/>
  </p:normalViewPr>
  <p:slideViewPr>
    <p:cSldViewPr>
      <p:cViewPr varScale="1">
        <p:scale>
          <a:sx n="185" d="100"/>
          <a:sy n="185" d="100"/>
        </p:scale>
        <p:origin x="192" y="3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2020. 4. 12.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r>
              <a:rPr lang="ko-KR" altLang="en-US" dirty="0" err="1"/>
              <a:t>말그대로</a:t>
            </a:r>
            <a:r>
              <a:rPr lang="ko-KR" altLang="en-US" dirty="0"/>
              <a:t> </a:t>
            </a:r>
            <a:r>
              <a:rPr lang="ko-KR" altLang="en-US" dirty="0" err="1"/>
              <a:t>파풀러한</a:t>
            </a:r>
            <a:r>
              <a:rPr lang="ko-KR" altLang="en-US" dirty="0"/>
              <a:t> 애들을 캐시해주는 거니까 그림이 </a:t>
            </a:r>
            <a:r>
              <a:rPr lang="ko-KR" altLang="en-US" dirty="0" err="1"/>
              <a:t>잘못됬음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623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7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r>
              <a:rPr lang="ko-KR" altLang="en-US" dirty="0"/>
              <a:t>현재 프로세스 </a:t>
            </a:r>
            <a:r>
              <a:rPr lang="en-US" altLang="ko-KR" dirty="0"/>
              <a:t>A,</a:t>
            </a:r>
            <a:r>
              <a:rPr lang="en-US" altLang="ko-KR" baseline="0" dirty="0"/>
              <a:t> B</a:t>
            </a:r>
            <a:r>
              <a:rPr lang="ko-KR" altLang="en-US" baseline="0" dirty="0"/>
              <a:t>의 주소공간을 가상공간으로 변경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11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559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r>
              <a:rPr lang="ko-KR" altLang="en-US" dirty="0"/>
              <a:t>현재 프로세스 </a:t>
            </a:r>
            <a:r>
              <a:rPr lang="en-US" altLang="ko-KR" dirty="0"/>
              <a:t>A,</a:t>
            </a:r>
            <a:r>
              <a:rPr lang="en-US" altLang="ko-KR" baseline="0" dirty="0"/>
              <a:t> B</a:t>
            </a:r>
            <a:r>
              <a:rPr lang="ko-KR" altLang="en-US" baseline="0" dirty="0"/>
              <a:t>의 주소공간을 가상공간으로 변경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12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559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r>
              <a:rPr lang="ko-KR" altLang="en-US" dirty="0"/>
              <a:t>현재 프로세스 </a:t>
            </a:r>
            <a:r>
              <a:rPr lang="en-US" altLang="ko-KR" dirty="0"/>
              <a:t>A,</a:t>
            </a:r>
            <a:r>
              <a:rPr lang="en-US" altLang="ko-KR" baseline="0" dirty="0"/>
              <a:t> B</a:t>
            </a:r>
            <a:r>
              <a:rPr lang="ko-KR" altLang="en-US" baseline="0" dirty="0"/>
              <a:t>의 주소공간을 가상공간으로 변경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13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559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16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09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80434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52461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00427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4313" y="6562725"/>
            <a:ext cx="1285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D8453-7B88-4217-BA7B-2CBC395807F6}" type="datetime1">
              <a:rPr kumimoji="1" lang="ko-KR" altLang="en-US" smtClean="0">
                <a:solidFill>
                  <a:srgbClr val="1F497D">
                    <a:lumMod val="50000"/>
                  </a:srgbClr>
                </a:solidFill>
              </a:rPr>
              <a:t>2020. 4. 12.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4313" y="6562725"/>
            <a:ext cx="1285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0D5837-ECAA-4E86-8C1A-561269BBD7EC}" type="datetime1">
              <a:rPr kumimoji="1" lang="ko-KR" altLang="en-US" smtClean="0">
                <a:solidFill>
                  <a:srgbClr val="1F497D">
                    <a:lumMod val="50000"/>
                  </a:srgbClr>
                </a:solidFill>
              </a:rPr>
              <a:t>2020. 4. 12.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30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19. Translation Lookaside Buffer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09099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Part of the chip’s memory-management unit(MMU).</a:t>
            </a:r>
          </a:p>
          <a:p>
            <a:r>
              <a:rPr lang="en-US" altLang="ko-KR" dirty="0"/>
              <a:t>A hardware cache of </a:t>
            </a:r>
            <a:r>
              <a:rPr lang="en-US" altLang="ko-KR" b="1" dirty="0"/>
              <a:t>popular</a:t>
            </a:r>
            <a:r>
              <a:rPr lang="en-US" altLang="ko-KR" dirty="0"/>
              <a:t> virtual-to-physical address translation.</a:t>
            </a:r>
          </a:p>
          <a:p>
            <a:pPr lvl="1"/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3126360" y="2716646"/>
            <a:ext cx="2286327" cy="2143629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MMU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867273" y="4014456"/>
            <a:ext cx="1080120" cy="724345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200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708340" y="391690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754531" y="398890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261411" y="3123466"/>
            <a:ext cx="2016224" cy="658203"/>
          </a:xfrm>
          <a:prstGeom prst="roundRect">
            <a:avLst>
              <a:gd name="adj" fmla="val 10966"/>
            </a:avLst>
          </a:prstGeom>
          <a:solidFill>
            <a:schemeClr val="accent3">
              <a:lumMod val="50000"/>
            </a:schemeClr>
          </a:solidFill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TLB</a:t>
            </a:r>
          </a:p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popular v to p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754531" y="431601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754531" y="465841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1" name="Straight Arrow Connector 20"/>
          <p:cNvCxnSpPr>
            <a:stCxn id="6" idx="0"/>
            <a:endCxn id="16" idx="2"/>
          </p:cNvCxnSpPr>
          <p:nvPr/>
        </p:nvCxnSpPr>
        <p:spPr>
          <a:xfrm flipV="1">
            <a:off x="1407333" y="3664005"/>
            <a:ext cx="0" cy="35045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0"/>
          <p:cNvCxnSpPr/>
          <p:nvPr/>
        </p:nvCxnSpPr>
        <p:spPr>
          <a:xfrm>
            <a:off x="5277635" y="3205678"/>
            <a:ext cx="1256510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35280" y="2814382"/>
            <a:ext cx="1800678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TLB Hit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393" y="5441108"/>
            <a:ext cx="496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Translation with MMU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5751" y="5573085"/>
            <a:ext cx="178274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754531" y="521455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89721" y="487600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795265" y="2794700"/>
            <a:ext cx="1224136" cy="86930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0665" y="2936965"/>
            <a:ext cx="933336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Logical </a:t>
            </a:r>
          </a:p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Address</a:t>
            </a:r>
          </a:p>
        </p:txBody>
      </p:sp>
      <p:cxnSp>
        <p:nvCxnSpPr>
          <p:cNvPr id="27" name="Straight Arrow Connector 20"/>
          <p:cNvCxnSpPr>
            <a:stCxn id="16" idx="3"/>
          </p:cNvCxnSpPr>
          <p:nvPr/>
        </p:nvCxnSpPr>
        <p:spPr>
          <a:xfrm flipV="1">
            <a:off x="2019401" y="3229351"/>
            <a:ext cx="1221368" cy="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141657" y="2652720"/>
            <a:ext cx="933336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</a:t>
            </a:r>
          </a:p>
          <a:p>
            <a:pPr algn="ctr"/>
            <a:r>
              <a:rPr lang="en-US" sz="1600" i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Lookup</a:t>
            </a:r>
          </a:p>
        </p:txBody>
      </p:sp>
      <p:sp>
        <p:nvSpPr>
          <p:cNvPr id="32" name="모서리가 둥근 직사각형 31"/>
          <p:cNvSpPr/>
          <p:nvPr/>
        </p:nvSpPr>
        <p:spPr>
          <a:xfrm>
            <a:off x="3281014" y="4080598"/>
            <a:ext cx="2016224" cy="658203"/>
          </a:xfrm>
          <a:prstGeom prst="roundRect">
            <a:avLst>
              <a:gd name="adj" fmla="val 10966"/>
            </a:avLst>
          </a:prstGeom>
          <a:solidFill>
            <a:schemeClr val="accent3">
              <a:lumMod val="50000"/>
            </a:schemeClr>
          </a:solidFill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Page Table</a:t>
            </a:r>
          </a:p>
          <a:p>
            <a:pPr algn="ctr"/>
            <a:r>
              <a:rPr lang="en-US" altLang="ko-KR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all v to p entries</a:t>
            </a:r>
          </a:p>
        </p:txBody>
      </p:sp>
      <p:cxnSp>
        <p:nvCxnSpPr>
          <p:cNvPr id="33" name="Straight Arrow Connector 20"/>
          <p:cNvCxnSpPr>
            <a:endCxn id="32" idx="0"/>
          </p:cNvCxnSpPr>
          <p:nvPr/>
        </p:nvCxnSpPr>
        <p:spPr>
          <a:xfrm>
            <a:off x="4289126" y="3788460"/>
            <a:ext cx="0" cy="29213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74432" y="3729634"/>
            <a:ext cx="20882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Miss </a:t>
            </a:r>
            <a:endParaRPr lang="en-US" sz="1600" i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623890" y="2771025"/>
            <a:ext cx="1224136" cy="86930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90458" y="2913289"/>
            <a:ext cx="933336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Physical</a:t>
            </a:r>
          </a:p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Address</a:t>
            </a:r>
          </a:p>
        </p:txBody>
      </p:sp>
      <p:cxnSp>
        <p:nvCxnSpPr>
          <p:cNvPr id="43" name="Straight Arrow Connector 20"/>
          <p:cNvCxnSpPr>
            <a:endCxn id="9" idx="0"/>
          </p:cNvCxnSpPr>
          <p:nvPr/>
        </p:nvCxnSpPr>
        <p:spPr>
          <a:xfrm flipH="1">
            <a:off x="7248400" y="3633733"/>
            <a:ext cx="2173" cy="28316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5297238" y="4216973"/>
            <a:ext cx="73285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6030089" y="3521740"/>
            <a:ext cx="0" cy="69523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20"/>
          <p:cNvCxnSpPr/>
          <p:nvPr/>
        </p:nvCxnSpPr>
        <p:spPr>
          <a:xfrm>
            <a:off x="6030089" y="3521740"/>
            <a:ext cx="504056" cy="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995372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Basic Algorithms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0967" y="980728"/>
            <a:ext cx="8263966" cy="341632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1: VPN = 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VPN_MASK ) &gt;&gt; SHIFT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2: (Success ,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TLB_Lookup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(VPN)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3:</a:t>
            </a:r>
            <a:r>
              <a:rPr lang="en-US" altLang="ko-KR" b="1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(Success == TRUE){ </a:t>
            </a:r>
            <a:r>
              <a:rPr lang="en-US" altLang="ko-KR" b="1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TLB Hit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4:</a:t>
            </a:r>
            <a:r>
              <a:rPr lang="en-US" altLang="ko-KR" b="1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</a:t>
            </a:r>
            <a:r>
              <a:rPr lang="en-US" altLang="ko-KR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CanAccess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TlbEntry.ProtectBit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== True ){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5:           offset =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OFFSET_MASK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6:          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TlbEntry.PFN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&lt;&lt; SHIFT) | Offset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7:          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8:       }</a:t>
            </a:r>
            <a:r>
              <a:rPr lang="en-US" altLang="ko-KR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(PROTECTION_ERROR)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000928" y="1916832"/>
            <a:ext cx="5400600" cy="0"/>
          </a:xfrm>
          <a:prstGeom prst="line">
            <a:avLst/>
          </a:prstGeom>
          <a:ln w="38100">
            <a:solidFill>
              <a:srgbClr val="FF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430836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Basic Algorithms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5197499"/>
            <a:ext cx="8786812" cy="1080120"/>
          </a:xfrm>
        </p:spPr>
        <p:txBody>
          <a:bodyPr/>
          <a:lstStyle/>
          <a:p>
            <a:pPr lvl="1"/>
            <a:r>
              <a:rPr lang="en-US" altLang="ko-KR" dirty="0"/>
              <a:t>(11-12 lines)  The hardware accesses the page table to find the translation.</a:t>
            </a:r>
          </a:p>
          <a:p>
            <a:pPr lvl="1"/>
            <a:r>
              <a:rPr lang="en-US" altLang="ko-KR" dirty="0"/>
              <a:t>(16 lines) updates the TLB with the translation.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39551" y="827675"/>
            <a:ext cx="8461573" cy="4247317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11:    }</a:t>
            </a:r>
            <a:r>
              <a:rPr lang="en-US" altLang="ko-KR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 </a:t>
            </a:r>
            <a:r>
              <a:rPr lang="en-US" altLang="ko-KR" b="1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//TLB Miss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12:       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PTBR + (VPN *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(PTE))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13:        PTE =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14:        </a:t>
            </a:r>
            <a:r>
              <a:rPr lang="en-US" altLang="ko-KR" b="1" dirty="0">
                <a:solidFill>
                  <a:srgbClr val="C0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PTE.Valid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False)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	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SEGFAULT) ;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15:        </a:t>
            </a:r>
            <a:r>
              <a:rPr lang="en-US" altLang="ko-KR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16:          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TLB_Insert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 VPN , PTE.PFN ,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PTE.ProtectBits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17:          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RetryInstruction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18:       }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19:   }</a:t>
            </a:r>
          </a:p>
        </p:txBody>
      </p:sp>
    </p:spTree>
    <p:extLst>
      <p:ext uri="{BB962C8B-B14F-4D97-AF65-F5344CB8AC3E}">
        <p14:creationId xmlns:p14="http://schemas.microsoft.com/office/powerpoint/2010/main" val="2948367635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214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</a:rPr>
              <a:t>How a TLB can improve its performance.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Accessing An Array</a:t>
            </a:r>
            <a:endParaRPr lang="ko-KR" altLang="en-US" dirty="0"/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1728181"/>
              </p:ext>
            </p:extLst>
          </p:nvPr>
        </p:nvGraphicFramePr>
        <p:xfrm>
          <a:off x="1115616" y="1620319"/>
          <a:ext cx="2448273" cy="459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4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470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47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470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2470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4144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             OFFSET</a:t>
                      </a:r>
                    </a:p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00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  04      08      12      16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00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04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b="1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05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a[0]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a[1]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a[2]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07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a[3]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a[4]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a[5]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a[6]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08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a[7]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a[8]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a[9]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09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10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12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14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15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923928" y="1733252"/>
            <a:ext cx="4824536" cy="1938992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0:	</a:t>
            </a:r>
            <a:r>
              <a:rPr lang="en-US" altLang="ko-KR" sz="2000" b="1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2000" b="1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sum = 0 ; 	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1:	</a:t>
            </a:r>
            <a:r>
              <a:rPr lang="en-US" altLang="ko-KR" sz="20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 </a:t>
            </a:r>
            <a:r>
              <a:rPr lang="en-US" altLang="ko-KR" sz="20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=0; </a:t>
            </a:r>
            <a:r>
              <a:rPr lang="en-US" altLang="ko-KR" sz="20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&lt;10; </a:t>
            </a:r>
            <a:r>
              <a:rPr lang="en-US" altLang="ko-KR" sz="20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++){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2:		sum+=a[</a:t>
            </a:r>
            <a:r>
              <a:rPr lang="en-US" altLang="ko-KR" sz="20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3:	}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4939528" y="5039983"/>
            <a:ext cx="2664296" cy="621678"/>
          </a:xfrm>
          <a:prstGeom prst="roundRect">
            <a:avLst/>
          </a:prstGeom>
          <a:noFill/>
          <a:ln w="1587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 misses and 7 hits. </a:t>
            </a:r>
          </a:p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Thus </a:t>
            </a:r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TLB hit rate 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is 70%.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4471476" y="4391911"/>
            <a:ext cx="3600400" cy="621678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The TLB improves performance</a:t>
            </a:r>
          </a:p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due to </a:t>
            </a: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spatial locality</a:t>
            </a:r>
          </a:p>
        </p:txBody>
      </p:sp>
    </p:spTree>
    <p:extLst>
      <p:ext uri="{BB962C8B-B14F-4D97-AF65-F5344CB8AC3E}">
        <p14:creationId xmlns:p14="http://schemas.microsoft.com/office/powerpoint/2010/main" val="3941650055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Locality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Temporal Locality</a:t>
            </a:r>
          </a:p>
          <a:p>
            <a:pPr lvl="1"/>
            <a:r>
              <a:rPr lang="en-US" altLang="ko-KR" dirty="0"/>
              <a:t>An instruction or data item that has been recently accessed will likely be re-accessed soon in the future.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Spatial Locality</a:t>
            </a:r>
            <a:endParaRPr lang="en-US" altLang="ko-KR" i="1" dirty="0"/>
          </a:p>
          <a:p>
            <a:pPr lvl="1"/>
            <a:r>
              <a:rPr lang="en-US" altLang="ko-KR" dirty="0"/>
              <a:t>If a program accesses memory at address </a:t>
            </a:r>
            <a:r>
              <a:rPr lang="en-US" altLang="ko-KR" dirty="0">
                <a:latin typeface="Courier" pitchFamily="49" charset="0"/>
              </a:rPr>
              <a:t>x</a:t>
            </a:r>
            <a:r>
              <a:rPr lang="en-US" altLang="ko-KR" dirty="0"/>
              <a:t>, it will likely soon access memory near </a:t>
            </a:r>
            <a:r>
              <a:rPr lang="en-US" altLang="ko-KR" dirty="0">
                <a:latin typeface="Courier" pitchFamily="49" charset="0"/>
              </a:rPr>
              <a:t>x.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0" name="아래쪽 화살표 29"/>
          <p:cNvSpPr/>
          <p:nvPr/>
        </p:nvSpPr>
        <p:spPr>
          <a:xfrm>
            <a:off x="5441486" y="2360372"/>
            <a:ext cx="131894" cy="29034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2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02325" y="1982322"/>
            <a:ext cx="2179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sz="1400" baseline="30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access is page1.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1400" baseline="30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nd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access is also page1.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56176" y="3396078"/>
            <a:ext cx="154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Virtual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5326813" y="4488059"/>
            <a:ext cx="3112132" cy="1605237"/>
            <a:chOff x="1619672" y="2074344"/>
            <a:chExt cx="5097229" cy="2388716"/>
          </a:xfrm>
        </p:grpSpPr>
        <p:sp>
          <p:nvSpPr>
            <p:cNvPr id="35" name="직사각형 34"/>
            <p:cNvSpPr/>
            <p:nvPr/>
          </p:nvSpPr>
          <p:spPr>
            <a:xfrm rot="5400000">
              <a:off x="3527884" y="944724"/>
              <a:ext cx="1080120" cy="48965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 rot="5400000">
              <a:off x="1452669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 rot="5400000">
              <a:off x="1939610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 rot="5400000">
              <a:off x="2460781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 rot="5400000">
              <a:off x="2964837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 rot="5400000">
              <a:off x="3468893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 rot="5400000">
              <a:off x="5598114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아래쪽 화살표 41"/>
            <p:cNvSpPr/>
            <p:nvPr/>
          </p:nvSpPr>
          <p:spPr>
            <a:xfrm>
              <a:off x="1823097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669445" y="2074344"/>
              <a:ext cx="4047456" cy="7785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lang="en-US" altLang="ko-KR" sz="1400" baseline="30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st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 access is page1.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en-US" altLang="ko-KR" sz="1400" baseline="30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nd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 access is near by 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page1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978050" y="4005064"/>
              <a:ext cx="2524251" cy="45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Virtual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44007" y="3140968"/>
              <a:ext cx="1058778" cy="41219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48" name="아래쪽 화살표 47"/>
          <p:cNvSpPr/>
          <p:nvPr/>
        </p:nvSpPr>
        <p:spPr>
          <a:xfrm>
            <a:off x="5752967" y="4758661"/>
            <a:ext cx="131894" cy="290340"/>
          </a:xfrm>
          <a:prstGeom prst="downArrow">
            <a:avLst/>
          </a:prstGeom>
          <a:solidFill>
            <a:srgbClr val="0070C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2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5345862" y="2621838"/>
            <a:ext cx="2980074" cy="725850"/>
            <a:chOff x="5345862" y="2621838"/>
            <a:chExt cx="2980074" cy="725850"/>
          </a:xfrm>
        </p:grpSpPr>
        <p:sp>
          <p:nvSpPr>
            <p:cNvPr id="19" name="직사각형 18"/>
            <p:cNvSpPr/>
            <p:nvPr/>
          </p:nvSpPr>
          <p:spPr>
            <a:xfrm rot="5400000">
              <a:off x="6472974" y="1494726"/>
              <a:ext cx="725850" cy="298007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 rot="5400000">
              <a:off x="5185449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 rot="5400000">
              <a:off x="5494608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 rot="5400000">
              <a:off x="5803767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 rot="5400000">
              <a:off x="6112926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 rot="5400000">
              <a:off x="6422085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 rot="5400000">
              <a:off x="7833941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52320" y="2815397"/>
              <a:ext cx="64644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sp>
          <p:nvSpPr>
            <p:cNvPr id="46" name="직사각형 45"/>
            <p:cNvSpPr/>
            <p:nvPr/>
          </p:nvSpPr>
          <p:spPr>
            <a:xfrm rot="5400000">
              <a:off x="6731244" y="2850840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 rot="5400000">
              <a:off x="7040401" y="2850840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7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9104718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Who Handles The TLB Miss?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Hardware </a:t>
            </a:r>
            <a:r>
              <a:rPr lang="en-US" altLang="ko-KR" dirty="0" smtClean="0"/>
              <a:t>handles </a:t>
            </a:r>
            <a:r>
              <a:rPr lang="en-US" altLang="ko-KR" dirty="0"/>
              <a:t>the TLB miss entirely on </a:t>
            </a:r>
            <a:r>
              <a:rPr lang="en-US" altLang="ko-KR" dirty="0">
                <a:solidFill>
                  <a:schemeClr val="accent6"/>
                </a:solidFill>
              </a:rPr>
              <a:t>CISC.</a:t>
            </a:r>
          </a:p>
          <a:p>
            <a:pPr lvl="1"/>
            <a:r>
              <a:rPr lang="en-US" altLang="ko-KR" dirty="0"/>
              <a:t>The hardware has to know exactly where the page tables are located in memory.</a:t>
            </a:r>
          </a:p>
          <a:p>
            <a:pPr lvl="1"/>
            <a:r>
              <a:rPr lang="en-US" altLang="ko-KR" dirty="0"/>
              <a:t>The hardware would “walk” the page table, find the correct page-table entry and </a:t>
            </a:r>
            <a:r>
              <a:rPr lang="en-US" altLang="ko-KR" dirty="0">
                <a:solidFill>
                  <a:schemeClr val="accent6"/>
                </a:solidFill>
              </a:rPr>
              <a:t>extract</a:t>
            </a:r>
            <a:r>
              <a:rPr lang="en-US" altLang="ko-KR" dirty="0"/>
              <a:t> the desired translation, </a:t>
            </a:r>
            <a:r>
              <a:rPr lang="en-US" altLang="ko-KR" dirty="0">
                <a:solidFill>
                  <a:schemeClr val="accent6"/>
                </a:solidFill>
              </a:rPr>
              <a:t>update</a:t>
            </a:r>
            <a:r>
              <a:rPr lang="en-US" altLang="ko-KR" dirty="0"/>
              <a:t> and </a:t>
            </a:r>
            <a:r>
              <a:rPr lang="en-US" altLang="ko-KR" dirty="0">
                <a:solidFill>
                  <a:schemeClr val="accent6"/>
                </a:solidFill>
              </a:rPr>
              <a:t>retry</a:t>
            </a:r>
            <a:r>
              <a:rPr lang="en-US" altLang="ko-KR" dirty="0"/>
              <a:t> instruction.</a:t>
            </a:r>
          </a:p>
          <a:p>
            <a:pPr lvl="1"/>
            <a:r>
              <a:rPr lang="en-US" altLang="ko-KR" b="1" dirty="0"/>
              <a:t>hardware-managed TLB.</a:t>
            </a:r>
          </a:p>
          <a:p>
            <a:pPr lvl="1"/>
            <a:r>
              <a:rPr lang="en-US" altLang="ko-KR" b="1" dirty="0"/>
              <a:t>Intel </a:t>
            </a:r>
            <a:r>
              <a:rPr lang="en-US" altLang="ko-KR" b="1" dirty="0" smtClean="0"/>
              <a:t>x86</a:t>
            </a:r>
          </a:p>
          <a:p>
            <a:r>
              <a:rPr lang="en-US" altLang="ko-KR" dirty="0">
                <a:solidFill>
                  <a:schemeClr val="accent6"/>
                </a:solidFill>
              </a:rPr>
              <a:t>RISC</a:t>
            </a:r>
            <a:r>
              <a:rPr lang="en-US" altLang="ko-KR" dirty="0"/>
              <a:t> has what is known as a </a:t>
            </a:r>
            <a:r>
              <a:rPr lang="en-US" altLang="ko-KR" b="1" u="sng" dirty="0"/>
              <a:t>software-managed TLB.</a:t>
            </a:r>
          </a:p>
          <a:p>
            <a:pPr lvl="1"/>
            <a:r>
              <a:rPr lang="en-US" altLang="ko-KR" dirty="0"/>
              <a:t>On a TLB miss, the hardware raises exception (trap handler).</a:t>
            </a:r>
          </a:p>
          <a:p>
            <a:pPr lvl="2"/>
            <a:r>
              <a:rPr lang="en-US" altLang="ko-KR" b="1" u="sng" dirty="0"/>
              <a:t>Trap handler is code </a:t>
            </a:r>
            <a:r>
              <a:rPr lang="en-US" altLang="ko-KR" dirty="0"/>
              <a:t>within the OS that is written with the express purpose of </a:t>
            </a:r>
            <a:r>
              <a:rPr lang="en-US" altLang="ko-KR" dirty="0">
                <a:solidFill>
                  <a:schemeClr val="accent6"/>
                </a:solidFill>
              </a:rPr>
              <a:t>handling TLB miss.</a:t>
            </a:r>
          </a:p>
          <a:p>
            <a:pPr lvl="1"/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191473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Control Flow algorithm(OS Handled)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75996" y="908720"/>
            <a:ext cx="7992888" cy="412420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1:	 VPN = (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VirtualAddress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&amp; VPN_MASK) &gt;&gt; SHIFT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2:	 (Success,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=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TLB_Lookup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(VPN)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3:	 </a:t>
            </a:r>
            <a:r>
              <a:rPr lang="en-US" altLang="ko-KR" sz="16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(Success == True) </a:t>
            </a:r>
            <a:r>
              <a:rPr lang="en-US" altLang="ko-KR" sz="16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TLB Hit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4:	 </a:t>
            </a:r>
            <a:r>
              <a:rPr lang="en-US" altLang="ko-KR" sz="16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CanAccess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TlbEntry.ProtectBits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== True)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5:		 Offset =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VirtualAddress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&amp; OFFSET_MASK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6: 	 	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PhysAddr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TlbEntry.PFN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&lt;&lt; SHIFT) | Offset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7:	 	 Register =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AccessMemory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PhysAddr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8:	 </a:t>
            </a:r>
            <a:r>
              <a:rPr lang="en-US" altLang="ko-KR" sz="16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9:		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(PROTECTION_FAULT)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10:	 </a:t>
            </a:r>
            <a:r>
              <a:rPr lang="en-US" altLang="ko-KR" sz="16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6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TLB Miss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11:		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TLB_MISS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altLang="ko-KR" sz="1600" b="1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669763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TLB is managed by </a:t>
            </a:r>
            <a:r>
              <a:rPr lang="en-US" altLang="ko-KR" b="1" dirty="0"/>
              <a:t>Full Associative </a:t>
            </a:r>
            <a:r>
              <a:rPr lang="en-US" altLang="ko-KR" dirty="0"/>
              <a:t>method.</a:t>
            </a:r>
          </a:p>
          <a:p>
            <a:pPr lvl="1"/>
            <a:r>
              <a:rPr lang="en-US" altLang="ko-KR" dirty="0"/>
              <a:t>A typical TLB </a:t>
            </a:r>
            <a:r>
              <a:rPr lang="en-US" altLang="ko-KR" dirty="0" smtClean="0"/>
              <a:t>has </a:t>
            </a:r>
            <a:r>
              <a:rPr lang="en-US" altLang="ko-KR" dirty="0"/>
              <a:t>32,64, or 128 entries.</a:t>
            </a:r>
          </a:p>
          <a:p>
            <a:pPr lvl="1"/>
            <a:r>
              <a:rPr lang="en-US" altLang="ko-KR" dirty="0"/>
              <a:t>Hardware </a:t>
            </a:r>
            <a:r>
              <a:rPr lang="en-US" altLang="ko-KR" dirty="0" smtClean="0"/>
              <a:t>searches </a:t>
            </a:r>
            <a:r>
              <a:rPr lang="en-US" altLang="ko-KR" dirty="0"/>
              <a:t>the entire TLB in parallel to find the desired translation.</a:t>
            </a:r>
          </a:p>
          <a:p>
            <a:pPr lvl="1"/>
            <a:r>
              <a:rPr lang="en-US" altLang="ko-KR" dirty="0"/>
              <a:t>other bits: valid bits , protection bits, address-space identifier, dirty bit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1475744" y="3429000"/>
            <a:ext cx="6154412" cy="792088"/>
            <a:chOff x="580855" y="2636912"/>
            <a:chExt cx="6154412" cy="792088"/>
          </a:xfrm>
          <a:effectLst/>
        </p:grpSpPr>
        <p:sp>
          <p:nvSpPr>
            <p:cNvPr id="6" name="직사각형 5"/>
            <p:cNvSpPr/>
            <p:nvPr/>
          </p:nvSpPr>
          <p:spPr>
            <a:xfrm>
              <a:off x="580855" y="2636912"/>
              <a:ext cx="6151386" cy="7920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80856" y="2636912"/>
              <a:ext cx="1830905" cy="792088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VPN</a:t>
              </a:r>
              <a:endParaRPr lang="ko-KR" altLang="en-US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411761" y="2636912"/>
              <a:ext cx="2451298" cy="7920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PFN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863059" y="2636912"/>
              <a:ext cx="1872208" cy="7920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other bits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066599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altLang="ko-KR" dirty="0"/>
              <a:t>TLB Issue: Context Switching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effectLst/>
        </p:spPr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effectLst/>
        </p:spPr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39552" y="1916832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39552" y="4092307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92080" y="2420888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608709" y="1195118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54900" y="126712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662788" y="1594233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662788" y="19366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20677" y="2851302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667699" y="249277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90090" y="2154221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cxnSp>
        <p:nvCxnSpPr>
          <p:cNvPr id="27" name="Straight Arrow Connector 20"/>
          <p:cNvCxnSpPr>
            <a:stCxn id="7" idx="3"/>
          </p:cNvCxnSpPr>
          <p:nvPr/>
        </p:nvCxnSpPr>
        <p:spPr>
          <a:xfrm>
            <a:off x="2123728" y="2384884"/>
            <a:ext cx="1484981" cy="0"/>
          </a:xfrm>
          <a:prstGeom prst="straightConnector1">
            <a:avLst/>
          </a:prstGeom>
          <a:ln w="15875">
            <a:solidFill>
              <a:schemeClr val="tx2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35696" y="2060848"/>
            <a:ext cx="200335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access </a:t>
            </a:r>
            <a:r>
              <a:rPr lang="en-US" altLang="ko-KR" sz="1400" b="1" dirty="0" err="1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VPN10</a:t>
            </a:r>
            <a:endParaRPr lang="ko-KR" altLang="en-US" sz="1400" b="1" dirty="0">
              <a:solidFill>
                <a:srgbClr val="1F497D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608709" y="370832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654900" y="378032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662788" y="41074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662788" y="444983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667699" y="500597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90090" y="466742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3490" y="5364505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30" name="내용 개체 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6917627"/>
              </p:ext>
            </p:extLst>
          </p:nvPr>
        </p:nvGraphicFramePr>
        <p:xfrm>
          <a:off x="5364088" y="276071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cxnSp>
        <p:nvCxnSpPr>
          <p:cNvPr id="14" name="꺾인 연결선 13"/>
          <p:cNvCxnSpPr>
            <a:stCxn id="19" idx="3"/>
          </p:cNvCxnSpPr>
          <p:nvPr/>
        </p:nvCxnSpPr>
        <p:spPr>
          <a:xfrm>
            <a:off x="4688829" y="2023210"/>
            <a:ext cx="675259" cy="1252719"/>
          </a:xfrm>
          <a:prstGeom prst="bentConnector3">
            <a:avLst/>
          </a:prstGeom>
          <a:ln w="15875">
            <a:solidFill>
              <a:schemeClr val="tx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76056" y="2010326"/>
            <a:ext cx="20033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Insert TLB Entry</a:t>
            </a:r>
            <a:endParaRPr lang="ko-KR" altLang="en-US" sz="1600" b="1" dirty="0">
              <a:solidFill>
                <a:srgbClr val="1F497D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4820321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altLang="ko-KR" dirty="0"/>
              <a:t>TLB Issue: Context Switching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effectLst/>
        </p:spPr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effectLst/>
        </p:spPr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39552" y="1916832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39552" y="4092307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92080" y="2420888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608709" y="1195118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54900" y="126712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662788" y="1594233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662788" y="19366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20677" y="2851302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667699" y="249277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90090" y="2154221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cxnSp>
        <p:nvCxnSpPr>
          <p:cNvPr id="27" name="Straight Arrow Connector 20"/>
          <p:cNvCxnSpPr/>
          <p:nvPr/>
        </p:nvCxnSpPr>
        <p:spPr>
          <a:xfrm>
            <a:off x="2123728" y="4581128"/>
            <a:ext cx="1484981" cy="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608709" y="370832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654900" y="378032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662788" y="41074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662788" y="444983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667699" y="500597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90090" y="466742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3490" y="5364505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30" name="내용 개체 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1595568"/>
              </p:ext>
            </p:extLst>
          </p:nvPr>
        </p:nvGraphicFramePr>
        <p:xfrm>
          <a:off x="5364088" y="276071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cxnSp>
        <p:nvCxnSpPr>
          <p:cNvPr id="14" name="꺾인 연결선 13"/>
          <p:cNvCxnSpPr>
            <a:stCxn id="32" idx="3"/>
          </p:cNvCxnSpPr>
          <p:nvPr/>
        </p:nvCxnSpPr>
        <p:spPr>
          <a:xfrm flipV="1">
            <a:off x="4688829" y="3936318"/>
            <a:ext cx="675259" cy="600095"/>
          </a:xfrm>
          <a:prstGeom prst="bentConnector3">
            <a:avLst/>
          </a:prstGeom>
          <a:ln w="19050">
            <a:solidFill>
              <a:schemeClr val="accent3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51520" y="3159079"/>
            <a:ext cx="1350211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Context</a:t>
            </a:r>
          </a:p>
          <a:p>
            <a:r>
              <a:rPr 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Switching</a:t>
            </a:r>
          </a:p>
        </p:txBody>
      </p:sp>
      <p:cxnSp>
        <p:nvCxnSpPr>
          <p:cNvPr id="36" name="구부러진 연결선 35"/>
          <p:cNvCxnSpPr/>
          <p:nvPr/>
        </p:nvCxnSpPr>
        <p:spPr>
          <a:xfrm rot="10800000" flipV="1">
            <a:off x="526529" y="2384883"/>
            <a:ext cx="12700" cy="2175475"/>
          </a:xfrm>
          <a:prstGeom prst="curvedConnector3">
            <a:avLst>
              <a:gd name="adj1" fmla="val 2475000"/>
            </a:avLst>
          </a:prstGeom>
          <a:ln w="158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35696" y="4221088"/>
            <a:ext cx="20033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9BBB59">
                    <a:lumMod val="75000"/>
                  </a:srgbClr>
                </a:solidFill>
                <a:latin typeface="맑은 고딕" pitchFamily="50" charset="-127"/>
                <a:ea typeface="맑은 고딕" pitchFamily="50" charset="-127"/>
              </a:rPr>
              <a:t>access </a:t>
            </a:r>
            <a:r>
              <a:rPr lang="en-US" altLang="ko-KR" sz="1600" b="1" dirty="0" err="1">
                <a:solidFill>
                  <a:srgbClr val="9BBB59">
                    <a:lumMod val="75000"/>
                  </a:srgbClr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VPN10</a:t>
            </a:r>
            <a:endParaRPr lang="ko-KR" altLang="en-US" sz="1600" b="1" dirty="0">
              <a:solidFill>
                <a:srgbClr val="9BBB59">
                  <a:lumMod val="75000"/>
                </a:srgbClr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932040" y="4530606"/>
            <a:ext cx="20033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9BBB59">
                    <a:lumMod val="75000"/>
                  </a:srgbClr>
                </a:solidFill>
                <a:latin typeface="맑은 고딕" pitchFamily="50" charset="-127"/>
                <a:ea typeface="맑은 고딕" pitchFamily="50" charset="-127"/>
              </a:rPr>
              <a:t>Insert TLB Entry</a:t>
            </a:r>
            <a:endParaRPr lang="ko-KR" altLang="en-US" sz="1600" b="1" dirty="0">
              <a:solidFill>
                <a:srgbClr val="9BBB59">
                  <a:lumMod val="7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393523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altLang="ko-KR" dirty="0"/>
              <a:t>TLB Issue: Context Switching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effectLst/>
        </p:spPr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effectLst/>
        </p:spPr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39552" y="1916832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39552" y="4092307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92080" y="2420888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3320677" y="1195118"/>
            <a:ext cx="1755379" cy="1963961"/>
            <a:chOff x="3320677" y="1195118"/>
            <a:chExt cx="1755379" cy="1963961"/>
          </a:xfrm>
        </p:grpSpPr>
        <p:sp>
          <p:nvSpPr>
            <p:cNvPr id="19" name="직사각형 18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Virtual Memory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3608709" y="370832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654900" y="378032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662788" y="41074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662788" y="444983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667699" y="500597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90090" y="466742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3490" y="5364505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30" name="내용 개체 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7560793"/>
              </p:ext>
            </p:extLst>
          </p:nvPr>
        </p:nvGraphicFramePr>
        <p:xfrm>
          <a:off x="5364088" y="276071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5349948" y="3111455"/>
            <a:ext cx="3614539" cy="3175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349948" y="3760341"/>
            <a:ext cx="3614539" cy="3175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5210814" y="4637568"/>
            <a:ext cx="3825682" cy="880825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Can’t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Distinguish 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which entry is </a:t>
            </a:r>
          </a:p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meant for which process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944332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 Solve Problem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Provide an address space identifier(ASID) field in the TLB.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611560" y="2426720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611560" y="4654313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120" y="2838289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2924338" y="1739573"/>
            <a:ext cx="1755379" cy="1963961"/>
            <a:chOff x="3320677" y="1195118"/>
            <a:chExt cx="1755379" cy="1963961"/>
          </a:xfrm>
        </p:grpSpPr>
        <p:sp>
          <p:nvSpPr>
            <p:cNvPr id="10" name="직사각형 9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Virtual Memory</a:t>
              </a: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3239557" y="4270327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285748" y="434233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293636" y="4669442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293636" y="501184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298547" y="5567984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20938" y="5229430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4338" y="5926511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24" name="내용 개체 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5836713"/>
              </p:ext>
            </p:extLst>
          </p:nvPr>
        </p:nvGraphicFramePr>
        <p:xfrm>
          <a:off x="5256076" y="316169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ASID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69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72" name="모서리가 둥근 직사각형 71"/>
          <p:cNvSpPr/>
          <p:nvPr/>
        </p:nvSpPr>
        <p:spPr>
          <a:xfrm>
            <a:off x="8119614" y="3140280"/>
            <a:ext cx="753645" cy="1695169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2383888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Another Case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Two processes </a:t>
            </a:r>
            <a:r>
              <a:rPr lang="en-US" altLang="ko-KR" dirty="0">
                <a:solidFill>
                  <a:schemeClr val="accent6"/>
                </a:solidFill>
              </a:rPr>
              <a:t>share a page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Process 1 is sharing physical page 101 with Process2.</a:t>
            </a:r>
          </a:p>
          <a:p>
            <a:pPr lvl="1"/>
            <a:r>
              <a:rPr lang="en-US" altLang="ko-KR" dirty="0"/>
              <a:t>P1 maps this page into the 10</a:t>
            </a:r>
            <a:r>
              <a:rPr lang="en-US" altLang="ko-KR" baseline="30000" dirty="0"/>
              <a:t>th</a:t>
            </a:r>
            <a:r>
              <a:rPr lang="en-US" altLang="ko-KR" dirty="0"/>
              <a:t> page of its address space.</a:t>
            </a:r>
          </a:p>
          <a:p>
            <a:pPr lvl="1"/>
            <a:r>
              <a:rPr lang="en-US" altLang="ko-KR" dirty="0"/>
              <a:t>P2 maps this page to the 50</a:t>
            </a:r>
            <a:r>
              <a:rPr lang="en-US" altLang="ko-KR" baseline="30000" dirty="0"/>
              <a:t>th</a:t>
            </a:r>
            <a:r>
              <a:rPr lang="en-US" altLang="ko-KR" dirty="0"/>
              <a:t> page of its address space.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내용 개체 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475044"/>
              </p:ext>
            </p:extLst>
          </p:nvPr>
        </p:nvGraphicFramePr>
        <p:xfrm>
          <a:off x="938980" y="3269986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ASID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69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1653172" y="3252691"/>
            <a:ext cx="724238" cy="1678385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036243" y="3212976"/>
            <a:ext cx="3064149" cy="1760201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Sharing of pages is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useful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as it reduces the number of physical pages in use.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36955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LRU(Least Recently Used)</a:t>
            </a:r>
          </a:p>
          <a:p>
            <a:pPr lvl="1"/>
            <a:r>
              <a:rPr lang="en-US" altLang="ko-KR" dirty="0"/>
              <a:t>Evict an entry that has not recently been used.</a:t>
            </a:r>
          </a:p>
          <a:p>
            <a:pPr lvl="1"/>
            <a:r>
              <a:rPr lang="en-US" altLang="ko-KR" dirty="0"/>
              <a:t>Take advantage of </a:t>
            </a:r>
            <a:r>
              <a:rPr lang="en-US" altLang="ko-KR" i="1" dirty="0"/>
              <a:t>locality</a:t>
            </a:r>
            <a:r>
              <a:rPr lang="en-US" altLang="ko-KR" dirty="0"/>
              <a:t> in the memory-reference stream.</a:t>
            </a:r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Replacement Policy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331640" y="3189090"/>
            <a:ext cx="6840760" cy="859408"/>
          </a:xfrm>
          <a:prstGeom prst="roundRect">
            <a:avLst>
              <a:gd name="adj" fmla="val 5555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                                                                         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94964" y="3040385"/>
            <a:ext cx="1924907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Reference Row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580614" y="4162764"/>
            <a:ext cx="303321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582628" y="4230590"/>
            <a:ext cx="301307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80614" y="4590506"/>
            <a:ext cx="303321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120" y="4715112"/>
            <a:ext cx="147927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 Frame: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956796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956796" y="4226284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956796" y="4586200"/>
            <a:ext cx="305991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956797" y="4946240"/>
            <a:ext cx="305990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580614" y="4959054"/>
            <a:ext cx="303321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335495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335496" y="4226284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335495" y="4586200"/>
            <a:ext cx="305991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335496" y="4946240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730564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730564" y="4226284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730564" y="4586200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730564" y="4946240"/>
            <a:ext cx="30598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517968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517968" y="4226284"/>
            <a:ext cx="30598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17968" y="4586200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517969" y="4946240"/>
            <a:ext cx="30598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273168" y="4158458"/>
            <a:ext cx="311594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73167" y="4226284"/>
            <a:ext cx="307405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277357" y="4586200"/>
            <a:ext cx="307405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282041" y="4946240"/>
            <a:ext cx="298532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4649771" y="4158458"/>
            <a:ext cx="316278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649770" y="4226284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653960" y="4586200"/>
            <a:ext cx="307405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649771" y="4946240"/>
            <a:ext cx="316277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5015144" y="4158458"/>
            <a:ext cx="316278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5015143" y="4226284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015143" y="4586200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5015144" y="4946240"/>
            <a:ext cx="3162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411901" y="4158458"/>
            <a:ext cx="316279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5411902" y="4226284"/>
            <a:ext cx="3162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411901" y="4586200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5411901" y="4946240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584302" y="4158458"/>
            <a:ext cx="338179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584302" y="4226284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6584302" y="4586200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584303" y="4946240"/>
            <a:ext cx="3381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7319240" y="4167983"/>
            <a:ext cx="338179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7319240" y="4235809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7319240" y="4595725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7319241" y="4955765"/>
            <a:ext cx="3381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5364088" y="5536482"/>
            <a:ext cx="3577616" cy="772838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Total 11 TLB miss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515397" y="3462908"/>
            <a:ext cx="433753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1894576" y="3462908"/>
            <a:ext cx="433753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2273755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657272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040789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3424306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3807823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4191340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4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574857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958374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5341891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6108925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5725408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6492442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6875959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7259476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7642992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286492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 txBox="1">
            <a:spLocks/>
          </p:cNvSpPr>
          <p:nvPr/>
        </p:nvSpPr>
        <p:spPr bwMode="auto">
          <a:xfrm>
            <a:off x="214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lvl="1" indent="0">
              <a:buFont typeface="Wingdings" pitchFamily="2" charset="2"/>
              <a:buNone/>
            </a:pPr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Real TLB Entry</a:t>
            </a:r>
            <a:endParaRPr lang="ko-KR" altLang="en-US" dirty="0"/>
          </a:p>
        </p:txBody>
      </p:sp>
      <p:graphicFrame>
        <p:nvGraphicFramePr>
          <p:cNvPr id="12" name="내용 개체 틀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8600795"/>
              </p:ext>
            </p:extLst>
          </p:nvPr>
        </p:nvGraphicFramePr>
        <p:xfrm>
          <a:off x="929583" y="1822267"/>
          <a:ext cx="7029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3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13" name="내용 개체 틀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7986104"/>
              </p:ext>
            </p:extLst>
          </p:nvPr>
        </p:nvGraphicFramePr>
        <p:xfrm>
          <a:off x="929583" y="2182307"/>
          <a:ext cx="7029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2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2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xmlns="" val="2003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xmlns="" val="20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801791" y="1868838"/>
            <a:ext cx="504056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902" y="1510767"/>
            <a:ext cx="2396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0  1  2  3  4  5  6  7  8  9 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49642" y="1505148"/>
            <a:ext cx="5277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 11  …                     19     …                                  31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12153" y="1868838"/>
            <a:ext cx="203812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6247" y="1862652"/>
            <a:ext cx="64807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ASID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879" y="2229993"/>
            <a:ext cx="64807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435" y="2223807"/>
            <a:ext cx="527848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9149" y="2223807"/>
            <a:ext cx="203812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9963" y="2222905"/>
            <a:ext cx="203812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6140" y="1124744"/>
            <a:ext cx="562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All 64 bits of this TLB entry(example of MIPS R4000)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652437"/>
              </p:ext>
            </p:extLst>
          </p:nvPr>
        </p:nvGraphicFramePr>
        <p:xfrm>
          <a:off x="904582" y="2708920"/>
          <a:ext cx="722665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0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Flag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Content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19-bit VPN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The rest reserved for the kernel.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24-bit PFN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Systems can support with up to 64GB of main memory(   pages ).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Global bit(G)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Used for pages that are globally-shared among processes.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ASID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OS can use to distinguish between address spaces.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Coherence bit(C)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determine how a page is cached by the hardware.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5785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Dirty bit(D)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marking when the page has been written.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Valid bit(V)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tells the hardware if there is a valid translation present in the entry.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6723904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  <a:effectLst>
          <a:outerShdw sx="1000" sy="1000" rotWithShape="0">
            <a:srgbClr val="000000"/>
          </a:outerShdw>
        </a:effectLst>
      </a:spPr>
      <a:bodyPr wrap="square" lIns="252000" rtlCol="0" anchor="ctr">
        <a:spAutoFit/>
      </a:bodyPr>
      <a:lstStyle>
        <a:defPPr algn="ctr">
          <a:defRPr sz="1600" dirty="0" smtClean="0">
            <a:solidFill>
              <a:prstClr val="black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109964</TotalTime>
  <Words>1201</Words>
  <Application>Microsoft Macintosh PowerPoint</Application>
  <PresentationFormat>On-screen Show (4:3)</PresentationFormat>
  <Paragraphs>456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Adobe Arabic</vt:lpstr>
      <vt:lpstr>Adobe 고딕 Std B</vt:lpstr>
      <vt:lpstr>Courier</vt:lpstr>
      <vt:lpstr>Courier New</vt:lpstr>
      <vt:lpstr>HY견고딕</vt:lpstr>
      <vt:lpstr>Wingdings</vt:lpstr>
      <vt:lpstr>굴림</vt:lpstr>
      <vt:lpstr>맑은 고딕</vt:lpstr>
      <vt:lpstr>Arial</vt:lpstr>
      <vt:lpstr>양식_공청회_발표자료-총괄-양식</vt:lpstr>
      <vt:lpstr>1_양식_공청회_발표자료-총괄-양식</vt:lpstr>
      <vt:lpstr>Operating Systems </vt:lpstr>
      <vt:lpstr>PowerPoint Presentation</vt:lpstr>
      <vt:lpstr>TLB</vt:lpstr>
      <vt:lpstr>TLB Basic Algorithms</vt:lpstr>
      <vt:lpstr>TLB Basic Algorithms (Cont.)</vt:lpstr>
      <vt:lpstr>Example: Accessing An Array</vt:lpstr>
      <vt:lpstr>Locality</vt:lpstr>
      <vt:lpstr>Who Handles The TLB Miss?</vt:lpstr>
      <vt:lpstr>TLB Control Flow algorithm(OS Handled)</vt:lpstr>
      <vt:lpstr>TLB entry</vt:lpstr>
      <vt:lpstr>TLB Issue: Context Switching</vt:lpstr>
      <vt:lpstr>TLB Issue: Context Switching</vt:lpstr>
      <vt:lpstr>TLB Issue: Context Switching</vt:lpstr>
      <vt:lpstr>To Solve Problem</vt:lpstr>
      <vt:lpstr>Another Case</vt:lpstr>
      <vt:lpstr>TLB Replacement Policy</vt:lpstr>
      <vt:lpstr>A Real TLB Entry</vt:lpstr>
    </vt:vector>
  </TitlesOfParts>
  <Manager/>
  <Company/>
  <LinksUpToDate>false</LinksUpToDate>
  <SharedDoc>false</SharedDoc>
  <HyperlinkBase/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Won Youjip</cp:lastModifiedBy>
  <cp:revision>4149</cp:revision>
  <cp:lastPrinted>2019-09-09T02:10:38Z</cp:lastPrinted>
  <dcterms:created xsi:type="dcterms:W3CDTF">2011-05-01T06:09:10Z</dcterms:created>
  <dcterms:modified xsi:type="dcterms:W3CDTF">2020-04-12T11:40:52Z</dcterms:modified>
  <cp:category/>
</cp:coreProperties>
</file>
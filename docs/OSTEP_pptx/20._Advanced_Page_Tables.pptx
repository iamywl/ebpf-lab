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  <p:sldMasterId id="2147483674" r:id="rId2"/>
  </p:sldMasterIdLst>
  <p:notesMasterIdLst>
    <p:notesMasterId r:id="rId33"/>
  </p:notesMasterIdLst>
  <p:sldIdLst>
    <p:sldId id="2877" r:id="rId3"/>
    <p:sldId id="2670" r:id="rId4"/>
    <p:sldId id="2200" r:id="rId5"/>
    <p:sldId id="2201" r:id="rId6"/>
    <p:sldId id="2202" r:id="rId7"/>
    <p:sldId id="2203" r:id="rId8"/>
    <p:sldId id="2204" r:id="rId9"/>
    <p:sldId id="2206" r:id="rId10"/>
    <p:sldId id="2207" r:id="rId11"/>
    <p:sldId id="2208" r:id="rId12"/>
    <p:sldId id="2209" r:id="rId13"/>
    <p:sldId id="2210" r:id="rId14"/>
    <p:sldId id="2941" r:id="rId15"/>
    <p:sldId id="2213" r:id="rId16"/>
    <p:sldId id="2947" r:id="rId17"/>
    <p:sldId id="2214" r:id="rId18"/>
    <p:sldId id="2948" r:id="rId19"/>
    <p:sldId id="2215" r:id="rId20"/>
    <p:sldId id="2943" r:id="rId21"/>
    <p:sldId id="2216" r:id="rId22"/>
    <p:sldId id="2217" r:id="rId23"/>
    <p:sldId id="2944" r:id="rId24"/>
    <p:sldId id="2945" r:id="rId25"/>
    <p:sldId id="2218" r:id="rId26"/>
    <p:sldId id="2946" r:id="rId27"/>
    <p:sldId id="2219" r:id="rId28"/>
    <p:sldId id="2220" r:id="rId29"/>
    <p:sldId id="2221" r:id="rId30"/>
    <p:sldId id="2222" r:id="rId31"/>
    <p:sldId id="2949" r:id="rId3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85" autoAdjust="0"/>
    <p:restoredTop sz="91978" autoAdjust="0"/>
  </p:normalViewPr>
  <p:slideViewPr>
    <p:cSldViewPr>
      <p:cViewPr varScale="1">
        <p:scale>
          <a:sx n="179" d="100"/>
          <a:sy n="179" d="100"/>
        </p:scale>
        <p:origin x="192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notesMaster" Target="notesMasters/notesMaster1.xml"/><Relationship Id="rId34" Type="http://schemas.openxmlformats.org/officeDocument/2006/relationships/commentAuthors" Target="commentAuthors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/>
              <a:t>여백 감소 페이지 사이의 간격을 없애기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81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/>
              <a:t>여백 감소 페이지 사이의 간격을 없애기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8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80434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252461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000427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hyperlink" Target="https://oslab.kaist.ac.kr/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Relationship Id="rId5" Type="http://schemas.openxmlformats.org/officeDocument/2006/relationships/hyperlink" Target="https://oslab.kaist.ac.kr/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9" name="Picture 2">
            <a:hlinkClick r:id="rId5"/>
            <a:extLst>
              <a:ext uri="{FF2B5EF4-FFF2-40B4-BE49-F238E27FC236}">
                <a16:creationId xmlns:a16="http://schemas.microsoft.com/office/drawing/2014/main" xmlns="" id="{02C5B705-6683-0E42-9CAB-8553C64C4F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" y="6441219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9" name="Picture 2">
            <a:hlinkClick r:id="rId5"/>
            <a:extLst>
              <a:ext uri="{FF2B5EF4-FFF2-40B4-BE49-F238E27FC236}">
                <a16:creationId xmlns:a16="http://schemas.microsoft.com/office/drawing/2014/main" xmlns="" id="{02C5B705-6683-0E42-9CAB-8553C64C4F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" y="6441219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30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20. Advanced Page Tables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778909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We usually have one page table for every process in the system.</a:t>
            </a:r>
          </a:p>
          <a:p>
            <a:pPr lvl="1"/>
            <a:r>
              <a:rPr lang="en-US" altLang="ko-KR" dirty="0"/>
              <a:t>Assume that 32-bit address space with 4KB pages and 4-byte page-table entry.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Linear Tables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142095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Page table size =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𝟏𝟐</m:t>
                            </m:r>
                          </m:sup>
                        </m:sSup>
                      </m:den>
                    </m:f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𝑩𝒚𝒕𝒆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  <m:r>
                      <a:rPr lang="en-US" altLang="ko-KR" sz="1600" b="1" smtClean="0">
                        <a:solidFill>
                          <a:srgbClr val="FF0000"/>
                        </a:solidFill>
                        <a:latin typeface="Cambria Math"/>
                      </a:rPr>
                      <m:t>𝐲𝐭𝐞</m:t>
                    </m:r>
                  </m:oMath>
                </a14:m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095" y="4797152"/>
                <a:ext cx="4950185" cy="483530"/>
              </a:xfrm>
              <a:prstGeom prst="rect">
                <a:avLst/>
              </a:prstGeom>
              <a:blipFill rotWithShape="1">
                <a:blip r:embed="rId3"/>
                <a:stretch>
                  <a:fillRect l="-616" b="-3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그룹 30"/>
          <p:cNvGrpSpPr/>
          <p:nvPr/>
        </p:nvGrpSpPr>
        <p:grpSpPr>
          <a:xfrm>
            <a:off x="4499992" y="2579418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2825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26711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7044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826711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826711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826712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10444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67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947054" y="2664304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83568" y="5517231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 are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too big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and thus consume too much memory. 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2555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699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2554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572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4716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4571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73373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Page tables are too big and thus consume too much memory. </a:t>
            </a:r>
          </a:p>
          <a:p>
            <a:pPr lvl="1"/>
            <a:r>
              <a:rPr lang="en-US" altLang="ko-KR" dirty="0"/>
              <a:t>Assume that 32-bit address space with </a:t>
            </a:r>
            <a:r>
              <a:rPr lang="en-US" altLang="ko-KR" dirty="0" err="1">
                <a:solidFill>
                  <a:srgbClr val="FF0000"/>
                </a:solidFill>
              </a:rPr>
              <a:t>16KB</a:t>
            </a:r>
            <a:r>
              <a:rPr lang="en-US" altLang="ko-KR" dirty="0"/>
              <a:t> pages and 4-byte page-table entry.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Smaller Tables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4499992" y="2579418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2825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26711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7044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826711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826711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826712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10444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67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555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699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2554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572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4716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4571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3900925" y="266636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718159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𝟏𝟔</m:t>
                            </m:r>
                          </m:sup>
                        </m:sSup>
                      </m:den>
                    </m:f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</m:oMath>
                </a14:m>
                <a:r>
                  <a:rPr lang="ko-KR" altLang="en-US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 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per page table</a:t>
                </a:r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159" y="4797152"/>
                <a:ext cx="4950185" cy="483530"/>
              </a:xfrm>
              <a:prstGeom prst="rect">
                <a:avLst/>
              </a:prstGeom>
              <a:blipFill rotWithShape="1">
                <a:blip r:embed="rId3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모서리가 둥근 직사각형 49"/>
          <p:cNvSpPr/>
          <p:nvPr/>
        </p:nvSpPr>
        <p:spPr>
          <a:xfrm>
            <a:off x="683568" y="5517231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Big pages lead to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internal fragmentation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6875167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254939" y="788615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Single page table for the address space of process.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3511" y="2232017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062" y="3168121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1650" y="5256353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018363" y="1893599"/>
            <a:ext cx="1008112" cy="4128854"/>
            <a:chOff x="5364088" y="1540769"/>
            <a:chExt cx="2016224" cy="4028981"/>
          </a:xfrm>
        </p:grpSpPr>
        <p:grpSp>
          <p:nvGrpSpPr>
            <p:cNvPr id="29" name="그룹 28"/>
            <p:cNvGrpSpPr/>
            <p:nvPr/>
          </p:nvGrpSpPr>
          <p:grpSpPr>
            <a:xfrm>
              <a:off x="5364088" y="1540769"/>
              <a:ext cx="2016224" cy="2336302"/>
              <a:chOff x="5364088" y="1464476"/>
              <a:chExt cx="1872208" cy="436109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5364088" y="376873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364088" y="4056764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364088" y="434571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64088" y="3695867"/>
              <a:ext cx="2016224" cy="1873883"/>
              <a:chOff x="5364088" y="1464476"/>
              <a:chExt cx="1872208" cy="3497915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364088" y="434571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3018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761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7" name="직선 화살표 연결선 86"/>
          <p:cNvCxnSpPr>
            <a:endCxn id="50" idx="1"/>
          </p:cNvCxnSpPr>
          <p:nvPr/>
        </p:nvCxnSpPr>
        <p:spPr>
          <a:xfrm>
            <a:off x="2058195" y="2413486"/>
            <a:ext cx="960168" cy="91441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V="1">
            <a:off x="2082852" y="2379133"/>
            <a:ext cx="935511" cy="323297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2058195" y="3352264"/>
            <a:ext cx="960168" cy="93555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V="1">
            <a:off x="2161063" y="5619357"/>
            <a:ext cx="849514" cy="20128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073140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85643" y="1757581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13200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499" y="602245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951946"/>
              </p:ext>
            </p:extLst>
          </p:nvPr>
        </p:nvGraphicFramePr>
        <p:xfrm>
          <a:off x="4720134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607719" y="4995697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graphicFrame>
        <p:nvGraphicFramePr>
          <p:cNvPr id="59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9236122"/>
              </p:ext>
            </p:extLst>
          </p:nvPr>
        </p:nvGraphicFramePr>
        <p:xfrm>
          <a:off x="1011204" y="2245960"/>
          <a:ext cx="122413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9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10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88943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 smtClean="0"/>
                        <a:t>14</a:t>
                      </a:r>
                    </a:p>
                    <a:p>
                      <a:pPr latinLnBrk="1"/>
                      <a:endParaRPr lang="en-US" altLang="ko-KR" sz="900" b="1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/>
                        <a:t>15</a:t>
                      </a:r>
                      <a:endParaRPr lang="ko-KR" altLang="en-US" sz="9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>
            <a:off x="971600" y="5702344"/>
            <a:ext cx="87129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011204" y="5227411"/>
            <a:ext cx="831693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en-US" sz="1600" dirty="0" smtClean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705788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214313" y="681014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Most of the page table is </a:t>
            </a:r>
            <a:r>
              <a:rPr lang="en-US" altLang="ko-KR" b="1" dirty="0">
                <a:solidFill>
                  <a:srgbClr val="FF0000"/>
                </a:solidFill>
              </a:rPr>
              <a:t>unused</a:t>
            </a:r>
            <a:r>
              <a:rPr lang="en-US" altLang="ko-KR" dirty="0">
                <a:solidFill>
                  <a:prstClr val="black"/>
                </a:solidFill>
              </a:rPr>
              <a:t>, full of invalid entries.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Problem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3511" y="2232017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062" y="3168121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1650" y="5256353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018363" y="1893599"/>
            <a:ext cx="1008112" cy="4128854"/>
            <a:chOff x="5364088" y="1540769"/>
            <a:chExt cx="2016224" cy="4028981"/>
          </a:xfrm>
        </p:grpSpPr>
        <p:grpSp>
          <p:nvGrpSpPr>
            <p:cNvPr id="29" name="그룹 28"/>
            <p:cNvGrpSpPr/>
            <p:nvPr/>
          </p:nvGrpSpPr>
          <p:grpSpPr>
            <a:xfrm>
              <a:off x="5364088" y="1540769"/>
              <a:ext cx="2016224" cy="2336302"/>
              <a:chOff x="5364088" y="1464476"/>
              <a:chExt cx="1872208" cy="436109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5364088" y="376873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364088" y="4056764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364088" y="434571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64088" y="3695867"/>
              <a:ext cx="2016224" cy="1873883"/>
              <a:chOff x="5364088" y="1464476"/>
              <a:chExt cx="1872208" cy="3497915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364088" y="434571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3018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761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7" name="직선 화살표 연결선 86"/>
          <p:cNvCxnSpPr>
            <a:endCxn id="50" idx="1"/>
          </p:cNvCxnSpPr>
          <p:nvPr/>
        </p:nvCxnSpPr>
        <p:spPr>
          <a:xfrm>
            <a:off x="2058195" y="2413486"/>
            <a:ext cx="960168" cy="91441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V="1">
            <a:off x="2161063" y="2379132"/>
            <a:ext cx="857300" cy="3010309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2073140" y="3352264"/>
            <a:ext cx="945223" cy="93555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cxnSpLocks/>
          </p:cNvCxnSpPr>
          <p:nvPr/>
        </p:nvCxnSpPr>
        <p:spPr>
          <a:xfrm flipV="1">
            <a:off x="2161151" y="5613143"/>
            <a:ext cx="826673" cy="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073140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45583" y="1749619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13200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499" y="602245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795420"/>
              </p:ext>
            </p:extLst>
          </p:nvPr>
        </p:nvGraphicFramePr>
        <p:xfrm>
          <a:off x="4720134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607719" y="4995697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719383" y="3796802"/>
            <a:ext cx="3744416" cy="55221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713632" y="2692327"/>
            <a:ext cx="3744416" cy="84709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aphicFrame>
        <p:nvGraphicFramePr>
          <p:cNvPr id="59" name="내용 개체 틀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994563"/>
              </p:ext>
            </p:extLst>
          </p:nvPr>
        </p:nvGraphicFramePr>
        <p:xfrm>
          <a:off x="1032422" y="2199773"/>
          <a:ext cx="122413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9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10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88943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 smtClean="0"/>
                        <a:t>14</a:t>
                      </a:r>
                    </a:p>
                    <a:p>
                      <a:pPr latinLnBrk="1"/>
                      <a:endParaRPr lang="en-US" altLang="ko-KR" sz="900" b="1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/>
                        <a:t>15</a:t>
                      </a:r>
                      <a:endParaRPr lang="ko-KR" altLang="en-US" sz="900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>
            <a:off x="992818" y="5656157"/>
            <a:ext cx="87129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032422" y="5181224"/>
            <a:ext cx="831693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en-US" sz="1600" dirty="0" smtClean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28739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Hybrid Approach: Paging and Segments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Page table for each segment</a:t>
            </a:r>
          </a:p>
          <a:p>
            <a:pPr lvl="1"/>
            <a:r>
              <a:rPr lang="en-US" altLang="ko-KR" sz="1600" dirty="0"/>
              <a:t>the base register for each of these segments contains the physical address of a linear page table for that segment.</a:t>
            </a:r>
          </a:p>
          <a:p>
            <a:pPr lvl="1"/>
            <a:r>
              <a:rPr lang="en-US" altLang="ko-KR" sz="1600" dirty="0"/>
              <a:t>The bound register: indicate the end of the page table.</a:t>
            </a:r>
          </a:p>
          <a:p>
            <a:r>
              <a:rPr lang="en-US" altLang="ko-KR" sz="1800" dirty="0"/>
              <a:t>Example: </a:t>
            </a:r>
            <a:r>
              <a:rPr lang="en-US" altLang="ko-KR" sz="1800" dirty="0">
                <a:cs typeface="Courier New" pitchFamily="49" charset="0"/>
              </a:rPr>
              <a:t>Each process has </a:t>
            </a:r>
            <a:r>
              <a:rPr lang="en-US" altLang="ko-KR" sz="1800" dirty="0">
                <a:solidFill>
                  <a:srgbClr val="FF0000"/>
                </a:solidFill>
                <a:cs typeface="Courier New" pitchFamily="49" charset="0"/>
              </a:rPr>
              <a:t>three</a:t>
            </a:r>
            <a:r>
              <a:rPr lang="en-US" altLang="ko-KR" sz="1800" dirty="0">
                <a:cs typeface="Courier New" pitchFamily="49" charset="0"/>
              </a:rPr>
              <a:t> page tables associated with it.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내용 개체 틀 11">
            <a:extLst>
              <a:ext uri="{FF2B5EF4-FFF2-40B4-BE49-F238E27FC236}">
                <a16:creationId xmlns:a16="http://schemas.microsoft.com/office/drawing/2014/main" xmlns="" id="{F1CE6711-EC03-7847-9292-E1D0F08ECD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591977"/>
              </p:ext>
            </p:extLst>
          </p:nvPr>
        </p:nvGraphicFramePr>
        <p:xfrm>
          <a:off x="1031132" y="3413611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3F9B4BD-5A39-AE4D-BF29-714A34652DD5}"/>
              </a:ext>
            </a:extLst>
          </p:cNvPr>
          <p:cNvSpPr txBox="1"/>
          <p:nvPr/>
        </p:nvSpPr>
        <p:spPr>
          <a:xfrm>
            <a:off x="923120" y="3881545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</a:t>
            </a:r>
            <a:endParaRPr lang="en-US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8">
            <a:extLst>
              <a:ext uri="{FF2B5EF4-FFF2-40B4-BE49-F238E27FC236}">
                <a16:creationId xmlns:a16="http://schemas.microsoft.com/office/drawing/2014/main" xmlns="" id="{BCB3AF49-8240-6646-9585-FB11403007F5}"/>
              </a:ext>
            </a:extLst>
          </p:cNvPr>
          <p:cNvCxnSpPr/>
          <p:nvPr/>
        </p:nvCxnSpPr>
        <p:spPr>
          <a:xfrm>
            <a:off x="1031132" y="3773651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10">
            <a:extLst>
              <a:ext uri="{FF2B5EF4-FFF2-40B4-BE49-F238E27FC236}">
                <a16:creationId xmlns:a16="http://schemas.microsoft.com/office/drawing/2014/main" xmlns="" id="{C4B9BDF4-5BB3-7341-A625-A6ABDD7320EE}"/>
              </a:ext>
            </a:extLst>
          </p:cNvPr>
          <p:cNvCxnSpPr/>
          <p:nvPr/>
        </p:nvCxnSpPr>
        <p:spPr>
          <a:xfrm>
            <a:off x="1463180" y="3778442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D6CF2F28-33C1-7145-AC07-9E7699338610}"/>
              </a:ext>
            </a:extLst>
          </p:cNvPr>
          <p:cNvCxnSpPr/>
          <p:nvPr/>
        </p:nvCxnSpPr>
        <p:spPr>
          <a:xfrm>
            <a:off x="1031132" y="3871922"/>
            <a:ext cx="432048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EFAFE8BF-CC8C-9348-9F49-EFE3A7A67028}"/>
              </a:ext>
            </a:extLst>
          </p:cNvPr>
          <p:cNvCxnSpPr/>
          <p:nvPr/>
        </p:nvCxnSpPr>
        <p:spPr>
          <a:xfrm>
            <a:off x="1463180" y="3881545"/>
            <a:ext cx="3972916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6">
            <a:extLst>
              <a:ext uri="{FF2B5EF4-FFF2-40B4-BE49-F238E27FC236}">
                <a16:creationId xmlns:a16="http://schemas.microsoft.com/office/drawing/2014/main" xmlns="" id="{5A34E402-4A2A-2C46-BAD5-467C9CA93BE7}"/>
              </a:ext>
            </a:extLst>
          </p:cNvPr>
          <p:cNvCxnSpPr/>
          <p:nvPr/>
        </p:nvCxnSpPr>
        <p:spPr>
          <a:xfrm>
            <a:off x="5436096" y="3791545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4E3DB94-8C1A-8940-8019-1ADEA7D19EC7}"/>
              </a:ext>
            </a:extLst>
          </p:cNvPr>
          <p:cNvSpPr txBox="1"/>
          <p:nvPr/>
        </p:nvSpPr>
        <p:spPr>
          <a:xfrm>
            <a:off x="2903340" y="3881545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</a:p>
        </p:txBody>
      </p:sp>
      <p:cxnSp>
        <p:nvCxnSpPr>
          <p:cNvPr id="14" name="직선 연결선 18">
            <a:extLst>
              <a:ext uri="{FF2B5EF4-FFF2-40B4-BE49-F238E27FC236}">
                <a16:creationId xmlns:a16="http://schemas.microsoft.com/office/drawing/2014/main" xmlns="" id="{CB928FDB-7838-4341-A8B1-6B8F78E7712F}"/>
              </a:ext>
            </a:extLst>
          </p:cNvPr>
          <p:cNvCxnSpPr/>
          <p:nvPr/>
        </p:nvCxnSpPr>
        <p:spPr>
          <a:xfrm>
            <a:off x="8059341" y="3799914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10B17D32-5885-834C-9332-A125A94A1447}"/>
              </a:ext>
            </a:extLst>
          </p:cNvPr>
          <p:cNvCxnSpPr/>
          <p:nvPr/>
        </p:nvCxnSpPr>
        <p:spPr>
          <a:xfrm>
            <a:off x="5436096" y="3881545"/>
            <a:ext cx="2623245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8165934-741C-0E42-9EA1-EE9BBD1537D4}"/>
              </a:ext>
            </a:extLst>
          </p:cNvPr>
          <p:cNvSpPr txBox="1"/>
          <p:nvPr/>
        </p:nvSpPr>
        <p:spPr>
          <a:xfrm>
            <a:off x="6309432" y="3871922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BAE0F0D-267F-E34D-88C9-7574D6B570D5}"/>
              </a:ext>
            </a:extLst>
          </p:cNvPr>
          <p:cNvSpPr txBox="1"/>
          <p:nvPr/>
        </p:nvSpPr>
        <p:spPr>
          <a:xfrm>
            <a:off x="932221" y="3152001"/>
            <a:ext cx="7279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31 30 29 28 27 26 25 24 23 22 21 20 19 18 17 16 15 14 13 12 11 10 9   8   7  6  5   4   3  2  1   0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xmlns="" id="{2AD0DBE2-6E2D-C64B-A4F6-CBC784345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250800"/>
              </p:ext>
            </p:extLst>
          </p:nvPr>
        </p:nvGraphicFramePr>
        <p:xfrm>
          <a:off x="3009972" y="4872554"/>
          <a:ext cx="345399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6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913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latin typeface="맑은 고딕" pitchFamily="50" charset="-127"/>
                          <a:ea typeface="맑은 고딕" pitchFamily="50" charset="-127"/>
                        </a:rPr>
                        <a:t>Seg</a:t>
                      </a:r>
                      <a:r>
                        <a:rPr lang="en-US" altLang="ko-KR" sz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value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Content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unused</a:t>
                      </a:r>
                      <a:r>
                        <a:rPr lang="en-US" altLang="ko-KR" sz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segment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7620898-D58A-8E4A-BF72-FD782E8A7F13}"/>
              </a:ext>
            </a:extLst>
          </p:cNvPr>
          <p:cNvSpPr txBox="1"/>
          <p:nvPr/>
        </p:nvSpPr>
        <p:spPr>
          <a:xfrm>
            <a:off x="2339752" y="421328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32-bit Virtual address space with 4KB pages</a:t>
            </a:r>
          </a:p>
        </p:txBody>
      </p:sp>
    </p:spTree>
    <p:extLst>
      <p:ext uri="{BB962C8B-B14F-4D97-AF65-F5344CB8AC3E}">
        <p14:creationId xmlns:p14="http://schemas.microsoft.com/office/powerpoint/2010/main" val="502789509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miss on Hybrid Approach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The hardware gets </a:t>
            </a:r>
            <a:r>
              <a:rPr lang="en-US" altLang="ko-KR" sz="1800" b="1" dirty="0"/>
              <a:t>physical address </a:t>
            </a:r>
            <a:r>
              <a:rPr lang="en-US" altLang="ko-KR" sz="1800" dirty="0"/>
              <a:t>from </a:t>
            </a:r>
            <a:r>
              <a:rPr lang="en-US" altLang="ko-KR" sz="1800" b="1" dirty="0"/>
              <a:t>page table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600" dirty="0"/>
              <a:t>The hardware uses the segment bits(SN) to determine which base and bounds pair to use.</a:t>
            </a:r>
          </a:p>
          <a:p>
            <a:pPr lvl="1"/>
            <a:r>
              <a:rPr lang="en-US" altLang="ko-KR" sz="1600" dirty="0"/>
              <a:t>The hardware then takes the </a:t>
            </a:r>
            <a:r>
              <a:rPr lang="en-US" altLang="ko-KR" sz="1600" dirty="0">
                <a:solidFill>
                  <a:schemeClr val="accent6"/>
                </a:solidFill>
              </a:rPr>
              <a:t>physical address</a:t>
            </a:r>
            <a:r>
              <a:rPr lang="en-US" altLang="ko-KR" sz="1600" dirty="0">
                <a:solidFill>
                  <a:srgbClr val="7030A0"/>
                </a:solidFill>
              </a:rPr>
              <a:t> </a:t>
            </a:r>
            <a:r>
              <a:rPr lang="en-US" altLang="ko-KR" sz="1600" dirty="0"/>
              <a:t>therein and </a:t>
            </a:r>
            <a:r>
              <a:rPr lang="en-US" altLang="ko-KR" sz="1600" dirty="0">
                <a:solidFill>
                  <a:schemeClr val="accent6"/>
                </a:solidFill>
              </a:rPr>
              <a:t>combines</a:t>
            </a:r>
            <a:r>
              <a:rPr lang="en-US" altLang="ko-KR" sz="1600" dirty="0"/>
              <a:t> it with the VPN as follows to form the address of the page table entry(PTE) .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4518" y="3861048"/>
            <a:ext cx="7776864" cy="133882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01:	SN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SEG_MASK) &gt;&gt; SN_SHIFT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02:	VPN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VPN_MASK) &gt;&gt; VPN_SHIFT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03:	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AddressOfPTE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Base[SN] + (VPN *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(PTE))</a:t>
            </a:r>
          </a:p>
        </p:txBody>
      </p:sp>
    </p:spTree>
    <p:extLst>
      <p:ext uri="{BB962C8B-B14F-4D97-AF65-F5344CB8AC3E}">
        <p14:creationId xmlns:p14="http://schemas.microsoft.com/office/powerpoint/2010/main" val="1257913290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Hybrid Approach is not without problems.</a:t>
            </a:r>
          </a:p>
          <a:p>
            <a:pPr lvl="1"/>
            <a:r>
              <a:rPr lang="en-US" altLang="ko-KR" sz="1600" dirty="0"/>
              <a:t>If we have a large but sparsely-used heap, we can still end up with a lot of page table waste.</a:t>
            </a:r>
          </a:p>
          <a:p>
            <a:pPr lvl="1"/>
            <a:r>
              <a:rPr lang="en-US" altLang="ko-KR" sz="1600" dirty="0"/>
              <a:t>Causing external fragmentation to arise again.</a:t>
            </a:r>
          </a:p>
          <a:p>
            <a:pPr lvl="1"/>
            <a:endParaRPr lang="ko-KR" altLang="en-US" sz="16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of Hybrid Approach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40258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606159" cy="5501258"/>
          </a:xfrm>
        </p:spPr>
        <p:txBody>
          <a:bodyPr/>
          <a:lstStyle/>
          <a:p>
            <a:r>
              <a:rPr lang="en-US" altLang="ko-KR" dirty="0"/>
              <a:t>Turn the linear page table into something like a tree.</a:t>
            </a:r>
          </a:p>
          <a:p>
            <a:pPr lvl="1"/>
            <a:r>
              <a:rPr lang="en-US" altLang="ko-KR" dirty="0"/>
              <a:t>Chop up the page table into page-sized units.</a:t>
            </a:r>
          </a:p>
          <a:p>
            <a:pPr lvl="1"/>
            <a:r>
              <a:rPr lang="en-US" altLang="ko-KR" dirty="0"/>
              <a:t>If an entire page of page-table entries is invalid, don’t allocate that page of the page table at all.</a:t>
            </a:r>
          </a:p>
          <a:p>
            <a:pPr lvl="1"/>
            <a:r>
              <a:rPr lang="en-US" altLang="ko-KR" dirty="0"/>
              <a:t>To track whether a page of the page table is valid, use a new structure, called </a:t>
            </a:r>
            <a:r>
              <a:rPr lang="en-US" altLang="ko-KR" dirty="0">
                <a:solidFill>
                  <a:schemeClr val="accent6"/>
                </a:solidFill>
              </a:rPr>
              <a:t>page directory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57580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내용 개체 틀 2"/>
          <p:cNvSpPr txBox="1">
            <a:spLocks/>
          </p:cNvSpPr>
          <p:nvPr/>
        </p:nvSpPr>
        <p:spPr bwMode="auto">
          <a:xfrm>
            <a:off x="231428" y="880070"/>
            <a:ext cx="8786812" cy="4205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Tables: Page directory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51075" y="1120851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402" y="1070329"/>
            <a:ext cx="646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PBTR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434" y="760811"/>
            <a:ext cx="2309627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 Page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6560" y="1052736"/>
            <a:ext cx="231760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Multi-level Page Table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699170" y="1481858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958044" y="1478890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0798" y="2113111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330104"/>
              </p:ext>
            </p:extLst>
          </p:nvPr>
        </p:nvGraphicFramePr>
        <p:xfrm>
          <a:off x="892369" y="1902582"/>
          <a:ext cx="16369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cxnSp>
        <p:nvCxnSpPr>
          <p:cNvPr id="90" name="직선 연결선 89"/>
          <p:cNvCxnSpPr/>
          <p:nvPr/>
        </p:nvCxnSpPr>
        <p:spPr>
          <a:xfrm>
            <a:off x="626413" y="2992594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626412" y="4094919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626411" y="5194422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2653516" y="1263129"/>
            <a:ext cx="32874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2982264" y="1258953"/>
            <a:ext cx="0" cy="76003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H="1">
            <a:off x="2557489" y="2018983"/>
            <a:ext cx="435001" cy="20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 rot="16200000">
            <a:off x="2249379" y="2289735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2243215" y="3386794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PFN202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2257480" y="443468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PFN203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5818123" y="1563242"/>
            <a:ext cx="20976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6026265" y="1562142"/>
            <a:ext cx="0" cy="97856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5494752" y="2532575"/>
            <a:ext cx="531514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3759515" y="2551625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표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169176"/>
              </p:ext>
            </p:extLst>
          </p:nvPr>
        </p:nvGraphicFramePr>
        <p:xfrm>
          <a:off x="4237160" y="2568514"/>
          <a:ext cx="11329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124" name="직선 연결선 123"/>
          <p:cNvCxnSpPr/>
          <p:nvPr/>
        </p:nvCxnSpPr>
        <p:spPr>
          <a:xfrm>
            <a:off x="3759515" y="3678148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3419872" y="3704188"/>
            <a:ext cx="2376264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Page Directory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5436096" y="2680690"/>
            <a:ext cx="1037071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 rot="16200000">
            <a:off x="3585935" y="2958447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4051164" y="2156648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651210" y="2257127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556459"/>
              </p:ext>
            </p:extLst>
          </p:nvPr>
        </p:nvGraphicFramePr>
        <p:xfrm>
          <a:off x="6617183" y="2573258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 rot="16200000">
            <a:off x="8009104" y="302385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 rot="16200000">
            <a:off x="6427967" y="2150717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 rot="16200000">
            <a:off x="6814673" y="2172841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552903" y="220953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6300192" y="3815835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1 of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PT:Not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Allocated]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00192" y="4391899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2 of PT: Not Allocated]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5486047" y="3518856"/>
            <a:ext cx="984379" cy="1432978"/>
            <a:chOff x="6081232" y="3909161"/>
            <a:chExt cx="984379" cy="1432978"/>
          </a:xfrm>
        </p:grpSpPr>
        <p:cxnSp>
          <p:nvCxnSpPr>
            <p:cNvPr id="136" name="직선 연결선 135"/>
            <p:cNvCxnSpPr/>
            <p:nvPr/>
          </p:nvCxnSpPr>
          <p:spPr>
            <a:xfrm>
              <a:off x="6568243" y="5332614"/>
              <a:ext cx="497368" cy="0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/>
            <p:cNvCxnSpPr/>
            <p:nvPr/>
          </p:nvCxnSpPr>
          <p:spPr>
            <a:xfrm>
              <a:off x="6081232" y="3909161"/>
              <a:ext cx="482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>
              <a:off x="6563232" y="3909161"/>
              <a:ext cx="0" cy="1432978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9" name="표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006633"/>
              </p:ext>
            </p:extLst>
          </p:nvPr>
        </p:nvGraphicFramePr>
        <p:xfrm>
          <a:off x="6587257" y="4843616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 rot="16200000">
            <a:off x="8013564" y="523646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6456167" y="3660062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6451650" y="4248491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455625" y="4830306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626410" y="6430602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6476964" y="2564904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6476376" y="5949280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4035606" y="1419865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21933" y="1369343"/>
            <a:ext cx="646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PBTR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7" name="표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94093"/>
              </p:ext>
            </p:extLst>
          </p:nvPr>
        </p:nvGraphicFramePr>
        <p:xfrm>
          <a:off x="892369" y="5194422"/>
          <a:ext cx="1636997" cy="123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 rot="16200000">
            <a:off x="2265315" y="563967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094060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678371"/>
            <a:ext cx="8786812" cy="5501258"/>
          </a:xfrm>
        </p:spPr>
        <p:txBody>
          <a:bodyPr/>
          <a:lstStyle/>
          <a:p>
            <a:r>
              <a:rPr lang="en-US" altLang="ko-KR" dirty="0"/>
              <a:t>Page Directory</a:t>
            </a:r>
          </a:p>
          <a:p>
            <a:pPr lvl="1"/>
            <a:r>
              <a:rPr lang="en-US" altLang="ko-KR" dirty="0"/>
              <a:t>The page directory contains one entry per page of the page table.</a:t>
            </a:r>
          </a:p>
          <a:p>
            <a:pPr lvl="1"/>
            <a:r>
              <a:rPr lang="en-US" altLang="ko-KR" dirty="0"/>
              <a:t>It consists of a number of</a:t>
            </a:r>
            <a:r>
              <a:rPr lang="en-US" altLang="ko-KR" dirty="0">
                <a:solidFill>
                  <a:schemeClr val="accent6"/>
                </a:solidFill>
              </a:rPr>
              <a:t> page directory entries(</a:t>
            </a:r>
            <a:r>
              <a:rPr lang="en-US" altLang="ko-KR" dirty="0" err="1">
                <a:solidFill>
                  <a:schemeClr val="accent6"/>
                </a:solidFill>
              </a:rPr>
              <a:t>PDE</a:t>
            </a:r>
            <a:r>
              <a:rPr lang="en-US" altLang="ko-KR" dirty="0">
                <a:solidFill>
                  <a:schemeClr val="accent6"/>
                </a:solidFill>
              </a:rPr>
              <a:t>).</a:t>
            </a:r>
          </a:p>
          <a:p>
            <a:pPr lvl="1"/>
            <a:r>
              <a:rPr lang="en-US" altLang="ko-KR" dirty="0"/>
              <a:t>PDE has a valid bit and page frame number(PFN).</a:t>
            </a:r>
          </a:p>
          <a:p>
            <a:r>
              <a:rPr lang="en-US" altLang="ko-KR" dirty="0"/>
              <a:t>Advantage</a:t>
            </a:r>
          </a:p>
          <a:p>
            <a:pPr lvl="1"/>
            <a:r>
              <a:rPr lang="en-US" altLang="ko-KR" dirty="0"/>
              <a:t>Only allocates page-table space in proportion to the amount of address space you are using.</a:t>
            </a:r>
          </a:p>
          <a:p>
            <a:pPr lvl="1"/>
            <a:r>
              <a:rPr lang="en-US" altLang="ko-KR" dirty="0"/>
              <a:t>The OS can grab the next free page when it needs to allocate or grow a page table.</a:t>
            </a:r>
          </a:p>
          <a:p>
            <a:r>
              <a:rPr lang="en-US" altLang="ko-KR" dirty="0"/>
              <a:t>Disadvantage</a:t>
            </a:r>
          </a:p>
          <a:p>
            <a:pPr lvl="1"/>
            <a:r>
              <a:rPr lang="en-US" altLang="ko-KR" dirty="0"/>
              <a:t>Multi-level table is a small example of a </a:t>
            </a:r>
            <a:r>
              <a:rPr lang="en-US" altLang="ko-KR" dirty="0">
                <a:solidFill>
                  <a:schemeClr val="accent6"/>
                </a:solidFill>
              </a:rPr>
              <a:t>time-space trade-off.</a:t>
            </a:r>
          </a:p>
          <a:p>
            <a:pPr lvl="1"/>
            <a:r>
              <a:rPr lang="en-US" altLang="ko-KR" dirty="0">
                <a:solidFill>
                  <a:schemeClr val="accent6"/>
                </a:solidFill>
              </a:rPr>
              <a:t>Complexity.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697593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337919"/>
              </p:ext>
            </p:extLst>
          </p:nvPr>
        </p:nvGraphicFramePr>
        <p:xfrm>
          <a:off x="2555776" y="2051129"/>
          <a:ext cx="1152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92683" y="2128889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0000 0000</a:t>
            </a:r>
          </a:p>
          <a:p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92682" y="2336638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0000 0001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...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9859" y="4306911"/>
            <a:ext cx="918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1111 1110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1111 1111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D3E9B5D-4F61-E240-AEDC-AB5C6B69A99A}"/>
              </a:ext>
            </a:extLst>
          </p:cNvPr>
          <p:cNvSpPr txBox="1"/>
          <p:nvPr/>
        </p:nvSpPr>
        <p:spPr>
          <a:xfrm>
            <a:off x="1582783" y="3125821"/>
            <a:ext cx="918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0000 0100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0000 0101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…..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xmlns="" id="{80BBA508-5D64-2D4B-865E-BEA2F8F4E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4291" y="1974596"/>
            <a:ext cx="3816424" cy="1827020"/>
          </a:xfrm>
        </p:spPr>
        <p:txBody>
          <a:bodyPr/>
          <a:lstStyle/>
          <a:p>
            <a:r>
              <a:rPr lang="en-US" altLang="ko-KR" sz="1600" dirty="0">
                <a:latin typeface="Helvetica" pitchFamily="2" charset="0"/>
              </a:rPr>
              <a:t>Page 0,1: code</a:t>
            </a:r>
          </a:p>
          <a:p>
            <a:r>
              <a:rPr lang="en-US" altLang="ko-KR" sz="1600" dirty="0">
                <a:latin typeface="Helvetica" pitchFamily="2" charset="0"/>
              </a:rPr>
              <a:t>Page 4,5: heap</a:t>
            </a:r>
          </a:p>
          <a:p>
            <a:r>
              <a:rPr lang="en-US" altLang="ko-KR" sz="1600" dirty="0">
                <a:latin typeface="Helvetica" pitchFamily="2" charset="0"/>
              </a:rPr>
              <a:t>Page 254, 255: stack</a:t>
            </a:r>
            <a:endParaRPr lang="ko-KR" altLang="en-US" sz="16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64415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4" name="내용 개체 틀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815357"/>
              </p:ext>
            </p:extLst>
          </p:nvPr>
        </p:nvGraphicFramePr>
        <p:xfrm>
          <a:off x="2411760" y="1103170"/>
          <a:ext cx="4392488" cy="2127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Detail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Address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space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16 KB (2^14 Byte)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size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64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byte 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Virtual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address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 bit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 bit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Offset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 bit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 table entry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 Byte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19772" y="3293057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16-KB Address Space With 64-byte Pages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103634"/>
              </p:ext>
            </p:extLst>
          </p:nvPr>
        </p:nvGraphicFramePr>
        <p:xfrm>
          <a:off x="1403648" y="3924879"/>
          <a:ext cx="645604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978562" y="4428936"/>
            <a:ext cx="538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92656" y="4390005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1408673" y="428317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5095288" y="427961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427722" y="4385835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110572" y="4390005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7869458" y="428378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내용 개체 틀 6">
            <a:extLst>
              <a:ext uri="{FF2B5EF4-FFF2-40B4-BE49-F238E27FC236}">
                <a16:creationId xmlns:a16="http://schemas.microsoft.com/office/drawing/2014/main" xmlns="" id="{38D36BB2-1C33-CC49-8D4D-CE9BDF668D91}"/>
              </a:ext>
            </a:extLst>
          </p:cNvPr>
          <p:cNvSpPr txBox="1">
            <a:spLocks/>
          </p:cNvSpPr>
          <p:nvPr/>
        </p:nvSpPr>
        <p:spPr bwMode="auto">
          <a:xfrm>
            <a:off x="607697" y="4753253"/>
            <a:ext cx="6372708" cy="1578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600" kern="0" dirty="0"/>
              <a:t>Single level paging</a:t>
            </a:r>
          </a:p>
          <a:p>
            <a:pPr lvl="1"/>
            <a:r>
              <a:rPr lang="en-US" altLang="ko-KR" sz="1400" kern="0" dirty="0"/>
              <a:t>256 page table entries: 2^8 entries</a:t>
            </a:r>
          </a:p>
          <a:p>
            <a:pPr lvl="1"/>
            <a:r>
              <a:rPr lang="en-US" altLang="ko-KR" sz="1400" kern="0" dirty="0"/>
              <a:t>Page table size: 256 * 4 Byte = 1 Kbyte</a:t>
            </a:r>
          </a:p>
          <a:p>
            <a:pPr lvl="1"/>
            <a:r>
              <a:rPr lang="en-US" altLang="ko-KR" sz="1400" kern="0" dirty="0"/>
              <a:t>Sixteen pages (64 byte each): 1024/64 = 16</a:t>
            </a:r>
          </a:p>
        </p:txBody>
      </p:sp>
    </p:spTree>
    <p:extLst>
      <p:ext uri="{BB962C8B-B14F-4D97-AF65-F5344CB8AC3E}">
        <p14:creationId xmlns:p14="http://schemas.microsoft.com/office/powerpoint/2010/main" val="2749997856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B35D795-73AA-8843-903F-AF0DE10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</a:t>
            </a:r>
            <a:r>
              <a:rPr kumimoji="1" lang="en-US" altLang="ko-KR" dirty="0" smtClean="0"/>
              <a:t>xample: single level page table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4815A042-5A53-954D-A6A0-8E54DC825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0788384-A243-4B43-82AF-BB5CE1D84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CD39A19-E8AF-794C-AA01-4661FFC8984D}"/>
              </a:ext>
            </a:extLst>
          </p:cNvPr>
          <p:cNvSpPr/>
          <p:nvPr/>
        </p:nvSpPr>
        <p:spPr>
          <a:xfrm>
            <a:off x="4283968" y="1124744"/>
            <a:ext cx="1152128" cy="5112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3706971-86CA-784E-84C6-26B53911C875}"/>
              </a:ext>
            </a:extLst>
          </p:cNvPr>
          <p:cNvSpPr/>
          <p:nvPr/>
        </p:nvSpPr>
        <p:spPr>
          <a:xfrm>
            <a:off x="4283968" y="112474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825967D5-6390-444E-91A2-01355AAE6966}"/>
              </a:ext>
            </a:extLst>
          </p:cNvPr>
          <p:cNvSpPr/>
          <p:nvPr/>
        </p:nvSpPr>
        <p:spPr>
          <a:xfrm>
            <a:off x="4283968" y="1556792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BF69E507-FC35-3942-8E8E-3B7A3135A5DC}"/>
              </a:ext>
            </a:extLst>
          </p:cNvPr>
          <p:cNvSpPr/>
          <p:nvPr/>
        </p:nvSpPr>
        <p:spPr>
          <a:xfrm>
            <a:off x="4283968" y="580526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1053B13-FCA2-574E-ACA8-19161F8CA84E}"/>
              </a:ext>
            </a:extLst>
          </p:cNvPr>
          <p:cNvSpPr/>
          <p:nvPr/>
        </p:nvSpPr>
        <p:spPr>
          <a:xfrm>
            <a:off x="4283968" y="1988840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xmlns="" id="{1F7A46E4-C50D-6044-92A6-082418CF1FEF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4283968" y="134076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xmlns="" id="{C09034FE-3856-DA4E-8677-4A2C8B1C4C4F}"/>
              </a:ext>
            </a:extLst>
          </p:cNvPr>
          <p:cNvCxnSpPr/>
          <p:nvPr/>
        </p:nvCxnSpPr>
        <p:spPr>
          <a:xfrm>
            <a:off x="4283968" y="1772816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xmlns="" id="{A5066C1C-F412-2E46-9308-8BA2AF0DE0ED}"/>
              </a:ext>
            </a:extLst>
          </p:cNvPr>
          <p:cNvCxnSpPr/>
          <p:nvPr/>
        </p:nvCxnSpPr>
        <p:spPr>
          <a:xfrm>
            <a:off x="4283968" y="2204864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xmlns="" id="{AF58445E-5736-C649-8C55-53C6CAD42864}"/>
              </a:ext>
            </a:extLst>
          </p:cNvPr>
          <p:cNvCxnSpPr/>
          <p:nvPr/>
        </p:nvCxnSpPr>
        <p:spPr>
          <a:xfrm>
            <a:off x="4283968" y="602128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xmlns="" id="{334719DF-723D-C846-A27C-D028216EAC61}"/>
              </a:ext>
            </a:extLst>
          </p:cNvPr>
          <p:cNvCxnSpPr>
            <a:cxnSpLocks/>
          </p:cNvCxnSpPr>
          <p:nvPr/>
        </p:nvCxnSpPr>
        <p:spPr>
          <a:xfrm>
            <a:off x="4139952" y="1124744"/>
            <a:ext cx="0" cy="511256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xmlns="" id="{0606C70D-7AF1-1C47-B3B7-48B6778CFC88}"/>
              </a:ext>
            </a:extLst>
          </p:cNvPr>
          <p:cNvCxnSpPr/>
          <p:nvPr/>
        </p:nvCxnSpPr>
        <p:spPr>
          <a:xfrm>
            <a:off x="4067944" y="112474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xmlns="" id="{7D028880-16AD-BF46-8441-8290587ACE72}"/>
              </a:ext>
            </a:extLst>
          </p:cNvPr>
          <p:cNvCxnSpPr/>
          <p:nvPr/>
        </p:nvCxnSpPr>
        <p:spPr>
          <a:xfrm>
            <a:off x="4067944" y="623731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8165F11D-F0AA-624E-9ED6-78CD82DA998D}"/>
              </a:ext>
            </a:extLst>
          </p:cNvPr>
          <p:cNvSpPr txBox="1"/>
          <p:nvPr/>
        </p:nvSpPr>
        <p:spPr>
          <a:xfrm>
            <a:off x="2033052" y="3087078"/>
            <a:ext cx="2088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2^8 page table entries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6E8EF40-2B26-EC4C-AAB8-5EF4AB0695A0}"/>
              </a:ext>
            </a:extLst>
          </p:cNvPr>
          <p:cNvSpPr txBox="1"/>
          <p:nvPr/>
        </p:nvSpPr>
        <p:spPr>
          <a:xfrm>
            <a:off x="4370529" y="10830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10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9A3766D-D289-774F-B3A8-D2EAC6AC6EE2}"/>
              </a:ext>
            </a:extLst>
          </p:cNvPr>
          <p:cNvSpPr txBox="1"/>
          <p:nvPr/>
        </p:nvSpPr>
        <p:spPr>
          <a:xfrm>
            <a:off x="4370749" y="1306249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23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7F7F80F-7A7A-5146-A407-187A59D3518A}"/>
              </a:ext>
            </a:extLst>
          </p:cNvPr>
          <p:cNvSpPr txBox="1"/>
          <p:nvPr/>
        </p:nvSpPr>
        <p:spPr>
          <a:xfrm>
            <a:off x="4394855" y="194353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80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E826C1A-3AD8-6A4D-8B9B-19147A9DD6B8}"/>
              </a:ext>
            </a:extLst>
          </p:cNvPr>
          <p:cNvSpPr txBox="1"/>
          <p:nvPr/>
        </p:nvSpPr>
        <p:spPr>
          <a:xfrm>
            <a:off x="4395966" y="216052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59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0B4CC17E-B24C-D54C-9F9A-1F721801FA1E}"/>
              </a:ext>
            </a:extLst>
          </p:cNvPr>
          <p:cNvSpPr txBox="1"/>
          <p:nvPr/>
        </p:nvSpPr>
        <p:spPr>
          <a:xfrm>
            <a:off x="4406190" y="5761634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4B0F7099-59B3-9747-973E-3DDE0E4142A7}"/>
              </a:ext>
            </a:extLst>
          </p:cNvPr>
          <p:cNvSpPr txBox="1"/>
          <p:nvPr/>
        </p:nvSpPr>
        <p:spPr>
          <a:xfrm>
            <a:off x="4406190" y="59883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45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8B978FB6-E476-1748-B758-FB393676FC2F}"/>
              </a:ext>
            </a:extLst>
          </p:cNvPr>
          <p:cNvSpPr/>
          <p:nvPr/>
        </p:nvSpPr>
        <p:spPr>
          <a:xfrm>
            <a:off x="4283968" y="1124744"/>
            <a:ext cx="1152128" cy="158417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1EDA56D1-9568-1E4C-B5B6-D257E15CE60B}"/>
              </a:ext>
            </a:extLst>
          </p:cNvPr>
          <p:cNvSpPr/>
          <p:nvPr/>
        </p:nvSpPr>
        <p:spPr>
          <a:xfrm>
            <a:off x="4283968" y="2702039"/>
            <a:ext cx="1152128" cy="158417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3ED2548-5803-8940-9BC9-61E68CD252C5}"/>
              </a:ext>
            </a:extLst>
          </p:cNvPr>
          <p:cNvSpPr txBox="1"/>
          <p:nvPr/>
        </p:nvSpPr>
        <p:spPr>
          <a:xfrm>
            <a:off x="5471757" y="1679320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0</a:t>
            </a:r>
            <a:endParaRPr kumimoji="1"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58CF6FD5-5C7B-0248-8E84-431FEE38DBFB}"/>
              </a:ext>
            </a:extLst>
          </p:cNvPr>
          <p:cNvSpPr txBox="1"/>
          <p:nvPr/>
        </p:nvSpPr>
        <p:spPr>
          <a:xfrm>
            <a:off x="5460422" y="3025067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</a:t>
            </a:r>
            <a:endParaRPr kumimoji="1" lang="ko-KR" alt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2F90BCC5-8D63-5A41-B460-91A61AD004FB}"/>
              </a:ext>
            </a:extLst>
          </p:cNvPr>
          <p:cNvSpPr txBox="1"/>
          <p:nvPr/>
        </p:nvSpPr>
        <p:spPr>
          <a:xfrm>
            <a:off x="5619235" y="5607745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15</a:t>
            </a:r>
            <a:endParaRPr kumimoji="1" lang="ko-KR" altLang="en-US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2E310555-5AD5-544C-938B-DE2726F0E80E}"/>
              </a:ext>
            </a:extLst>
          </p:cNvPr>
          <p:cNvSpPr/>
          <p:nvPr/>
        </p:nvSpPr>
        <p:spPr>
          <a:xfrm>
            <a:off x="4283968" y="4653136"/>
            <a:ext cx="1152128" cy="158417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D1424F9-BCF2-9E4C-AA0E-6BE0840EA657}"/>
              </a:ext>
            </a:extLst>
          </p:cNvPr>
          <p:cNvSpPr txBox="1"/>
          <p:nvPr/>
        </p:nvSpPr>
        <p:spPr>
          <a:xfrm>
            <a:off x="4555558" y="4192281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 . .</a:t>
            </a:r>
            <a:endParaRPr kumimoji="1" lang="ko-KR" altLang="en-US" dirty="0"/>
          </a:p>
        </p:txBody>
      </p: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xmlns="" id="{5E7BB407-09C9-F24F-9587-5064F4D9CC97}"/>
              </a:ext>
            </a:extLst>
          </p:cNvPr>
          <p:cNvCxnSpPr>
            <a:cxnSpLocks/>
          </p:cNvCxnSpPr>
          <p:nvPr/>
        </p:nvCxnSpPr>
        <p:spPr>
          <a:xfrm flipV="1">
            <a:off x="5460422" y="1124744"/>
            <a:ext cx="910235" cy="396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xmlns="" id="{E7EE8A8E-3294-8D43-89AC-8A4BEC16C701}"/>
              </a:ext>
            </a:extLst>
          </p:cNvPr>
          <p:cNvCxnSpPr>
            <a:cxnSpLocks/>
          </p:cNvCxnSpPr>
          <p:nvPr/>
        </p:nvCxnSpPr>
        <p:spPr>
          <a:xfrm>
            <a:off x="6300192" y="1124744"/>
            <a:ext cx="0" cy="15555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891DF117-E28D-6249-88F4-C356CA1DC7A5}"/>
              </a:ext>
            </a:extLst>
          </p:cNvPr>
          <p:cNvSpPr txBox="1"/>
          <p:nvPr/>
        </p:nvSpPr>
        <p:spPr>
          <a:xfrm>
            <a:off x="6253449" y="1716718"/>
            <a:ext cx="119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16 entries</a:t>
            </a:r>
            <a:endParaRPr kumimoji="1" lang="ko-KR" altLang="en-US" sz="1600" dirty="0"/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xmlns="" id="{6F7B7132-6BB0-3D48-8671-3EC1BCD27B01}"/>
              </a:ext>
            </a:extLst>
          </p:cNvPr>
          <p:cNvCxnSpPr>
            <a:cxnSpLocks/>
          </p:cNvCxnSpPr>
          <p:nvPr/>
        </p:nvCxnSpPr>
        <p:spPr>
          <a:xfrm flipV="1">
            <a:off x="5477034" y="2704957"/>
            <a:ext cx="910235" cy="396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676436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Example: two level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3" y="880070"/>
            <a:ext cx="8533581" cy="5501258"/>
          </a:xfrm>
        </p:spPr>
        <p:txBody>
          <a:bodyPr/>
          <a:lstStyle/>
          <a:p>
            <a:r>
              <a:rPr lang="en-US" altLang="ko-KR" sz="1800" dirty="0"/>
              <a:t>Page directory index </a:t>
            </a:r>
          </a:p>
          <a:p>
            <a:pPr lvl="1"/>
            <a:r>
              <a:rPr lang="en-US" altLang="ko-KR" sz="1600" dirty="0"/>
              <a:t>A page table consists of 16 pages.</a:t>
            </a:r>
          </a:p>
          <a:p>
            <a:pPr lvl="1"/>
            <a:r>
              <a:rPr lang="en-US" altLang="ko-KR" sz="1600" dirty="0"/>
              <a:t>16 entries for page directory: one entry per page of the page table.</a:t>
            </a:r>
          </a:p>
          <a:p>
            <a:pPr lvl="1"/>
            <a:r>
              <a:rPr lang="en-US" altLang="ko-KR" sz="1600" dirty="0"/>
              <a:t>16* 4 byte = 64 byte is required for page directory. </a:t>
            </a:r>
            <a:r>
              <a:rPr lang="en-US" altLang="ko-KR" sz="1600" dirty="0">
                <a:sym typeface="Wingdings" pitchFamily="2" charset="2"/>
              </a:rPr>
              <a:t> it can fit in a page</a:t>
            </a:r>
            <a:r>
              <a:rPr lang="en-US" altLang="ko-KR" sz="1600" dirty="0" smtClean="0">
                <a:sym typeface="Wingdings" pitchFamily="2" charset="2"/>
              </a:rPr>
              <a:t>.</a:t>
            </a:r>
            <a:endParaRPr lang="en-US" altLang="ko-KR" sz="1600" dirty="0"/>
          </a:p>
          <a:p>
            <a:pPr lvl="1"/>
            <a:r>
              <a:rPr lang="en-US" altLang="ko-KR" sz="1600" dirty="0"/>
              <a:t>4 bits for page directory index.</a:t>
            </a:r>
          </a:p>
          <a:p>
            <a:pPr lvl="1"/>
            <a:endParaRPr lang="en-US" altLang="ko-KR" sz="1400" dirty="0"/>
          </a:p>
          <a:p>
            <a:pPr marL="457200" lvl="1" indent="0" algn="ctr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PDEAddr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PageDirBase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PDIndex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(PDE))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en-US" altLang="ko-KR" sz="1800" dirty="0"/>
              <a:t>If the page-directory entry is </a:t>
            </a: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</a:rPr>
              <a:t>invalid, </a:t>
            </a:r>
            <a:r>
              <a:rPr lang="en-US" altLang="ko-KR" sz="1800" dirty="0"/>
              <a:t>raise an exception (The access is invalid).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319909"/>
              </p:ext>
            </p:extLst>
          </p:nvPr>
        </p:nvGraphicFramePr>
        <p:xfrm>
          <a:off x="1362942" y="4345358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937856" y="4849415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51950" y="4810484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 flipH="1">
            <a:off x="1367967" y="470365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5054582" y="470009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387016" y="4806314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5069866" y="4810484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7828752" y="4704263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>
            <a:off x="1366361" y="4156511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3216939" y="413416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366362" y="4232062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13993" y="3849464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784291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B35D795-73AA-8843-903F-AF0DE10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</a:t>
            </a:r>
            <a:r>
              <a:rPr kumimoji="1" lang="en-US" altLang="ko-KR" dirty="0" smtClean="0"/>
              <a:t>xample: two level paging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4815A042-5A53-954D-A6A0-8E54DC825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0788384-A243-4B43-82AF-BB5CE1D84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F197CF14-4E4F-0A47-9928-C385F1E7DBD9}"/>
              </a:ext>
            </a:extLst>
          </p:cNvPr>
          <p:cNvSpPr/>
          <p:nvPr/>
        </p:nvSpPr>
        <p:spPr>
          <a:xfrm>
            <a:off x="5652120" y="1340768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744783CA-F2CA-DE44-A2D6-D8D144880057}"/>
              </a:ext>
            </a:extLst>
          </p:cNvPr>
          <p:cNvSpPr/>
          <p:nvPr/>
        </p:nvSpPr>
        <p:spPr>
          <a:xfrm>
            <a:off x="5652120" y="2398367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57DD296B-EA8F-3F49-B587-EC81AC3D9E43}"/>
              </a:ext>
            </a:extLst>
          </p:cNvPr>
          <p:cNvSpPr/>
          <p:nvPr/>
        </p:nvSpPr>
        <p:spPr>
          <a:xfrm>
            <a:off x="5652120" y="3502597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49CBF70F-1B1F-B04E-9DFC-ED2918B35897}"/>
              </a:ext>
            </a:extLst>
          </p:cNvPr>
          <p:cNvSpPr/>
          <p:nvPr/>
        </p:nvSpPr>
        <p:spPr>
          <a:xfrm>
            <a:off x="2771800" y="2758543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127CD079-0CAF-774D-B0DF-6D241277DA70}"/>
              </a:ext>
            </a:extLst>
          </p:cNvPr>
          <p:cNvSpPr/>
          <p:nvPr/>
        </p:nvSpPr>
        <p:spPr>
          <a:xfrm>
            <a:off x="5652120" y="5301208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31FB00D3-BB83-D247-8E41-869C4A0D3FA1}"/>
              </a:ext>
            </a:extLst>
          </p:cNvPr>
          <p:cNvSpPr txBox="1"/>
          <p:nvPr/>
        </p:nvSpPr>
        <p:spPr>
          <a:xfrm>
            <a:off x="6660232" y="167920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0</a:t>
            </a:r>
            <a:endParaRPr kumimoji="1"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585C893-DE87-9C41-A01C-337E1B616789}"/>
              </a:ext>
            </a:extLst>
          </p:cNvPr>
          <p:cNvSpPr txBox="1"/>
          <p:nvPr/>
        </p:nvSpPr>
        <p:spPr>
          <a:xfrm>
            <a:off x="6660232" y="2676526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</a:t>
            </a:r>
            <a:endParaRPr kumimoji="1"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80C73776-B701-D542-AA00-5EA9B618B16F}"/>
              </a:ext>
            </a:extLst>
          </p:cNvPr>
          <p:cNvSpPr txBox="1"/>
          <p:nvPr/>
        </p:nvSpPr>
        <p:spPr>
          <a:xfrm>
            <a:off x="6660232" y="3722258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2</a:t>
            </a:r>
            <a:endParaRPr kumimoji="1"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0DCA2FBB-CDB8-C946-94E9-C8235A44D53F}"/>
              </a:ext>
            </a:extLst>
          </p:cNvPr>
          <p:cNvSpPr txBox="1"/>
          <p:nvPr/>
        </p:nvSpPr>
        <p:spPr>
          <a:xfrm>
            <a:off x="6660232" y="5579367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15</a:t>
            </a:r>
            <a:endParaRPr kumimoji="1"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78A562DF-2A52-9043-BB82-566B97B9D4CC}"/>
              </a:ext>
            </a:extLst>
          </p:cNvPr>
          <p:cNvSpPr txBox="1"/>
          <p:nvPr/>
        </p:nvSpPr>
        <p:spPr>
          <a:xfrm>
            <a:off x="5419756" y="943779"/>
            <a:ext cx="198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Page Table pages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4CC45955-543B-E348-8D87-14DE3E2C2CBB}"/>
              </a:ext>
            </a:extLst>
          </p:cNvPr>
          <p:cNvSpPr txBox="1"/>
          <p:nvPr/>
        </p:nvSpPr>
        <p:spPr>
          <a:xfrm>
            <a:off x="2497171" y="2368749"/>
            <a:ext cx="198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Page page directory</a:t>
            </a:r>
            <a:endParaRPr kumimoji="1" lang="ko-KR" altLang="en-US" sz="1400" dirty="0">
              <a:latin typeface="Helvetica" pitchFamily="2" charset="0"/>
            </a:endParaRPr>
          </a:p>
        </p:txBody>
      </p: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xmlns="" id="{00775AB2-7774-5942-9638-126566293143}"/>
              </a:ext>
            </a:extLst>
          </p:cNvPr>
          <p:cNvCxnSpPr>
            <a:cxnSpLocks/>
          </p:cNvCxnSpPr>
          <p:nvPr/>
        </p:nvCxnSpPr>
        <p:spPr>
          <a:xfrm flipV="1">
            <a:off x="3275856" y="1340770"/>
            <a:ext cx="2353117" cy="15774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[E] 46">
            <a:extLst>
              <a:ext uri="{FF2B5EF4-FFF2-40B4-BE49-F238E27FC236}">
                <a16:creationId xmlns:a16="http://schemas.microsoft.com/office/drawing/2014/main" xmlns="" id="{FB9918F0-240D-CF40-B79A-07CB807EE293}"/>
              </a:ext>
            </a:extLst>
          </p:cNvPr>
          <p:cNvCxnSpPr>
            <a:cxnSpLocks/>
          </p:cNvCxnSpPr>
          <p:nvPr/>
        </p:nvCxnSpPr>
        <p:spPr>
          <a:xfrm flipV="1">
            <a:off x="3275856" y="2398367"/>
            <a:ext cx="2376264" cy="657318"/>
          </a:xfrm>
          <a:prstGeom prst="bentConnector3">
            <a:avLst>
              <a:gd name="adj1" fmla="val 53754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xmlns="" id="{8EAA2579-1A0A-F84E-881B-3FC8EFA0DF3A}"/>
              </a:ext>
            </a:extLst>
          </p:cNvPr>
          <p:cNvCxnSpPr>
            <a:cxnSpLocks/>
          </p:cNvCxnSpPr>
          <p:nvPr/>
        </p:nvCxnSpPr>
        <p:spPr>
          <a:xfrm>
            <a:off x="3275856" y="3208085"/>
            <a:ext cx="2376264" cy="2842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xmlns="" id="{C32409B0-91CC-7142-9F4D-986A3754A79B}"/>
              </a:ext>
            </a:extLst>
          </p:cNvPr>
          <p:cNvCxnSpPr>
            <a:cxnSpLocks/>
          </p:cNvCxnSpPr>
          <p:nvPr/>
        </p:nvCxnSpPr>
        <p:spPr>
          <a:xfrm>
            <a:off x="3275856" y="3501008"/>
            <a:ext cx="2376264" cy="1794480"/>
          </a:xfrm>
          <a:prstGeom prst="bentConnector3">
            <a:avLst>
              <a:gd name="adj1" fmla="val 45307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[R] 57">
            <a:extLst>
              <a:ext uri="{FF2B5EF4-FFF2-40B4-BE49-F238E27FC236}">
                <a16:creationId xmlns:a16="http://schemas.microsoft.com/office/drawing/2014/main" xmlns="" id="{85103BFC-9882-9944-B77A-578E1D6EB7AC}"/>
              </a:ext>
            </a:extLst>
          </p:cNvPr>
          <p:cNvCxnSpPr/>
          <p:nvPr/>
        </p:nvCxnSpPr>
        <p:spPr>
          <a:xfrm>
            <a:off x="2497171" y="2758543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xmlns="" id="{A7E9CDDC-1CCE-9E42-B348-23200E64F3A6}"/>
              </a:ext>
            </a:extLst>
          </p:cNvPr>
          <p:cNvCxnSpPr/>
          <p:nvPr/>
        </p:nvCxnSpPr>
        <p:spPr>
          <a:xfrm>
            <a:off x="2497171" y="364502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xmlns="" id="{33BC505A-C471-F848-91DD-269F832A487F}"/>
              </a:ext>
            </a:extLst>
          </p:cNvPr>
          <p:cNvCxnSpPr/>
          <p:nvPr/>
        </p:nvCxnSpPr>
        <p:spPr>
          <a:xfrm>
            <a:off x="2627784" y="2758543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B934E8E3-2C2D-F74C-A357-CE17AC3A18BA}"/>
              </a:ext>
            </a:extLst>
          </p:cNvPr>
          <p:cNvSpPr txBox="1"/>
          <p:nvPr/>
        </p:nvSpPr>
        <p:spPr>
          <a:xfrm>
            <a:off x="1562210" y="2984303"/>
            <a:ext cx="1065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xmlns="" id="{B826C8BB-2C62-3643-AA4F-74B485387977}"/>
              </a:ext>
            </a:extLst>
          </p:cNvPr>
          <p:cNvCxnSpPr/>
          <p:nvPr/>
        </p:nvCxnSpPr>
        <p:spPr>
          <a:xfrm>
            <a:off x="5305483" y="1340768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xmlns="" id="{DFB1AA8C-8667-F44A-9F6D-91DBA66BB813}"/>
              </a:ext>
            </a:extLst>
          </p:cNvPr>
          <p:cNvCxnSpPr/>
          <p:nvPr/>
        </p:nvCxnSpPr>
        <p:spPr>
          <a:xfrm>
            <a:off x="5377491" y="220486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xmlns="" id="{3C0C912D-CA2B-AD43-A719-04A503579406}"/>
              </a:ext>
            </a:extLst>
          </p:cNvPr>
          <p:cNvCxnSpPr/>
          <p:nvPr/>
        </p:nvCxnSpPr>
        <p:spPr>
          <a:xfrm>
            <a:off x="5508104" y="134076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0E53D50E-56AD-3A45-AA1C-97827FCC8AAF}"/>
              </a:ext>
            </a:extLst>
          </p:cNvPr>
          <p:cNvSpPr txBox="1"/>
          <p:nvPr/>
        </p:nvSpPr>
        <p:spPr>
          <a:xfrm>
            <a:off x="4526111" y="1566528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68" name="직선 연결선[R] 67">
            <a:extLst>
              <a:ext uri="{FF2B5EF4-FFF2-40B4-BE49-F238E27FC236}">
                <a16:creationId xmlns:a16="http://schemas.microsoft.com/office/drawing/2014/main" xmlns="" id="{1102C8A4-4A9F-D745-A955-1D765E6B3102}"/>
              </a:ext>
            </a:extLst>
          </p:cNvPr>
          <p:cNvCxnSpPr/>
          <p:nvPr/>
        </p:nvCxnSpPr>
        <p:spPr>
          <a:xfrm>
            <a:off x="5377491" y="328498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xmlns="" id="{20E1D200-1955-204C-B81D-99FB6E166270}"/>
              </a:ext>
            </a:extLst>
          </p:cNvPr>
          <p:cNvCxnSpPr/>
          <p:nvPr/>
        </p:nvCxnSpPr>
        <p:spPr>
          <a:xfrm>
            <a:off x="5508104" y="242088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2BADCAD2-AADC-2741-86C4-62B500D25BD2}"/>
              </a:ext>
            </a:extLst>
          </p:cNvPr>
          <p:cNvSpPr txBox="1"/>
          <p:nvPr/>
        </p:nvSpPr>
        <p:spPr>
          <a:xfrm>
            <a:off x="4526111" y="2646648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71" name="직선 연결선[R] 70">
            <a:extLst>
              <a:ext uri="{FF2B5EF4-FFF2-40B4-BE49-F238E27FC236}">
                <a16:creationId xmlns:a16="http://schemas.microsoft.com/office/drawing/2014/main" xmlns="" id="{DB6E01A1-BC0A-5D4A-AE68-4045D08E1EA4}"/>
              </a:ext>
            </a:extLst>
          </p:cNvPr>
          <p:cNvCxnSpPr/>
          <p:nvPr/>
        </p:nvCxnSpPr>
        <p:spPr>
          <a:xfrm>
            <a:off x="5434954" y="3501008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[R] 71">
            <a:extLst>
              <a:ext uri="{FF2B5EF4-FFF2-40B4-BE49-F238E27FC236}">
                <a16:creationId xmlns:a16="http://schemas.microsoft.com/office/drawing/2014/main" xmlns="" id="{EC49EA6F-3803-F74D-869D-FF8FC3A2463A}"/>
              </a:ext>
            </a:extLst>
          </p:cNvPr>
          <p:cNvCxnSpPr/>
          <p:nvPr/>
        </p:nvCxnSpPr>
        <p:spPr>
          <a:xfrm>
            <a:off x="5364088" y="436510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xmlns="" id="{21EFF099-6196-E54E-BDC9-D2F4CC047D6E}"/>
              </a:ext>
            </a:extLst>
          </p:cNvPr>
          <p:cNvCxnSpPr/>
          <p:nvPr/>
        </p:nvCxnSpPr>
        <p:spPr>
          <a:xfrm>
            <a:off x="5508104" y="350100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6BABB660-C527-2149-B120-CB6B90B8916C}"/>
              </a:ext>
            </a:extLst>
          </p:cNvPr>
          <p:cNvSpPr txBox="1"/>
          <p:nvPr/>
        </p:nvSpPr>
        <p:spPr>
          <a:xfrm>
            <a:off x="4499992" y="3704383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75" name="직선 연결선[R] 74">
            <a:extLst>
              <a:ext uri="{FF2B5EF4-FFF2-40B4-BE49-F238E27FC236}">
                <a16:creationId xmlns:a16="http://schemas.microsoft.com/office/drawing/2014/main" xmlns="" id="{7EA1C908-24CE-4D48-B0F8-3509E68E446F}"/>
              </a:ext>
            </a:extLst>
          </p:cNvPr>
          <p:cNvCxnSpPr/>
          <p:nvPr/>
        </p:nvCxnSpPr>
        <p:spPr>
          <a:xfrm>
            <a:off x="5449499" y="5301208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[R] 75">
            <a:extLst>
              <a:ext uri="{FF2B5EF4-FFF2-40B4-BE49-F238E27FC236}">
                <a16:creationId xmlns:a16="http://schemas.microsoft.com/office/drawing/2014/main" xmlns="" id="{87522092-A105-D04D-A2A0-F681513B3166}"/>
              </a:ext>
            </a:extLst>
          </p:cNvPr>
          <p:cNvCxnSpPr/>
          <p:nvPr/>
        </p:nvCxnSpPr>
        <p:spPr>
          <a:xfrm>
            <a:off x="5364088" y="616530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xmlns="" id="{A95A173E-4C07-2B46-87E9-B6FC9DD121F0}"/>
              </a:ext>
            </a:extLst>
          </p:cNvPr>
          <p:cNvCxnSpPr/>
          <p:nvPr/>
        </p:nvCxnSpPr>
        <p:spPr>
          <a:xfrm>
            <a:off x="5508104" y="530120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2384428C-4B5F-D34A-8E8C-3F0AFB8C2D4B}"/>
              </a:ext>
            </a:extLst>
          </p:cNvPr>
          <p:cNvSpPr txBox="1"/>
          <p:nvPr/>
        </p:nvSpPr>
        <p:spPr>
          <a:xfrm>
            <a:off x="4427984" y="5526968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61957431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Page Table index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Page table index</a:t>
            </a:r>
          </a:p>
          <a:p>
            <a:pPr lvl="1"/>
            <a:r>
              <a:rPr lang="en-US" altLang="ko-KR" dirty="0"/>
              <a:t>It is used to find the address of the page table entry.</a:t>
            </a:r>
          </a:p>
          <a:p>
            <a:pPr lvl="1"/>
            <a:endParaRPr lang="en-US" altLang="ko-KR" dirty="0"/>
          </a:p>
          <a:p>
            <a:pPr marL="457200" lvl="1" indent="0" algn="ctr">
              <a:buNone/>
            </a:pP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(PDE.PFN &lt;&lt;SHIFT) + (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PTIndex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(PTE))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0498" y="4845706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14-bits Virtual address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46576"/>
              </p:ext>
            </p:extLst>
          </p:nvPr>
        </p:nvGraphicFramePr>
        <p:xfrm>
          <a:off x="1331640" y="4072803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906554" y="4576860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0648" y="4537929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1336665" y="443109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5023280" y="442753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355714" y="4533759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5038564" y="4537929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7797450" y="4431708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1335059" y="3852696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3185637" y="385379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335060" y="395950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03648" y="3656057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3181758" y="396128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5023279" y="384737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24574" y="3653752"/>
            <a:ext cx="1435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944526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F13AFE4-29D5-A64B-8BB6-185F2FB4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</a:t>
            </a:r>
            <a:r>
              <a:rPr kumimoji="1" lang="en-US" altLang="ko-KR" dirty="0"/>
              <a:t>xamples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8918F15B-C0CF-6A4E-A477-3542151F52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412A6FB-E4C0-2245-B557-F0A297A43E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xmlns="" id="{69F8BD63-5E14-0C48-992A-7B2A0DA2B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44" y="1104917"/>
            <a:ext cx="5559890" cy="3744416"/>
          </a:xfr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DA7439D3-737F-7848-BD2B-0CC1B430E586}"/>
              </a:ext>
            </a:extLst>
          </p:cNvPr>
          <p:cNvSpPr/>
          <p:nvPr/>
        </p:nvSpPr>
        <p:spPr>
          <a:xfrm>
            <a:off x="7308304" y="1124744"/>
            <a:ext cx="1152128" cy="5112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4B543552-57F9-A540-A226-7AB1BB74DAA2}"/>
              </a:ext>
            </a:extLst>
          </p:cNvPr>
          <p:cNvSpPr/>
          <p:nvPr/>
        </p:nvSpPr>
        <p:spPr>
          <a:xfrm>
            <a:off x="7308304" y="112474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564EA8FE-591B-994D-8B71-29D1D2F2D556}"/>
              </a:ext>
            </a:extLst>
          </p:cNvPr>
          <p:cNvSpPr/>
          <p:nvPr/>
        </p:nvSpPr>
        <p:spPr>
          <a:xfrm>
            <a:off x="7308304" y="1556792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1E0DA4D1-2376-BF4F-A363-7C20A278C9F5}"/>
              </a:ext>
            </a:extLst>
          </p:cNvPr>
          <p:cNvSpPr/>
          <p:nvPr/>
        </p:nvSpPr>
        <p:spPr>
          <a:xfrm>
            <a:off x="7308304" y="580526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54C99138-A18A-9E4E-B663-64E87582E351}"/>
              </a:ext>
            </a:extLst>
          </p:cNvPr>
          <p:cNvSpPr/>
          <p:nvPr/>
        </p:nvSpPr>
        <p:spPr>
          <a:xfrm>
            <a:off x="7308304" y="1988840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xmlns="" id="{9E1256D5-A4C5-EC46-B359-DD5C17A2E730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7308304" y="134076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xmlns="" id="{88C2BF26-002F-604C-8A83-7FC9B3296EFA}"/>
              </a:ext>
            </a:extLst>
          </p:cNvPr>
          <p:cNvCxnSpPr/>
          <p:nvPr/>
        </p:nvCxnSpPr>
        <p:spPr>
          <a:xfrm>
            <a:off x="7308304" y="1772816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xmlns="" id="{E1D0FA2D-F53F-744C-98AD-D003FFC57B6F}"/>
              </a:ext>
            </a:extLst>
          </p:cNvPr>
          <p:cNvCxnSpPr/>
          <p:nvPr/>
        </p:nvCxnSpPr>
        <p:spPr>
          <a:xfrm>
            <a:off x="7308304" y="2204864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xmlns="" id="{C0D04E7F-299E-4C4D-B586-6534ACDE9383}"/>
              </a:ext>
            </a:extLst>
          </p:cNvPr>
          <p:cNvCxnSpPr/>
          <p:nvPr/>
        </p:nvCxnSpPr>
        <p:spPr>
          <a:xfrm>
            <a:off x="7308304" y="602128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xmlns="" id="{433C7BE0-A34B-1B46-ACB6-DE7391090898}"/>
              </a:ext>
            </a:extLst>
          </p:cNvPr>
          <p:cNvCxnSpPr>
            <a:cxnSpLocks/>
          </p:cNvCxnSpPr>
          <p:nvPr/>
        </p:nvCxnSpPr>
        <p:spPr>
          <a:xfrm>
            <a:off x="7164288" y="1124744"/>
            <a:ext cx="0" cy="43204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xmlns="" id="{46BF2C29-9CDD-A44C-9D17-057207AF11F5}"/>
              </a:ext>
            </a:extLst>
          </p:cNvPr>
          <p:cNvCxnSpPr>
            <a:cxnSpLocks/>
          </p:cNvCxnSpPr>
          <p:nvPr/>
        </p:nvCxnSpPr>
        <p:spPr>
          <a:xfrm>
            <a:off x="7164288" y="1988840"/>
            <a:ext cx="0" cy="43204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xmlns="" id="{FA332BCC-9E43-6C4A-915F-46129B94D141}"/>
              </a:ext>
            </a:extLst>
          </p:cNvPr>
          <p:cNvCxnSpPr>
            <a:cxnSpLocks/>
          </p:cNvCxnSpPr>
          <p:nvPr/>
        </p:nvCxnSpPr>
        <p:spPr>
          <a:xfrm>
            <a:off x="7172848" y="5805264"/>
            <a:ext cx="0" cy="43204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xmlns="" id="{5E67C16D-6842-6048-91D6-4856A3B8769F}"/>
              </a:ext>
            </a:extLst>
          </p:cNvPr>
          <p:cNvCxnSpPr/>
          <p:nvPr/>
        </p:nvCxnSpPr>
        <p:spPr>
          <a:xfrm>
            <a:off x="7092280" y="155679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xmlns="" id="{42B830FF-0A97-094E-9147-69A0FD96851E}"/>
              </a:ext>
            </a:extLst>
          </p:cNvPr>
          <p:cNvCxnSpPr/>
          <p:nvPr/>
        </p:nvCxnSpPr>
        <p:spPr>
          <a:xfrm>
            <a:off x="7092280" y="112474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xmlns="" id="{4E702280-8D77-134D-8504-5A749954DCEB}"/>
              </a:ext>
            </a:extLst>
          </p:cNvPr>
          <p:cNvCxnSpPr/>
          <p:nvPr/>
        </p:nvCxnSpPr>
        <p:spPr>
          <a:xfrm>
            <a:off x="7092280" y="1988840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xmlns="" id="{1015AE9C-BE9A-A348-BE0B-18D52E9AFE98}"/>
              </a:ext>
            </a:extLst>
          </p:cNvPr>
          <p:cNvCxnSpPr/>
          <p:nvPr/>
        </p:nvCxnSpPr>
        <p:spPr>
          <a:xfrm>
            <a:off x="7092280" y="2420888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xmlns="" id="{0DD561E5-069B-6F44-BD02-D6D5DA169838}"/>
              </a:ext>
            </a:extLst>
          </p:cNvPr>
          <p:cNvCxnSpPr/>
          <p:nvPr/>
        </p:nvCxnSpPr>
        <p:spPr>
          <a:xfrm>
            <a:off x="7092280" y="580526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xmlns="" id="{354F424D-8C3E-CF44-9B61-55EFDB2D0BA7}"/>
              </a:ext>
            </a:extLst>
          </p:cNvPr>
          <p:cNvCxnSpPr/>
          <p:nvPr/>
        </p:nvCxnSpPr>
        <p:spPr>
          <a:xfrm>
            <a:off x="7092280" y="623731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154E942D-DBC2-1D43-BA9E-917378E8DBA1}"/>
              </a:ext>
            </a:extLst>
          </p:cNvPr>
          <p:cNvSpPr txBox="1"/>
          <p:nvPr/>
        </p:nvSpPr>
        <p:spPr>
          <a:xfrm>
            <a:off x="6648252" y="1189992"/>
            <a:ext cx="7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code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9CDE6D4-3470-9E43-8337-34CE12CE7216}"/>
              </a:ext>
            </a:extLst>
          </p:cNvPr>
          <p:cNvSpPr txBox="1"/>
          <p:nvPr/>
        </p:nvSpPr>
        <p:spPr>
          <a:xfrm>
            <a:off x="6576244" y="5854147"/>
            <a:ext cx="7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stack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3507E11C-9AF9-894C-9E74-5CCBCA9A4924}"/>
              </a:ext>
            </a:extLst>
          </p:cNvPr>
          <p:cNvSpPr txBox="1"/>
          <p:nvPr/>
        </p:nvSpPr>
        <p:spPr>
          <a:xfrm>
            <a:off x="6648252" y="2030574"/>
            <a:ext cx="7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heap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810D5CD-2EB4-1340-84E6-7F3C40C5E35B}"/>
              </a:ext>
            </a:extLst>
          </p:cNvPr>
          <p:cNvSpPr txBox="1"/>
          <p:nvPr/>
        </p:nvSpPr>
        <p:spPr>
          <a:xfrm>
            <a:off x="7394865" y="10830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10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D9AD5E50-7213-B745-B791-39F2CEE497B0}"/>
              </a:ext>
            </a:extLst>
          </p:cNvPr>
          <p:cNvSpPr txBox="1"/>
          <p:nvPr/>
        </p:nvSpPr>
        <p:spPr>
          <a:xfrm>
            <a:off x="7395085" y="1306249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23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01E7B478-B2E5-0A44-AF03-2D9E163C44BC}"/>
              </a:ext>
            </a:extLst>
          </p:cNvPr>
          <p:cNvSpPr txBox="1"/>
          <p:nvPr/>
        </p:nvSpPr>
        <p:spPr>
          <a:xfrm>
            <a:off x="7419191" y="194353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80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02F4AB8-4D82-4E44-A203-DDCD62F343DC}"/>
              </a:ext>
            </a:extLst>
          </p:cNvPr>
          <p:cNvSpPr txBox="1"/>
          <p:nvPr/>
        </p:nvSpPr>
        <p:spPr>
          <a:xfrm>
            <a:off x="7420302" y="216052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59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5AE71DF1-61F4-2F4A-862A-784F3D8306DA}"/>
              </a:ext>
            </a:extLst>
          </p:cNvPr>
          <p:cNvSpPr txBox="1"/>
          <p:nvPr/>
        </p:nvSpPr>
        <p:spPr>
          <a:xfrm>
            <a:off x="7430526" y="5761634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6E4B1183-9426-014A-A1E2-FD9FCE6B5FEB}"/>
              </a:ext>
            </a:extLst>
          </p:cNvPr>
          <p:cNvSpPr txBox="1"/>
          <p:nvPr/>
        </p:nvSpPr>
        <p:spPr>
          <a:xfrm>
            <a:off x="7430526" y="59883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45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xmlns="" id="{9DD675D8-0381-E54C-90C4-DEDBE532BA96}"/>
              </a:ext>
            </a:extLst>
          </p:cNvPr>
          <p:cNvCxnSpPr>
            <a:stCxn id="45" idx="0"/>
          </p:cNvCxnSpPr>
          <p:nvPr/>
        </p:nvCxnSpPr>
        <p:spPr>
          <a:xfrm flipH="1" flipV="1">
            <a:off x="7963309" y="5373216"/>
            <a:ext cx="1" cy="3884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xmlns="" id="{5FA6E71D-1E8E-AE44-902C-6836874F99C7}"/>
              </a:ext>
            </a:extLst>
          </p:cNvPr>
          <p:cNvCxnSpPr>
            <a:cxnSpLocks/>
          </p:cNvCxnSpPr>
          <p:nvPr/>
        </p:nvCxnSpPr>
        <p:spPr>
          <a:xfrm>
            <a:off x="7884368" y="2420888"/>
            <a:ext cx="1" cy="255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B9211B73-9CAA-E041-AFA5-A8BF90AD9125}"/>
              </a:ext>
            </a:extLst>
          </p:cNvPr>
          <p:cNvSpPr txBox="1"/>
          <p:nvPr/>
        </p:nvSpPr>
        <p:spPr>
          <a:xfrm>
            <a:off x="882082" y="5244259"/>
            <a:ext cx="4049958" cy="88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>
                <a:latin typeface="Helvetica" pitchFamily="2" charset="0"/>
              </a:rPr>
              <a:t>Single level paging: 16 pages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>
                <a:latin typeface="Helvetica" pitchFamily="2" charset="0"/>
                <a:sym typeface="Wingdings" pitchFamily="2" charset="2"/>
              </a:rPr>
              <a:t> </a:t>
            </a:r>
            <a:r>
              <a:rPr kumimoji="1" lang="en-US" altLang="ko-KR" dirty="0">
                <a:latin typeface="Helvetica" pitchFamily="2" charset="0"/>
              </a:rPr>
              <a:t>Two level paging: 3 pages</a:t>
            </a:r>
            <a:endParaRPr kumimoji="1" lang="ko-KR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434741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More than Two Levels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some cases, a deeper tree is required.</a:t>
            </a:r>
          </a:p>
          <a:p>
            <a:r>
              <a:rPr lang="en-US" altLang="ko-KR" dirty="0"/>
              <a:t>Consider the following address space.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7" name="내용 개체 틀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3001554"/>
              </p:ext>
            </p:extLst>
          </p:nvPr>
        </p:nvGraphicFramePr>
        <p:xfrm>
          <a:off x="1430551" y="2605244"/>
          <a:ext cx="6590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3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187624" y="2343634"/>
            <a:ext cx="6994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29 28 27 26 25 24 23 22 21 20 19 18 17 16 15 14 13 12 11 10 9 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8  7 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6  5  4   3   2  1   0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1" name="내용 개체 틀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985746"/>
              </p:ext>
            </p:extLst>
          </p:nvPr>
        </p:nvGraphicFramePr>
        <p:xfrm>
          <a:off x="2100333" y="4207251"/>
          <a:ext cx="499193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9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9596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  <a:endParaRPr lang="ko-KR" altLang="en-US" sz="18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Detail</a:t>
                      </a:r>
                      <a:endParaRPr lang="ko-KR" altLang="en-US" sz="18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Virtual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address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 size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512 byte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21 bit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Offset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 bit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746021" y="3425962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46775" y="3449596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 flipH="1">
            <a:off x="1430550" y="296528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430550" y="3397332"/>
            <a:ext cx="4608514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6039062" y="296528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>
            <a:off x="8020781" y="2926789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6039062" y="3397332"/>
            <a:ext cx="1981719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876161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More than Two Level : Page Table Index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 dirty="0"/>
              <a:t>Number of pages in a page table</a:t>
            </a:r>
          </a:p>
          <a:p>
            <a:pPr lvl="1"/>
            <a:r>
              <a:rPr lang="en-US" altLang="ko-KR" sz="1400" dirty="0"/>
              <a:t>2^21 page table entries</a:t>
            </a:r>
          </a:p>
          <a:p>
            <a:pPr lvl="1"/>
            <a:r>
              <a:rPr lang="en-US" altLang="ko-KR" sz="1400" dirty="0"/>
              <a:t>2^7 (128) PTE’s in a single page (512/4, 512 page size, 4 byte </a:t>
            </a:r>
            <a:r>
              <a:rPr lang="en-US" altLang="ko-KR" sz="1400" dirty="0" err="1"/>
              <a:t>pte</a:t>
            </a:r>
            <a:r>
              <a:rPr lang="en-US" altLang="ko-KR" sz="1400" dirty="0"/>
              <a:t> size)</a:t>
            </a:r>
          </a:p>
          <a:p>
            <a:pPr lvl="1"/>
            <a:r>
              <a:rPr lang="en-US" altLang="ko-KR" sz="1400" dirty="0"/>
              <a:t>2^14 pages in a page table</a:t>
            </a:r>
          </a:p>
          <a:p>
            <a:r>
              <a:rPr lang="en-US" altLang="ko-KR" sz="1800" dirty="0">
                <a:sym typeface="Wingdings" pitchFamily="2" charset="2"/>
              </a:rPr>
              <a:t>Number of page directory entries: 2^14</a:t>
            </a:r>
            <a:endParaRPr lang="en-US" altLang="ko-KR" sz="1800" dirty="0"/>
          </a:p>
          <a:p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7" name="내용 개체 틀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6234808"/>
              </p:ext>
            </p:extLst>
          </p:nvPr>
        </p:nvGraphicFramePr>
        <p:xfrm>
          <a:off x="998503" y="3186554"/>
          <a:ext cx="6590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3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55576" y="2924944"/>
            <a:ext cx="6994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29 28 27 26 25 24 23 22 21 20 19 18 17 16 15 14 13 12 11 10 9 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8  7 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6  5 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4  3   2  1   0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5087" y="4057327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1" name="내용 개체 틀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6487267"/>
              </p:ext>
            </p:extLst>
          </p:nvPr>
        </p:nvGraphicFramePr>
        <p:xfrm>
          <a:off x="2375756" y="4491114"/>
          <a:ext cx="439248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Detail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Virtual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address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 size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512 byte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21 bit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Offset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 bit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 entry per page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 PTEs (512/4)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014727" y="4030906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8477" y="3678123"/>
            <a:ext cx="1613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29322" y="3647357"/>
            <a:ext cx="1764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flipH="1">
            <a:off x="998502" y="354659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998502" y="3978642"/>
            <a:ext cx="4608514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5607014" y="3546594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7588733" y="3508099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5607014" y="3978642"/>
            <a:ext cx="1981719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4094845" y="3546594"/>
            <a:ext cx="2" cy="371085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998504" y="3691404"/>
            <a:ext cx="3096341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4102766" y="3691404"/>
            <a:ext cx="1496329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131583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B35D795-73AA-8843-903F-AF0DE10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Single level page table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4815A042-5A53-954D-A6A0-8E54DC825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0788384-A243-4B43-82AF-BB5CE1D84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CD39A19-E8AF-794C-AA01-4661FFC8984D}"/>
              </a:ext>
            </a:extLst>
          </p:cNvPr>
          <p:cNvSpPr/>
          <p:nvPr/>
        </p:nvSpPr>
        <p:spPr>
          <a:xfrm>
            <a:off x="4283968" y="1124744"/>
            <a:ext cx="1152128" cy="5112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3706971-86CA-784E-84C6-26B53911C875}"/>
              </a:ext>
            </a:extLst>
          </p:cNvPr>
          <p:cNvSpPr/>
          <p:nvPr/>
        </p:nvSpPr>
        <p:spPr>
          <a:xfrm>
            <a:off x="4283968" y="112474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825967D5-6390-444E-91A2-01355AAE6966}"/>
              </a:ext>
            </a:extLst>
          </p:cNvPr>
          <p:cNvSpPr/>
          <p:nvPr/>
        </p:nvSpPr>
        <p:spPr>
          <a:xfrm>
            <a:off x="4283968" y="1556792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BF69E507-FC35-3942-8E8E-3B7A3135A5DC}"/>
              </a:ext>
            </a:extLst>
          </p:cNvPr>
          <p:cNvSpPr/>
          <p:nvPr/>
        </p:nvSpPr>
        <p:spPr>
          <a:xfrm>
            <a:off x="4283968" y="580526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1053B13-FCA2-574E-ACA8-19161F8CA84E}"/>
              </a:ext>
            </a:extLst>
          </p:cNvPr>
          <p:cNvSpPr/>
          <p:nvPr/>
        </p:nvSpPr>
        <p:spPr>
          <a:xfrm>
            <a:off x="4283968" y="1988840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xmlns="" id="{1F7A46E4-C50D-6044-92A6-082418CF1FEF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4283968" y="134076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xmlns="" id="{C09034FE-3856-DA4E-8677-4A2C8B1C4C4F}"/>
              </a:ext>
            </a:extLst>
          </p:cNvPr>
          <p:cNvCxnSpPr/>
          <p:nvPr/>
        </p:nvCxnSpPr>
        <p:spPr>
          <a:xfrm>
            <a:off x="4283968" y="1772816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xmlns="" id="{A5066C1C-F412-2E46-9308-8BA2AF0DE0ED}"/>
              </a:ext>
            </a:extLst>
          </p:cNvPr>
          <p:cNvCxnSpPr/>
          <p:nvPr/>
        </p:nvCxnSpPr>
        <p:spPr>
          <a:xfrm>
            <a:off x="4283968" y="2204864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xmlns="" id="{AF58445E-5736-C649-8C55-53C6CAD42864}"/>
              </a:ext>
            </a:extLst>
          </p:cNvPr>
          <p:cNvCxnSpPr/>
          <p:nvPr/>
        </p:nvCxnSpPr>
        <p:spPr>
          <a:xfrm>
            <a:off x="4283968" y="602128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xmlns="" id="{334719DF-723D-C846-A27C-D028216EAC61}"/>
              </a:ext>
            </a:extLst>
          </p:cNvPr>
          <p:cNvCxnSpPr>
            <a:cxnSpLocks/>
          </p:cNvCxnSpPr>
          <p:nvPr/>
        </p:nvCxnSpPr>
        <p:spPr>
          <a:xfrm>
            <a:off x="4139952" y="1124744"/>
            <a:ext cx="0" cy="511256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xmlns="" id="{0606C70D-7AF1-1C47-B3B7-48B6778CFC88}"/>
              </a:ext>
            </a:extLst>
          </p:cNvPr>
          <p:cNvCxnSpPr/>
          <p:nvPr/>
        </p:nvCxnSpPr>
        <p:spPr>
          <a:xfrm>
            <a:off x="4067944" y="112474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xmlns="" id="{7D028880-16AD-BF46-8441-8290587ACE72}"/>
              </a:ext>
            </a:extLst>
          </p:cNvPr>
          <p:cNvCxnSpPr/>
          <p:nvPr/>
        </p:nvCxnSpPr>
        <p:spPr>
          <a:xfrm>
            <a:off x="4067944" y="623731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8165F11D-F0AA-624E-9ED6-78CD82DA998D}"/>
              </a:ext>
            </a:extLst>
          </p:cNvPr>
          <p:cNvSpPr txBox="1"/>
          <p:nvPr/>
        </p:nvSpPr>
        <p:spPr>
          <a:xfrm>
            <a:off x="3479901" y="3328714"/>
            <a:ext cx="7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2^21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6E8EF40-2B26-EC4C-AAB8-5EF4AB0695A0}"/>
              </a:ext>
            </a:extLst>
          </p:cNvPr>
          <p:cNvSpPr txBox="1"/>
          <p:nvPr/>
        </p:nvSpPr>
        <p:spPr>
          <a:xfrm>
            <a:off x="4370529" y="10830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10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9A3766D-D289-774F-B3A8-D2EAC6AC6EE2}"/>
              </a:ext>
            </a:extLst>
          </p:cNvPr>
          <p:cNvSpPr txBox="1"/>
          <p:nvPr/>
        </p:nvSpPr>
        <p:spPr>
          <a:xfrm>
            <a:off x="4370749" y="1306249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23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7F7F80F-7A7A-5146-A407-187A59D3518A}"/>
              </a:ext>
            </a:extLst>
          </p:cNvPr>
          <p:cNvSpPr txBox="1"/>
          <p:nvPr/>
        </p:nvSpPr>
        <p:spPr>
          <a:xfrm>
            <a:off x="4394855" y="194353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80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E826C1A-3AD8-6A4D-8B9B-19147A9DD6B8}"/>
              </a:ext>
            </a:extLst>
          </p:cNvPr>
          <p:cNvSpPr txBox="1"/>
          <p:nvPr/>
        </p:nvSpPr>
        <p:spPr>
          <a:xfrm>
            <a:off x="4395966" y="216052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59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0B4CC17E-B24C-D54C-9F9A-1F721801FA1E}"/>
              </a:ext>
            </a:extLst>
          </p:cNvPr>
          <p:cNvSpPr txBox="1"/>
          <p:nvPr/>
        </p:nvSpPr>
        <p:spPr>
          <a:xfrm>
            <a:off x="4406190" y="5761634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4B0F7099-59B3-9747-973E-3DDE0E4142A7}"/>
              </a:ext>
            </a:extLst>
          </p:cNvPr>
          <p:cNvSpPr txBox="1"/>
          <p:nvPr/>
        </p:nvSpPr>
        <p:spPr>
          <a:xfrm>
            <a:off x="4406190" y="59883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45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091862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B35D795-73AA-8843-903F-AF0DE10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two level page table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4815A042-5A53-954D-A6A0-8E54DC825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0788384-A243-4B43-82AF-BB5CE1D84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xmlns="" id="{A5066C1C-F412-2E46-9308-8BA2AF0DE0ED}"/>
              </a:ext>
            </a:extLst>
          </p:cNvPr>
          <p:cNvCxnSpPr>
            <a:cxnSpLocks/>
          </p:cNvCxnSpPr>
          <p:nvPr/>
        </p:nvCxnSpPr>
        <p:spPr>
          <a:xfrm>
            <a:off x="5626001" y="1628384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xmlns="" id="{0606C70D-7AF1-1C47-B3B7-48B6778CFC88}"/>
              </a:ext>
            </a:extLst>
          </p:cNvPr>
          <p:cNvCxnSpPr/>
          <p:nvPr/>
        </p:nvCxnSpPr>
        <p:spPr>
          <a:xfrm>
            <a:off x="5397997" y="1377841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8DA258E3-E53A-4E4B-A95E-D24B24691AD0}"/>
              </a:ext>
            </a:extLst>
          </p:cNvPr>
          <p:cNvSpPr/>
          <p:nvPr/>
        </p:nvSpPr>
        <p:spPr>
          <a:xfrm>
            <a:off x="5626001" y="1377841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xmlns="" id="{4D435159-0D25-F54E-9BDC-ADA2C556445A}"/>
              </a:ext>
            </a:extLst>
          </p:cNvPr>
          <p:cNvCxnSpPr>
            <a:cxnSpLocks/>
          </p:cNvCxnSpPr>
          <p:nvPr/>
        </p:nvCxnSpPr>
        <p:spPr>
          <a:xfrm>
            <a:off x="5626001" y="2060432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xmlns="" id="{5E1A90C0-A193-FE4E-9971-BB96161DCB29}"/>
              </a:ext>
            </a:extLst>
          </p:cNvPr>
          <p:cNvCxnSpPr/>
          <p:nvPr/>
        </p:nvCxnSpPr>
        <p:spPr>
          <a:xfrm>
            <a:off x="5397997" y="2276456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xmlns="" id="{5BE1AF95-6EDD-B242-B2CC-070BBD18514B}"/>
              </a:ext>
            </a:extLst>
          </p:cNvPr>
          <p:cNvCxnSpPr/>
          <p:nvPr/>
        </p:nvCxnSpPr>
        <p:spPr>
          <a:xfrm>
            <a:off x="5481985" y="1377841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0E3BCA5-F1E5-0143-ADD7-12DEDBC0122C}"/>
              </a:ext>
            </a:extLst>
          </p:cNvPr>
          <p:cNvSpPr txBox="1"/>
          <p:nvPr/>
        </p:nvSpPr>
        <p:spPr>
          <a:xfrm>
            <a:off x="4905921" y="1628384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xmlns="" id="{47FF75E8-E244-F74A-A6AB-ADDB9932F198}"/>
              </a:ext>
            </a:extLst>
          </p:cNvPr>
          <p:cNvCxnSpPr>
            <a:cxnSpLocks/>
          </p:cNvCxnSpPr>
          <p:nvPr/>
        </p:nvCxnSpPr>
        <p:spPr>
          <a:xfrm>
            <a:off x="5614021" y="5623343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xmlns="" id="{6B4742F8-2CB5-0E49-BBE8-64A5493445C2}"/>
              </a:ext>
            </a:extLst>
          </p:cNvPr>
          <p:cNvCxnSpPr/>
          <p:nvPr/>
        </p:nvCxnSpPr>
        <p:spPr>
          <a:xfrm>
            <a:off x="5386017" y="5372800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0CDD5A0E-6085-1944-98C8-4F4D0CA7EE22}"/>
              </a:ext>
            </a:extLst>
          </p:cNvPr>
          <p:cNvSpPr/>
          <p:nvPr/>
        </p:nvSpPr>
        <p:spPr>
          <a:xfrm>
            <a:off x="5614021" y="5372800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xmlns="" id="{D30EC3CA-18E4-784E-97AD-1658A979351D}"/>
              </a:ext>
            </a:extLst>
          </p:cNvPr>
          <p:cNvCxnSpPr>
            <a:cxnSpLocks/>
          </p:cNvCxnSpPr>
          <p:nvPr/>
        </p:nvCxnSpPr>
        <p:spPr>
          <a:xfrm>
            <a:off x="5614021" y="6055391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xmlns="" id="{EE8F7338-6BF0-D946-B232-6B8576C9FB59}"/>
              </a:ext>
            </a:extLst>
          </p:cNvPr>
          <p:cNvCxnSpPr/>
          <p:nvPr/>
        </p:nvCxnSpPr>
        <p:spPr>
          <a:xfrm>
            <a:off x="5386017" y="6271415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xmlns="" id="{4748708D-9503-3240-9B03-E74C33241251}"/>
              </a:ext>
            </a:extLst>
          </p:cNvPr>
          <p:cNvCxnSpPr/>
          <p:nvPr/>
        </p:nvCxnSpPr>
        <p:spPr>
          <a:xfrm>
            <a:off x="5470005" y="5372800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626810D-1DF3-8541-BB66-C7BF7538FE92}"/>
              </a:ext>
            </a:extLst>
          </p:cNvPr>
          <p:cNvSpPr txBox="1"/>
          <p:nvPr/>
        </p:nvSpPr>
        <p:spPr>
          <a:xfrm>
            <a:off x="4893941" y="5623343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89191C5E-229D-4E4D-9970-485326528334}"/>
              </a:ext>
            </a:extLst>
          </p:cNvPr>
          <p:cNvSpPr/>
          <p:nvPr/>
        </p:nvSpPr>
        <p:spPr>
          <a:xfrm>
            <a:off x="3033713" y="1412360"/>
            <a:ext cx="1152128" cy="44358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xmlns="" id="{02986BF9-EC65-4346-B32E-B3ED54B481DA}"/>
              </a:ext>
            </a:extLst>
          </p:cNvPr>
          <p:cNvCxnSpPr>
            <a:cxnSpLocks/>
          </p:cNvCxnSpPr>
          <p:nvPr/>
        </p:nvCxnSpPr>
        <p:spPr>
          <a:xfrm>
            <a:off x="3033713" y="1700392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[R] 41">
            <a:extLst>
              <a:ext uri="{FF2B5EF4-FFF2-40B4-BE49-F238E27FC236}">
                <a16:creationId xmlns:a16="http://schemas.microsoft.com/office/drawing/2014/main" xmlns="" id="{616E435F-0CD8-F24D-8079-8F68C945AF43}"/>
              </a:ext>
            </a:extLst>
          </p:cNvPr>
          <p:cNvCxnSpPr>
            <a:cxnSpLocks/>
          </p:cNvCxnSpPr>
          <p:nvPr/>
        </p:nvCxnSpPr>
        <p:spPr>
          <a:xfrm>
            <a:off x="3033713" y="5588824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xmlns="" id="{6A6D31EB-2064-754A-8684-C9CDAA16B3A7}"/>
              </a:ext>
            </a:extLst>
          </p:cNvPr>
          <p:cNvCxnSpPr>
            <a:cxnSpLocks/>
          </p:cNvCxnSpPr>
          <p:nvPr/>
        </p:nvCxnSpPr>
        <p:spPr>
          <a:xfrm>
            <a:off x="2601665" y="1412360"/>
            <a:ext cx="432048" cy="1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xmlns="" id="{B2CA0C43-B357-034B-BAEE-059C645CBACC}"/>
              </a:ext>
            </a:extLst>
          </p:cNvPr>
          <p:cNvCxnSpPr>
            <a:cxnSpLocks/>
          </p:cNvCxnSpPr>
          <p:nvPr/>
        </p:nvCxnSpPr>
        <p:spPr>
          <a:xfrm>
            <a:off x="2595675" y="5876855"/>
            <a:ext cx="432048" cy="1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xmlns="" id="{1C5C44EA-0134-084F-A969-6C43442605C8}"/>
              </a:ext>
            </a:extLst>
          </p:cNvPr>
          <p:cNvCxnSpPr/>
          <p:nvPr/>
        </p:nvCxnSpPr>
        <p:spPr>
          <a:xfrm>
            <a:off x="2811699" y="1445589"/>
            <a:ext cx="20635" cy="443045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6B07C752-BAFE-0B4C-AF93-4BF1434815F7}"/>
              </a:ext>
            </a:extLst>
          </p:cNvPr>
          <p:cNvSpPr txBox="1"/>
          <p:nvPr/>
        </p:nvSpPr>
        <p:spPr>
          <a:xfrm>
            <a:off x="2169129" y="3176086"/>
            <a:ext cx="663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2^14</a:t>
            </a:r>
            <a:endParaRPr kumimoji="1" lang="ko-KR" altLang="en-US" sz="1400" dirty="0"/>
          </a:p>
        </p:txBody>
      </p: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xmlns="" id="{47DC2D34-4562-484D-AA32-6CE002492B3A}"/>
              </a:ext>
            </a:extLst>
          </p:cNvPr>
          <p:cNvCxnSpPr>
            <a:cxnSpLocks/>
          </p:cNvCxnSpPr>
          <p:nvPr/>
        </p:nvCxnSpPr>
        <p:spPr>
          <a:xfrm flipV="1">
            <a:off x="4035836" y="1377843"/>
            <a:ext cx="1302134" cy="18201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xmlns="" id="{651F2134-88A7-BA44-A578-DD16262C1C06}"/>
              </a:ext>
            </a:extLst>
          </p:cNvPr>
          <p:cNvCxnSpPr>
            <a:cxnSpLocks/>
          </p:cNvCxnSpPr>
          <p:nvPr/>
        </p:nvCxnSpPr>
        <p:spPr>
          <a:xfrm flipV="1">
            <a:off x="4047815" y="5387577"/>
            <a:ext cx="1338202" cy="3320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45BB7063-EF4D-9240-9AE0-F1D0B0E1AD6E}"/>
              </a:ext>
            </a:extLst>
          </p:cNvPr>
          <p:cNvSpPr txBox="1"/>
          <p:nvPr/>
        </p:nvSpPr>
        <p:spPr>
          <a:xfrm>
            <a:off x="2767562" y="908141"/>
            <a:ext cx="1562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Page directory</a:t>
            </a:r>
            <a:endParaRPr kumimoji="1" lang="ko-KR" altLang="en-US" sz="1600" dirty="0">
              <a:latin typeface="Helvetica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065C993D-0A7E-9D4B-9B8C-C1675A335111}"/>
              </a:ext>
            </a:extLst>
          </p:cNvPr>
          <p:cNvSpPr txBox="1"/>
          <p:nvPr/>
        </p:nvSpPr>
        <p:spPr>
          <a:xfrm>
            <a:off x="5337970" y="958022"/>
            <a:ext cx="1728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Page table page</a:t>
            </a:r>
            <a:endParaRPr kumimoji="1" lang="ko-KR" altLang="en-US" sz="1600" dirty="0">
              <a:latin typeface="Helvetica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ACA4D32-2CDD-2544-B28D-680F5832E85F}"/>
              </a:ext>
            </a:extLst>
          </p:cNvPr>
          <p:cNvSpPr txBox="1"/>
          <p:nvPr/>
        </p:nvSpPr>
        <p:spPr>
          <a:xfrm>
            <a:off x="3249737" y="1361838"/>
            <a:ext cx="726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0</a:t>
            </a:r>
            <a:r>
              <a:rPr kumimoji="1" lang="en-US" altLang="ko-KR" sz="1400" baseline="30000" dirty="0"/>
              <a:t>th</a:t>
            </a:r>
            <a:r>
              <a:rPr kumimoji="1" lang="en-US" altLang="ko-KR" sz="1400" dirty="0"/>
              <a:t> </a:t>
            </a:r>
            <a:endParaRPr kumimoji="1" lang="ko-KR" altLang="en-US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0999B6E0-0F18-8C4E-91FF-7FEDDEB82441}"/>
              </a:ext>
            </a:extLst>
          </p:cNvPr>
          <p:cNvSpPr txBox="1"/>
          <p:nvPr/>
        </p:nvSpPr>
        <p:spPr>
          <a:xfrm>
            <a:off x="3065696" y="5566789"/>
            <a:ext cx="1264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/>
              <a:t>(2^14-1)</a:t>
            </a:r>
            <a:r>
              <a:rPr kumimoji="1" lang="en-US" altLang="ko-KR" sz="1200" dirty="0" err="1"/>
              <a:t>th</a:t>
            </a:r>
            <a:r>
              <a:rPr kumimoji="1" lang="en-US" altLang="ko-KR" sz="1200" dirty="0"/>
              <a:t> 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76832223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More than Two Level : Page Directory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number of pages in a page directory: 2^14/2^7 = 2^7 (128)</a:t>
            </a:r>
          </a:p>
          <a:p>
            <a:r>
              <a:rPr lang="en-US" altLang="ko-KR" dirty="0"/>
              <a:t>Page the page directory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7" name="내용 개체 틀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714716"/>
              </p:ext>
            </p:extLst>
          </p:nvPr>
        </p:nvGraphicFramePr>
        <p:xfrm>
          <a:off x="1286535" y="3978642"/>
          <a:ext cx="65901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3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43608" y="3717032"/>
            <a:ext cx="7055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30 29 28 27 26 25 24 23 22 21 20 19 18 17 16 15 14 13 12 11 10 9  8  7  6  5  4   3   2  1   0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43119" y="4878742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02759" y="4822993"/>
            <a:ext cx="849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60085" y="4496713"/>
            <a:ext cx="1397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PD</a:t>
            </a:r>
            <a:r>
              <a:rPr lang="en-US" altLang="ko-KR" sz="1200" b="1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 Index 0</a:t>
            </a:r>
            <a:endParaRPr lang="ko-KR" altLang="en-US" sz="1200" b="1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43396" y="4491112"/>
            <a:ext cx="1397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PD</a:t>
            </a:r>
            <a:r>
              <a:rPr lang="en-US" altLang="ko-KR" sz="1200" b="1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</a:rPr>
              <a:t> Index 1</a:t>
            </a:r>
            <a:endParaRPr lang="ko-KR" altLang="en-US" sz="1200" b="1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1286534" y="4330160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286534" y="4762208"/>
            <a:ext cx="4608514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5895046" y="4330160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7876765" y="4291665"/>
            <a:ext cx="2" cy="5400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5895046" y="4762208"/>
            <a:ext cx="1981719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07881" y="4487157"/>
            <a:ext cx="1613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 flipH="1">
            <a:off x="2823249" y="4335911"/>
            <a:ext cx="2" cy="371085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4369164" y="4487157"/>
            <a:ext cx="1525882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 flipH="1">
            <a:off x="4369164" y="4335911"/>
            <a:ext cx="2" cy="371085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1286536" y="4492835"/>
            <a:ext cx="1525882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2843282" y="4493650"/>
            <a:ext cx="1525882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5649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B35D795-73AA-8843-903F-AF0DE10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three level page table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4815A042-5A53-954D-A6A0-8E54DC825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0788384-A243-4B43-82AF-BB5CE1D84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xmlns="" id="{A5066C1C-F412-2E46-9308-8BA2AF0DE0ED}"/>
              </a:ext>
            </a:extLst>
          </p:cNvPr>
          <p:cNvCxnSpPr>
            <a:cxnSpLocks/>
          </p:cNvCxnSpPr>
          <p:nvPr/>
        </p:nvCxnSpPr>
        <p:spPr>
          <a:xfrm>
            <a:off x="7164288" y="1700808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xmlns="" id="{0606C70D-7AF1-1C47-B3B7-48B6778CFC88}"/>
              </a:ext>
            </a:extLst>
          </p:cNvPr>
          <p:cNvCxnSpPr/>
          <p:nvPr/>
        </p:nvCxnSpPr>
        <p:spPr>
          <a:xfrm>
            <a:off x="6936284" y="1450265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8DA258E3-E53A-4E4B-A95E-D24B24691AD0}"/>
              </a:ext>
            </a:extLst>
          </p:cNvPr>
          <p:cNvSpPr/>
          <p:nvPr/>
        </p:nvSpPr>
        <p:spPr>
          <a:xfrm>
            <a:off x="7164288" y="1450265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xmlns="" id="{4D435159-0D25-F54E-9BDC-ADA2C556445A}"/>
              </a:ext>
            </a:extLst>
          </p:cNvPr>
          <p:cNvCxnSpPr>
            <a:cxnSpLocks/>
          </p:cNvCxnSpPr>
          <p:nvPr/>
        </p:nvCxnSpPr>
        <p:spPr>
          <a:xfrm>
            <a:off x="7164288" y="2132856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xmlns="" id="{5E1A90C0-A193-FE4E-9971-BB96161DCB29}"/>
              </a:ext>
            </a:extLst>
          </p:cNvPr>
          <p:cNvCxnSpPr/>
          <p:nvPr/>
        </p:nvCxnSpPr>
        <p:spPr>
          <a:xfrm>
            <a:off x="6936284" y="2348880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xmlns="" id="{5BE1AF95-6EDD-B242-B2CC-070BBD18514B}"/>
              </a:ext>
            </a:extLst>
          </p:cNvPr>
          <p:cNvCxnSpPr/>
          <p:nvPr/>
        </p:nvCxnSpPr>
        <p:spPr>
          <a:xfrm>
            <a:off x="7020272" y="1450265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0E3BCA5-F1E5-0143-ADD7-12DEDBC0122C}"/>
              </a:ext>
            </a:extLst>
          </p:cNvPr>
          <p:cNvSpPr txBox="1"/>
          <p:nvPr/>
        </p:nvSpPr>
        <p:spPr>
          <a:xfrm>
            <a:off x="6528196" y="1700808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xmlns="" id="{47FF75E8-E244-F74A-A6AB-ADDB9932F198}"/>
              </a:ext>
            </a:extLst>
          </p:cNvPr>
          <p:cNvCxnSpPr>
            <a:cxnSpLocks/>
          </p:cNvCxnSpPr>
          <p:nvPr/>
        </p:nvCxnSpPr>
        <p:spPr>
          <a:xfrm>
            <a:off x="7152308" y="5695767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xmlns="" id="{6B4742F8-2CB5-0E49-BBE8-64A5493445C2}"/>
              </a:ext>
            </a:extLst>
          </p:cNvPr>
          <p:cNvCxnSpPr/>
          <p:nvPr/>
        </p:nvCxnSpPr>
        <p:spPr>
          <a:xfrm>
            <a:off x="6924304" y="544522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0CDD5A0E-6085-1944-98C8-4F4D0CA7EE22}"/>
              </a:ext>
            </a:extLst>
          </p:cNvPr>
          <p:cNvSpPr/>
          <p:nvPr/>
        </p:nvSpPr>
        <p:spPr>
          <a:xfrm>
            <a:off x="7152308" y="5445224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xmlns="" id="{D30EC3CA-18E4-784E-97AD-1658A979351D}"/>
              </a:ext>
            </a:extLst>
          </p:cNvPr>
          <p:cNvCxnSpPr>
            <a:cxnSpLocks/>
          </p:cNvCxnSpPr>
          <p:nvPr/>
        </p:nvCxnSpPr>
        <p:spPr>
          <a:xfrm>
            <a:off x="7152308" y="6127815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xmlns="" id="{EE8F7338-6BF0-D946-B232-6B8576C9FB59}"/>
              </a:ext>
            </a:extLst>
          </p:cNvPr>
          <p:cNvCxnSpPr/>
          <p:nvPr/>
        </p:nvCxnSpPr>
        <p:spPr>
          <a:xfrm>
            <a:off x="6924304" y="6343839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xmlns="" id="{4748708D-9503-3240-9B03-E74C33241251}"/>
              </a:ext>
            </a:extLst>
          </p:cNvPr>
          <p:cNvCxnSpPr/>
          <p:nvPr/>
        </p:nvCxnSpPr>
        <p:spPr>
          <a:xfrm>
            <a:off x="7008292" y="5445224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626810D-1DF3-8541-BB66-C7BF7538FE92}"/>
              </a:ext>
            </a:extLst>
          </p:cNvPr>
          <p:cNvSpPr txBox="1"/>
          <p:nvPr/>
        </p:nvSpPr>
        <p:spPr>
          <a:xfrm>
            <a:off x="6528196" y="5695767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xmlns="" id="{47DC2D34-4562-484D-AA32-6CE002492B3A}"/>
              </a:ext>
            </a:extLst>
          </p:cNvPr>
          <p:cNvCxnSpPr>
            <a:cxnSpLocks/>
          </p:cNvCxnSpPr>
          <p:nvPr/>
        </p:nvCxnSpPr>
        <p:spPr>
          <a:xfrm flipV="1">
            <a:off x="5220073" y="1450267"/>
            <a:ext cx="1656184" cy="1779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xmlns="" id="{651F2134-88A7-BA44-A578-DD16262C1C06}"/>
              </a:ext>
            </a:extLst>
          </p:cNvPr>
          <p:cNvCxnSpPr>
            <a:cxnSpLocks/>
          </p:cNvCxnSpPr>
          <p:nvPr/>
        </p:nvCxnSpPr>
        <p:spPr>
          <a:xfrm>
            <a:off x="5148064" y="5336066"/>
            <a:ext cx="1776240" cy="1239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065C993D-0A7E-9D4B-9B8C-C1675A335111}"/>
              </a:ext>
            </a:extLst>
          </p:cNvPr>
          <p:cNvSpPr txBox="1"/>
          <p:nvPr/>
        </p:nvSpPr>
        <p:spPr>
          <a:xfrm>
            <a:off x="6876257" y="1030446"/>
            <a:ext cx="1728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Page table page</a:t>
            </a:r>
            <a:endParaRPr kumimoji="1" lang="ko-KR" altLang="en-US" sz="1600" dirty="0">
              <a:latin typeface="Helvetica" pitchFamily="2" charset="0"/>
            </a:endParaRPr>
          </a:p>
        </p:txBody>
      </p: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xmlns="" id="{856B3A6E-0992-D847-B61B-0A4EE4C12754}"/>
              </a:ext>
            </a:extLst>
          </p:cNvPr>
          <p:cNvCxnSpPr>
            <a:cxnSpLocks/>
          </p:cNvCxnSpPr>
          <p:nvPr/>
        </p:nvCxnSpPr>
        <p:spPr>
          <a:xfrm>
            <a:off x="1403647" y="3091250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xmlns="" id="{1CED61E3-C047-9843-94D4-634A3B9AAC50}"/>
              </a:ext>
            </a:extLst>
          </p:cNvPr>
          <p:cNvCxnSpPr/>
          <p:nvPr/>
        </p:nvCxnSpPr>
        <p:spPr>
          <a:xfrm>
            <a:off x="1175643" y="2840707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xmlns="" id="{03426F37-DD08-F94F-AB88-E7125996EF44}"/>
              </a:ext>
            </a:extLst>
          </p:cNvPr>
          <p:cNvSpPr/>
          <p:nvPr/>
        </p:nvSpPr>
        <p:spPr>
          <a:xfrm>
            <a:off x="1403647" y="2840707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xmlns="" id="{02CF3D09-DA2B-F943-831B-4B1292557757}"/>
              </a:ext>
            </a:extLst>
          </p:cNvPr>
          <p:cNvCxnSpPr>
            <a:cxnSpLocks/>
          </p:cNvCxnSpPr>
          <p:nvPr/>
        </p:nvCxnSpPr>
        <p:spPr>
          <a:xfrm>
            <a:off x="1403647" y="3523298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[R] 50">
            <a:extLst>
              <a:ext uri="{FF2B5EF4-FFF2-40B4-BE49-F238E27FC236}">
                <a16:creationId xmlns:a16="http://schemas.microsoft.com/office/drawing/2014/main" xmlns="" id="{C41B5C1B-7CB2-DB49-AA50-C8E3B1D18FC8}"/>
              </a:ext>
            </a:extLst>
          </p:cNvPr>
          <p:cNvCxnSpPr/>
          <p:nvPr/>
        </p:nvCxnSpPr>
        <p:spPr>
          <a:xfrm>
            <a:off x="1175643" y="373932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xmlns="" id="{3F825AD2-8800-D744-9127-1A56FE27D51A}"/>
              </a:ext>
            </a:extLst>
          </p:cNvPr>
          <p:cNvCxnSpPr/>
          <p:nvPr/>
        </p:nvCxnSpPr>
        <p:spPr>
          <a:xfrm>
            <a:off x="1259631" y="2840707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8045BDCC-EDD3-6642-A6F6-E2791A64E6AE}"/>
              </a:ext>
            </a:extLst>
          </p:cNvPr>
          <p:cNvSpPr txBox="1"/>
          <p:nvPr/>
        </p:nvSpPr>
        <p:spPr>
          <a:xfrm>
            <a:off x="683567" y="3091250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076D38F2-B39B-FC4B-A4C1-7D3B3B464019}"/>
              </a:ext>
            </a:extLst>
          </p:cNvPr>
          <p:cNvSpPr txBox="1"/>
          <p:nvPr/>
        </p:nvSpPr>
        <p:spPr>
          <a:xfrm>
            <a:off x="1115616" y="2420888"/>
            <a:ext cx="1728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Page directory</a:t>
            </a:r>
            <a:endParaRPr kumimoji="1" lang="ko-KR" altLang="en-US" sz="1600" dirty="0">
              <a:latin typeface="Helvetica" pitchFamily="2" charset="0"/>
            </a:endParaRPr>
          </a:p>
        </p:txBody>
      </p: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xmlns="" id="{335ED2A1-B8B7-AC4F-BFCF-CE7185494EA2}"/>
              </a:ext>
            </a:extLst>
          </p:cNvPr>
          <p:cNvCxnSpPr>
            <a:cxnSpLocks/>
          </p:cNvCxnSpPr>
          <p:nvPr/>
        </p:nvCxnSpPr>
        <p:spPr>
          <a:xfrm>
            <a:off x="4283968" y="1772816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xmlns="" id="{2B954751-76D9-794B-86FD-9F2458FB02E5}"/>
              </a:ext>
            </a:extLst>
          </p:cNvPr>
          <p:cNvCxnSpPr/>
          <p:nvPr/>
        </p:nvCxnSpPr>
        <p:spPr>
          <a:xfrm>
            <a:off x="4055964" y="1522273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xmlns="" id="{18CA73A3-6470-F944-AB4A-2881F38769DA}"/>
              </a:ext>
            </a:extLst>
          </p:cNvPr>
          <p:cNvSpPr/>
          <p:nvPr/>
        </p:nvSpPr>
        <p:spPr>
          <a:xfrm>
            <a:off x="4283968" y="1522273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xmlns="" id="{280FB7EC-C45C-0441-847D-38B7C34DCB01}"/>
              </a:ext>
            </a:extLst>
          </p:cNvPr>
          <p:cNvCxnSpPr>
            <a:cxnSpLocks/>
          </p:cNvCxnSpPr>
          <p:nvPr/>
        </p:nvCxnSpPr>
        <p:spPr>
          <a:xfrm>
            <a:off x="4283968" y="2204864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xmlns="" id="{9A798E5D-0B66-B543-8FFB-BE97CB3D25F0}"/>
              </a:ext>
            </a:extLst>
          </p:cNvPr>
          <p:cNvCxnSpPr/>
          <p:nvPr/>
        </p:nvCxnSpPr>
        <p:spPr>
          <a:xfrm>
            <a:off x="4055964" y="2420888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xmlns="" id="{88A92D7F-BB2B-E04B-B2DF-76F2A36139B7}"/>
              </a:ext>
            </a:extLst>
          </p:cNvPr>
          <p:cNvCxnSpPr/>
          <p:nvPr/>
        </p:nvCxnSpPr>
        <p:spPr>
          <a:xfrm>
            <a:off x="4139952" y="1522273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54B2EAB9-2208-B94B-834C-A105F85664F6}"/>
              </a:ext>
            </a:extLst>
          </p:cNvPr>
          <p:cNvSpPr txBox="1"/>
          <p:nvPr/>
        </p:nvSpPr>
        <p:spPr>
          <a:xfrm>
            <a:off x="3707904" y="1772816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A4F2E602-7DF5-1C47-9E03-D432BD55D8DE}"/>
              </a:ext>
            </a:extLst>
          </p:cNvPr>
          <p:cNvSpPr txBox="1"/>
          <p:nvPr/>
        </p:nvSpPr>
        <p:spPr>
          <a:xfrm>
            <a:off x="3995937" y="1102454"/>
            <a:ext cx="1728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Page table page</a:t>
            </a:r>
            <a:endParaRPr kumimoji="1" lang="ko-KR" altLang="en-US" sz="1600" dirty="0">
              <a:latin typeface="Helvetica" pitchFamily="2" charset="0"/>
            </a:endParaRPr>
          </a:p>
        </p:txBody>
      </p:sp>
      <p:cxnSp>
        <p:nvCxnSpPr>
          <p:cNvPr id="68" name="직선 연결선[R] 67">
            <a:extLst>
              <a:ext uri="{FF2B5EF4-FFF2-40B4-BE49-F238E27FC236}">
                <a16:creationId xmlns:a16="http://schemas.microsoft.com/office/drawing/2014/main" xmlns="" id="{0A571727-CF93-0F49-A69C-EFD198C73DF9}"/>
              </a:ext>
            </a:extLst>
          </p:cNvPr>
          <p:cNvCxnSpPr>
            <a:cxnSpLocks/>
          </p:cNvCxnSpPr>
          <p:nvPr/>
        </p:nvCxnSpPr>
        <p:spPr>
          <a:xfrm>
            <a:off x="7200293" y="2959484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[R] 68">
            <a:extLst>
              <a:ext uri="{FF2B5EF4-FFF2-40B4-BE49-F238E27FC236}">
                <a16:creationId xmlns:a16="http://schemas.microsoft.com/office/drawing/2014/main" xmlns="" id="{467F9548-1A31-684A-9485-76602DE8767E}"/>
              </a:ext>
            </a:extLst>
          </p:cNvPr>
          <p:cNvCxnSpPr/>
          <p:nvPr/>
        </p:nvCxnSpPr>
        <p:spPr>
          <a:xfrm>
            <a:off x="6972289" y="2708941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xmlns="" id="{7FB440A0-577A-F745-A4A1-B22C1D571F6C}"/>
              </a:ext>
            </a:extLst>
          </p:cNvPr>
          <p:cNvSpPr/>
          <p:nvPr/>
        </p:nvSpPr>
        <p:spPr>
          <a:xfrm>
            <a:off x="7200293" y="2708941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71" name="직선 연결선[R] 70">
            <a:extLst>
              <a:ext uri="{FF2B5EF4-FFF2-40B4-BE49-F238E27FC236}">
                <a16:creationId xmlns:a16="http://schemas.microsoft.com/office/drawing/2014/main" xmlns="" id="{B25891E4-7B0F-EC4A-B15C-E18B52DC11A9}"/>
              </a:ext>
            </a:extLst>
          </p:cNvPr>
          <p:cNvCxnSpPr>
            <a:cxnSpLocks/>
          </p:cNvCxnSpPr>
          <p:nvPr/>
        </p:nvCxnSpPr>
        <p:spPr>
          <a:xfrm>
            <a:off x="7200293" y="3391532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[R] 71">
            <a:extLst>
              <a:ext uri="{FF2B5EF4-FFF2-40B4-BE49-F238E27FC236}">
                <a16:creationId xmlns:a16="http://schemas.microsoft.com/office/drawing/2014/main" xmlns="" id="{3EF01281-A954-294B-9E56-33EE7C47634D}"/>
              </a:ext>
            </a:extLst>
          </p:cNvPr>
          <p:cNvCxnSpPr/>
          <p:nvPr/>
        </p:nvCxnSpPr>
        <p:spPr>
          <a:xfrm>
            <a:off x="6972289" y="3607556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xmlns="" id="{5E3E09B1-63B3-DC46-8908-9081E8D2C71E}"/>
              </a:ext>
            </a:extLst>
          </p:cNvPr>
          <p:cNvCxnSpPr/>
          <p:nvPr/>
        </p:nvCxnSpPr>
        <p:spPr>
          <a:xfrm>
            <a:off x="7056277" y="2708941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268636F0-C9A3-BC45-9FDD-DA763318CAEC}"/>
              </a:ext>
            </a:extLst>
          </p:cNvPr>
          <p:cNvSpPr txBox="1"/>
          <p:nvPr/>
        </p:nvSpPr>
        <p:spPr>
          <a:xfrm>
            <a:off x="6600204" y="2959484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cxnSp>
        <p:nvCxnSpPr>
          <p:cNvPr id="76" name="직선 연결선[R] 75">
            <a:extLst>
              <a:ext uri="{FF2B5EF4-FFF2-40B4-BE49-F238E27FC236}">
                <a16:creationId xmlns:a16="http://schemas.microsoft.com/office/drawing/2014/main" xmlns="" id="{9861EE65-D504-CF4E-8DA5-F10896139EA6}"/>
              </a:ext>
            </a:extLst>
          </p:cNvPr>
          <p:cNvCxnSpPr>
            <a:cxnSpLocks/>
          </p:cNvCxnSpPr>
          <p:nvPr/>
        </p:nvCxnSpPr>
        <p:spPr>
          <a:xfrm>
            <a:off x="4283968" y="2008585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[E] 76">
            <a:extLst>
              <a:ext uri="{FF2B5EF4-FFF2-40B4-BE49-F238E27FC236}">
                <a16:creationId xmlns:a16="http://schemas.microsoft.com/office/drawing/2014/main" xmlns="" id="{D73D9866-DED9-504E-B4E9-8FFE4FC942B7}"/>
              </a:ext>
            </a:extLst>
          </p:cNvPr>
          <p:cNvCxnSpPr>
            <a:cxnSpLocks/>
          </p:cNvCxnSpPr>
          <p:nvPr/>
        </p:nvCxnSpPr>
        <p:spPr>
          <a:xfrm>
            <a:off x="5220073" y="1902112"/>
            <a:ext cx="1704231" cy="8068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[R] 77">
            <a:extLst>
              <a:ext uri="{FF2B5EF4-FFF2-40B4-BE49-F238E27FC236}">
                <a16:creationId xmlns:a16="http://schemas.microsoft.com/office/drawing/2014/main" xmlns="" id="{6F2D73C1-567C-B043-A5D4-7E5EE07A237D}"/>
              </a:ext>
            </a:extLst>
          </p:cNvPr>
          <p:cNvCxnSpPr>
            <a:cxnSpLocks/>
          </p:cNvCxnSpPr>
          <p:nvPr/>
        </p:nvCxnSpPr>
        <p:spPr>
          <a:xfrm>
            <a:off x="4314855" y="5448107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[R] 78">
            <a:extLst>
              <a:ext uri="{FF2B5EF4-FFF2-40B4-BE49-F238E27FC236}">
                <a16:creationId xmlns:a16="http://schemas.microsoft.com/office/drawing/2014/main" xmlns="" id="{3F15A44C-3E05-ED4F-8B08-E5C47026F234}"/>
              </a:ext>
            </a:extLst>
          </p:cNvPr>
          <p:cNvCxnSpPr/>
          <p:nvPr/>
        </p:nvCxnSpPr>
        <p:spPr>
          <a:xfrm>
            <a:off x="4086851" y="519756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xmlns="" id="{33BA53DF-3AD7-3443-AB6B-1F1E32B03B62}"/>
              </a:ext>
            </a:extLst>
          </p:cNvPr>
          <p:cNvSpPr/>
          <p:nvPr/>
        </p:nvSpPr>
        <p:spPr>
          <a:xfrm>
            <a:off x="4314855" y="5197564"/>
            <a:ext cx="1080120" cy="89861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1" name="직선 연결선[R] 80">
            <a:extLst>
              <a:ext uri="{FF2B5EF4-FFF2-40B4-BE49-F238E27FC236}">
                <a16:creationId xmlns:a16="http://schemas.microsoft.com/office/drawing/2014/main" xmlns="" id="{31972F3F-0AD1-7743-B03E-C269E9EBCA7E}"/>
              </a:ext>
            </a:extLst>
          </p:cNvPr>
          <p:cNvCxnSpPr>
            <a:cxnSpLocks/>
          </p:cNvCxnSpPr>
          <p:nvPr/>
        </p:nvCxnSpPr>
        <p:spPr>
          <a:xfrm>
            <a:off x="4314855" y="5880155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[R] 81">
            <a:extLst>
              <a:ext uri="{FF2B5EF4-FFF2-40B4-BE49-F238E27FC236}">
                <a16:creationId xmlns:a16="http://schemas.microsoft.com/office/drawing/2014/main" xmlns="" id="{8F322091-1E60-FF41-8322-05DCCB1EE43B}"/>
              </a:ext>
            </a:extLst>
          </p:cNvPr>
          <p:cNvCxnSpPr/>
          <p:nvPr/>
        </p:nvCxnSpPr>
        <p:spPr>
          <a:xfrm>
            <a:off x="4086851" y="6096179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xmlns="" id="{CB054054-BFDC-9B4F-836A-9BEF0EFFB089}"/>
              </a:ext>
            </a:extLst>
          </p:cNvPr>
          <p:cNvCxnSpPr/>
          <p:nvPr/>
        </p:nvCxnSpPr>
        <p:spPr>
          <a:xfrm>
            <a:off x="4170839" y="5197564"/>
            <a:ext cx="0" cy="89861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6CF91CEA-FCCC-E146-ACB7-F89E80AB85DA}"/>
              </a:ext>
            </a:extLst>
          </p:cNvPr>
          <p:cNvSpPr txBox="1"/>
          <p:nvPr/>
        </p:nvSpPr>
        <p:spPr>
          <a:xfrm>
            <a:off x="3719884" y="5448107"/>
            <a:ext cx="492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2^7</a:t>
            </a:r>
            <a:endParaRPr kumimoji="1" lang="ko-KR" altLang="en-US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8B13408D-DC9D-F641-8DFB-033CD6CB79EF}"/>
              </a:ext>
            </a:extLst>
          </p:cNvPr>
          <p:cNvSpPr txBox="1"/>
          <p:nvPr/>
        </p:nvSpPr>
        <p:spPr>
          <a:xfrm>
            <a:off x="4026824" y="4777745"/>
            <a:ext cx="1728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Page table page</a:t>
            </a:r>
            <a:endParaRPr kumimoji="1" lang="ko-KR" altLang="en-US" sz="1600" dirty="0">
              <a:latin typeface="Helvetica" pitchFamily="2" charset="0"/>
            </a:endParaRPr>
          </a:p>
        </p:txBody>
      </p:sp>
      <p:cxnSp>
        <p:nvCxnSpPr>
          <p:cNvPr id="86" name="직선 연결선[R] 85">
            <a:extLst>
              <a:ext uri="{FF2B5EF4-FFF2-40B4-BE49-F238E27FC236}">
                <a16:creationId xmlns:a16="http://schemas.microsoft.com/office/drawing/2014/main" xmlns="" id="{C21F4838-AA71-9C4B-9F74-0E8D4ECB7800}"/>
              </a:ext>
            </a:extLst>
          </p:cNvPr>
          <p:cNvCxnSpPr>
            <a:cxnSpLocks/>
          </p:cNvCxnSpPr>
          <p:nvPr/>
        </p:nvCxnSpPr>
        <p:spPr>
          <a:xfrm>
            <a:off x="4314855" y="5683876"/>
            <a:ext cx="1080120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xmlns="" id="{EC767137-FA7B-6D46-B862-571AEDAD266D}"/>
              </a:ext>
            </a:extLst>
          </p:cNvPr>
          <p:cNvCxnSpPr>
            <a:cxnSpLocks/>
          </p:cNvCxnSpPr>
          <p:nvPr/>
        </p:nvCxnSpPr>
        <p:spPr>
          <a:xfrm>
            <a:off x="1952661" y="3628230"/>
            <a:ext cx="2074163" cy="157778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[E] 87">
            <a:extLst>
              <a:ext uri="{FF2B5EF4-FFF2-40B4-BE49-F238E27FC236}">
                <a16:creationId xmlns:a16="http://schemas.microsoft.com/office/drawing/2014/main" xmlns="" id="{B01391FA-732E-1044-9EA9-4C0EB9B83474}"/>
              </a:ext>
            </a:extLst>
          </p:cNvPr>
          <p:cNvCxnSpPr>
            <a:cxnSpLocks/>
          </p:cNvCxnSpPr>
          <p:nvPr/>
        </p:nvCxnSpPr>
        <p:spPr>
          <a:xfrm flipV="1">
            <a:off x="1965730" y="1510138"/>
            <a:ext cx="2061094" cy="14207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5B9FE242-2135-2448-9505-1975941AF8C3}"/>
              </a:ext>
            </a:extLst>
          </p:cNvPr>
          <p:cNvSpPr/>
          <p:nvPr/>
        </p:nvSpPr>
        <p:spPr>
          <a:xfrm>
            <a:off x="7668344" y="4239235"/>
            <a:ext cx="45719" cy="5169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xmlns="" id="{E1627582-643C-5144-BD0B-28355306808F}"/>
              </a:ext>
            </a:extLst>
          </p:cNvPr>
          <p:cNvSpPr/>
          <p:nvPr/>
        </p:nvSpPr>
        <p:spPr>
          <a:xfrm>
            <a:off x="7668344" y="4457426"/>
            <a:ext cx="45719" cy="5169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xmlns="" id="{E2A7EC90-6F17-8D4F-98CE-3FA7C9C20C9F}"/>
              </a:ext>
            </a:extLst>
          </p:cNvPr>
          <p:cNvSpPr/>
          <p:nvPr/>
        </p:nvSpPr>
        <p:spPr>
          <a:xfrm>
            <a:off x="7668344" y="4673450"/>
            <a:ext cx="45719" cy="5169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xmlns="" id="{40E4114B-D21F-D341-894D-46AB5AD308F7}"/>
              </a:ext>
            </a:extLst>
          </p:cNvPr>
          <p:cNvSpPr/>
          <p:nvPr/>
        </p:nvSpPr>
        <p:spPr>
          <a:xfrm>
            <a:off x="4788024" y="3284984"/>
            <a:ext cx="45719" cy="5169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xmlns="" id="{C781052C-F9BB-B34B-8386-5769186F3A6F}"/>
              </a:ext>
            </a:extLst>
          </p:cNvPr>
          <p:cNvSpPr/>
          <p:nvPr/>
        </p:nvSpPr>
        <p:spPr>
          <a:xfrm>
            <a:off x="4788024" y="3503175"/>
            <a:ext cx="45719" cy="5169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xmlns="" id="{5F215750-14D1-624E-A460-22857E4063FE}"/>
              </a:ext>
            </a:extLst>
          </p:cNvPr>
          <p:cNvSpPr/>
          <p:nvPr/>
        </p:nvSpPr>
        <p:spPr>
          <a:xfrm>
            <a:off x="4788024" y="3719199"/>
            <a:ext cx="45719" cy="5169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45770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 Control Flow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11907" y="1052736"/>
            <a:ext cx="7992888" cy="29738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01: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SHIFT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02:	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Success,TlbEntry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03: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(Success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True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Hit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04:	  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True)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05:		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OFFSET_MASK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06: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07:		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Register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08: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else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7030A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09: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perform the full multi-level lookup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77815" y="4221088"/>
            <a:ext cx="878681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</a:rPr>
              <a:t>(1 lines) extract the virtual page number(</a:t>
            </a:r>
            <a:r>
              <a:rPr lang="en-US" altLang="ko-KR" dirty="0" err="1">
                <a:solidFill>
                  <a:prstClr val="black"/>
                </a:solidFill>
              </a:rPr>
              <a:t>VPN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(2 lines) check if the TLB holds the </a:t>
            </a:r>
            <a:r>
              <a:rPr lang="en-US" altLang="ko-KR" dirty="0" smtClean="0">
                <a:solidFill>
                  <a:prstClr val="black"/>
                </a:solidFill>
              </a:rPr>
              <a:t>translation </a:t>
            </a:r>
            <a:r>
              <a:rPr lang="en-US" altLang="ko-KR" dirty="0">
                <a:solidFill>
                  <a:prstClr val="black"/>
                </a:solidFill>
              </a:rPr>
              <a:t>for this VPN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(5-8 lines) extract the page frame number from the relevant </a:t>
            </a:r>
            <a:r>
              <a:rPr lang="en-US" altLang="ko-KR" dirty="0" err="1">
                <a:solidFill>
                  <a:prstClr val="black"/>
                </a:solidFill>
              </a:rPr>
              <a:t>TLB</a:t>
            </a:r>
            <a:r>
              <a:rPr lang="en-US" altLang="ko-KR" dirty="0">
                <a:solidFill>
                  <a:prstClr val="black"/>
                </a:solidFill>
              </a:rPr>
              <a:t> entry, and form the desired physical address and access memory</a:t>
            </a:r>
          </a:p>
        </p:txBody>
      </p:sp>
    </p:spTree>
    <p:extLst>
      <p:ext uri="{BB962C8B-B14F-4D97-AF65-F5344CB8AC3E}">
        <p14:creationId xmlns:p14="http://schemas.microsoft.com/office/powerpoint/2010/main" val="209087020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 Control Flow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11907" y="980728"/>
            <a:ext cx="7992888" cy="20082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11: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12: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PDIndex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PD_MASK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PD_SHIFT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13: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PDEAddr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PDBR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+ 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PDIndex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14:		</a:t>
            </a:r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PDEAddr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15:	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PDE.Valid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False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16:	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SEGMENTATION_FAULT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17:	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is Valid: now fetch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from PT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11907" y="3068960"/>
            <a:ext cx="878681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</a:rPr>
              <a:t>(11 lines) extract the Page Directory Index(</a:t>
            </a:r>
            <a:r>
              <a:rPr lang="en-US" altLang="ko-KR" dirty="0" err="1">
                <a:solidFill>
                  <a:prstClr val="black"/>
                </a:solidFill>
              </a:rPr>
              <a:t>PDIndex</a:t>
            </a:r>
            <a:r>
              <a:rPr lang="en-US" altLang="ko-KR" dirty="0">
                <a:solidFill>
                  <a:prstClr val="black"/>
                </a:solidFill>
              </a:rPr>
              <a:t>) 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(13 lines) get Page Directory Entry(</a:t>
            </a:r>
            <a:r>
              <a:rPr lang="en-US" altLang="ko-KR" dirty="0" err="1">
                <a:solidFill>
                  <a:prstClr val="black"/>
                </a:solidFill>
              </a:rPr>
              <a:t>PDE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(15-17 lines) Check </a:t>
            </a:r>
            <a:r>
              <a:rPr lang="en-US" altLang="ko-KR" dirty="0" err="1">
                <a:solidFill>
                  <a:prstClr val="black"/>
                </a:solidFill>
              </a:rPr>
              <a:t>PDE</a:t>
            </a:r>
            <a:r>
              <a:rPr lang="en-US" altLang="ko-KR" dirty="0">
                <a:solidFill>
                  <a:prstClr val="black"/>
                </a:solidFill>
              </a:rPr>
              <a:t> valid flag. If valid flag is true, fetch Page Table entry from Page Table</a:t>
            </a:r>
          </a:p>
        </p:txBody>
      </p:sp>
    </p:spTree>
    <p:extLst>
      <p:ext uri="{BB962C8B-B14F-4D97-AF65-F5344CB8AC3E}">
        <p14:creationId xmlns:p14="http://schemas.microsoft.com/office/powerpoint/2010/main" val="2438197981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Translation Process: Remember the </a:t>
            </a:r>
            <a:r>
              <a:rPr lang="en-US" altLang="ko-KR" dirty="0" err="1"/>
              <a:t>TLB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67544" y="980728"/>
            <a:ext cx="7992888" cy="3297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PTIndex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PT_SHIFT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+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PTIndex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20:	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PTE.Valid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False)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SEGMENTATION_FAULT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 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False)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TLB_Insert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20015258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Inverted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Keeping a single page table that has an entry for each </a:t>
            </a:r>
            <a:r>
              <a:rPr lang="en-US" altLang="ko-KR" u="sng" dirty="0"/>
              <a:t>physical page </a:t>
            </a:r>
            <a:r>
              <a:rPr lang="en-US" altLang="ko-KR" dirty="0"/>
              <a:t>of the system.</a:t>
            </a:r>
          </a:p>
          <a:p>
            <a:r>
              <a:rPr lang="en-US" altLang="ko-KR" dirty="0"/>
              <a:t>The entry tells us which process is using this page, and which virtual page of that process maps to this physical page.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470594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Reducing the page table size</a:t>
            </a:r>
          </a:p>
          <a:p>
            <a:r>
              <a:rPr lang="en-US" dirty="0" smtClean="0"/>
              <a:t>Per segment page table</a:t>
            </a:r>
          </a:p>
          <a:p>
            <a:r>
              <a:rPr lang="en-US" dirty="0" smtClean="0"/>
              <a:t>Multi-level paging</a:t>
            </a:r>
          </a:p>
          <a:p>
            <a:pPr lvl="1"/>
            <a:r>
              <a:rPr lang="en-US" dirty="0" smtClean="0"/>
              <a:t>Efficient use of memory</a:t>
            </a:r>
          </a:p>
          <a:p>
            <a:pPr lvl="1"/>
            <a:r>
              <a:rPr lang="en-US" dirty="0" smtClean="0"/>
              <a:t>Severe TLB miss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mtClean="0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04020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  <a:effectLst>
          <a:outerShdw sx="1000" sy="1000" rotWithShape="0">
            <a:srgbClr val="000000"/>
          </a:outerShdw>
        </a:effectLst>
      </a:spPr>
      <a:bodyPr wrap="square" lIns="252000" rtlCol="0" anchor="ctr">
        <a:spAutoFit/>
      </a:bodyPr>
      <a:lstStyle>
        <a:defPPr algn="ctr">
          <a:defRPr sz="1600" dirty="0" smtClean="0">
            <a:solidFill>
              <a:prstClr val="black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110024</TotalTime>
  <Words>1903</Words>
  <Application>Microsoft Macintosh PowerPoint</Application>
  <PresentationFormat>On-screen Show (4:3)</PresentationFormat>
  <Paragraphs>734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Adobe Arabic</vt:lpstr>
      <vt:lpstr>Adobe 고딕 Std B</vt:lpstr>
      <vt:lpstr>Cambria Math</vt:lpstr>
      <vt:lpstr>Courier New</vt:lpstr>
      <vt:lpstr>Helvetica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1_양식_공청회_발표자료-총괄-양식</vt:lpstr>
      <vt:lpstr>Operating Systems </vt:lpstr>
      <vt:lpstr>PowerPoint Presentation</vt:lpstr>
      <vt:lpstr>Paging: Linear Tables</vt:lpstr>
      <vt:lpstr>Paging: Smaller Tables</vt:lpstr>
      <vt:lpstr>Problem</vt:lpstr>
      <vt:lpstr>Problem</vt:lpstr>
      <vt:lpstr>Hybrid Approach: Paging and Segments </vt:lpstr>
      <vt:lpstr>TLB miss on Hybrid Approach</vt:lpstr>
      <vt:lpstr>Problem of Hybrid Approach</vt:lpstr>
      <vt:lpstr>Multi-level Page Tables</vt:lpstr>
      <vt:lpstr>Multi-level Page Tables: Page directory</vt:lpstr>
      <vt:lpstr>Multi-level Page Tables</vt:lpstr>
      <vt:lpstr>Example</vt:lpstr>
      <vt:lpstr>Example</vt:lpstr>
      <vt:lpstr>Example: single level page table</vt:lpstr>
      <vt:lpstr>Example: two level paging</vt:lpstr>
      <vt:lpstr>Example: two level paging</vt:lpstr>
      <vt:lpstr>Example: Page Table index</vt:lpstr>
      <vt:lpstr>Examples</vt:lpstr>
      <vt:lpstr>More than Two Levels</vt:lpstr>
      <vt:lpstr>More than Two Level : Page Table Index</vt:lpstr>
      <vt:lpstr>Single level page table</vt:lpstr>
      <vt:lpstr>two level page table</vt:lpstr>
      <vt:lpstr>More than Two Level : Page Directory</vt:lpstr>
      <vt:lpstr>three level page table</vt:lpstr>
      <vt:lpstr>Multi-level Page Table Control Flow</vt:lpstr>
      <vt:lpstr>Multi-level Page Table Control Flow</vt:lpstr>
      <vt:lpstr>The Translation Process: Remember the TLB</vt:lpstr>
      <vt:lpstr>Inverted Page Tables</vt:lpstr>
      <vt:lpstr>Summary  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4154</cp:revision>
  <cp:lastPrinted>2019-09-09T02:10:38Z</cp:lastPrinted>
  <dcterms:created xsi:type="dcterms:W3CDTF">2011-05-01T06:09:10Z</dcterms:created>
  <dcterms:modified xsi:type="dcterms:W3CDTF">2020-04-19T08:43:47Z</dcterms:modified>
  <cp:category/>
</cp:coreProperties>
</file>
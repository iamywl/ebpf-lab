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1"/>
  </p:notesMasterIdLst>
  <p:sldIdLst>
    <p:sldId id="2877" r:id="rId2"/>
    <p:sldId id="2728" r:id="rId3"/>
    <p:sldId id="2729" r:id="rId4"/>
    <p:sldId id="2939" r:id="rId5"/>
    <p:sldId id="2940" r:id="rId6"/>
    <p:sldId id="2941" r:id="rId7"/>
    <p:sldId id="2942" r:id="rId8"/>
    <p:sldId id="2948" r:id="rId9"/>
    <p:sldId id="2943" r:id="rId10"/>
    <p:sldId id="2947" r:id="rId11"/>
    <p:sldId id="2730" r:id="rId12"/>
    <p:sldId id="2731" r:id="rId13"/>
    <p:sldId id="2732" r:id="rId14"/>
    <p:sldId id="2733" r:id="rId15"/>
    <p:sldId id="2734" r:id="rId16"/>
    <p:sldId id="2735" r:id="rId17"/>
    <p:sldId id="2736" r:id="rId18"/>
    <p:sldId id="2938" r:id="rId19"/>
    <p:sldId id="2937" r:id="rId2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9" autoAdjust="0"/>
    <p:restoredTop sz="91974" autoAdjust="0"/>
  </p:normalViewPr>
  <p:slideViewPr>
    <p:cSldViewPr>
      <p:cViewPr varScale="1">
        <p:scale>
          <a:sx n="181" d="100"/>
          <a:sy n="181" d="100"/>
        </p:scale>
        <p:origin x="192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2020. 3. 29.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ko-KR" dirty="0"/>
              <a:t>Process structure is probably one of the most important data structure in operating system kernel. he process is created the operating system first creates the object that represents a process that is the data structure. What you you see in the current screen the name of the data structure is tracked thread and Pincus it contains a thread ID and thread peters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263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659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2020. 3. 29.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13. The Abstraction: Address Space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196686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What is </a:t>
            </a:r>
            <a:r>
              <a:rPr lang="en-US" altLang="ko-KR" b="1" dirty="0"/>
              <a:t>memory virtualization</a:t>
            </a:r>
            <a:r>
              <a:rPr lang="en-US" altLang="ko-KR" b="0" dirty="0"/>
              <a:t>?</a:t>
            </a:r>
          </a:p>
          <a:p>
            <a:pPr lvl="1"/>
            <a:r>
              <a:rPr lang="en-US" altLang="ko-KR" dirty="0"/>
              <a:t>OS virtualizes its physical memory.</a:t>
            </a:r>
            <a:endParaRPr lang="en-US" altLang="ko-KR" b="0" dirty="0"/>
          </a:p>
          <a:p>
            <a:pPr lvl="1"/>
            <a:r>
              <a:rPr lang="en-US" altLang="ko-KR" dirty="0"/>
              <a:t>OS provides an </a:t>
            </a:r>
            <a:r>
              <a:rPr lang="en-US" altLang="ko-KR" dirty="0">
                <a:solidFill>
                  <a:schemeClr val="accent1"/>
                </a:solidFill>
              </a:rPr>
              <a:t>illusion memory space </a:t>
            </a:r>
            <a:r>
              <a:rPr lang="en-US" altLang="ko-KR" dirty="0"/>
              <a:t>per each process.</a:t>
            </a:r>
          </a:p>
          <a:p>
            <a:pPr lvl="1"/>
            <a:r>
              <a:rPr lang="en-US" altLang="ko-KR" dirty="0"/>
              <a:t>It seems to be seen like </a:t>
            </a:r>
            <a:r>
              <a:rPr lang="en-US" altLang="ko-KR" dirty="0">
                <a:solidFill>
                  <a:schemeClr val="accent1"/>
                </a:solidFill>
              </a:rPr>
              <a:t>each process uses the whole memory</a:t>
            </a:r>
            <a:r>
              <a:rPr lang="en-US" altLang="ko-KR" dirty="0"/>
              <a:t> .</a:t>
            </a:r>
            <a:endParaRPr lang="en-US" altLang="ko-KR" sz="1600" dirty="0"/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364842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246" name="Screen Shot 2018-09-13 at 9.49.26 AM.png" descr="Screen Shot 2018-09-13 at 9.49.2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7584" y="836712"/>
            <a:ext cx="7529556" cy="559596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79594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250" name="Screen Shot 2018-09-13 at 9.54.31 AM.png" descr="Screen Shot 2018-09-13 at 9.54.3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7584" y="836712"/>
            <a:ext cx="7403500" cy="560039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832155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254" name="Screen Shot 2018-09-13 at 9.55.30 AM.png" descr="Screen Shot 2018-09-13 at 9.55.3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7584" y="764704"/>
            <a:ext cx="7403753" cy="538904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03293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258" name="Screen Shot 2018-09-13 at 9.56.26 AM.png" descr="Screen Shot 2018-09-13 at 9.56.2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3568" y="764704"/>
            <a:ext cx="7505243" cy="562128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089900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structure: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struct thread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 dirty="0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4313" y="1764680"/>
            <a:ext cx="8857679" cy="4616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252000">
            <a:spAutoFit/>
          </a:bodyPr>
          <a:lstStyle/>
          <a:p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thread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Owned by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thread.c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tid_t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tid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;            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Thread identifier.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enum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thread_status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status;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Thread state.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name[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16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];        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Name (for debugging purposes).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uint8_t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*stack;       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Saved stack pointer.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priority;         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Priority.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list_elem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allelem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;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List element for all threads list. */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anose="02070309020205020404" pitchFamily="49" charset="0"/>
              <a:ea typeface="맑은 고딕" pitchFamily="50" charset="-127"/>
              <a:cs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Shared between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thread.c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and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synch.c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list_elem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elem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;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List element. */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anose="02070309020205020404" pitchFamily="49" charset="0"/>
              <a:ea typeface="맑은 고딕" pitchFamily="50" charset="-127"/>
              <a:cs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srgbClr val="7030A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#</a:t>
            </a:r>
            <a:r>
              <a:rPr lang="en-US" altLang="ko-KR" sz="1400" dirty="0" err="1">
                <a:solidFill>
                  <a:srgbClr val="7030A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ifdef</a:t>
            </a:r>
            <a:r>
              <a:rPr lang="en-US" altLang="ko-KR" sz="1400" dirty="0">
                <a:solidFill>
                  <a:srgbClr val="7030A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USERPROG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Owned by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userprog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process.c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uint32_t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pagedir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;    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Page directory. */</a:t>
            </a:r>
          </a:p>
          <a:p>
            <a:r>
              <a:rPr lang="en-US" altLang="ko-KR" sz="1400" dirty="0">
                <a:solidFill>
                  <a:srgbClr val="7030A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#</a:t>
            </a:r>
            <a:r>
              <a:rPr lang="en-US" altLang="ko-KR" sz="1400" dirty="0" err="1">
                <a:solidFill>
                  <a:srgbClr val="7030A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endif</a:t>
            </a:r>
            <a:endParaRPr lang="en-US" altLang="ko-KR" sz="1400" dirty="0">
              <a:solidFill>
                <a:srgbClr val="7030A0"/>
              </a:solidFill>
              <a:latin typeface="Courier New" panose="02070309020205020404" pitchFamily="49" charset="0"/>
              <a:ea typeface="맑은 고딕" pitchFamily="50" charset="-127"/>
              <a:cs typeface="Courier New" panose="02070309020205020404" pitchFamily="49" charset="0"/>
            </a:endParaRPr>
          </a:p>
          <a:p>
            <a:endParaRPr lang="en-US" altLang="ko-KR" sz="1400" dirty="0">
              <a:solidFill>
                <a:prstClr val="black"/>
              </a:solidFill>
              <a:latin typeface="Courier New" panose="02070309020205020404" pitchFamily="49" charset="0"/>
              <a:ea typeface="맑은 고딕" pitchFamily="50" charset="-127"/>
              <a:cs typeface="Courier New" panose="02070309020205020404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Owned by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thread.c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unsigned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magic;                 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/* Detects stack overflow. */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};</a:t>
            </a:r>
            <a:endParaRPr lang="ko-KR" altLang="en-US" sz="1400" dirty="0">
              <a:solidFill>
                <a:prstClr val="black"/>
              </a:solidFill>
              <a:latin typeface="Courier New" panose="02070309020205020404" pitchFamily="49" charset="0"/>
              <a:ea typeface="맑은 고딕" pitchFamily="50" charset="-127"/>
              <a:cs typeface="Courier New" panose="020703090202050204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338514" y="882850"/>
            <a:ext cx="45720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r>
              <a:rPr lang="en-US" altLang="ko-KR" sz="1200" dirty="0" err="1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</a:rPr>
              <a:t>enum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thread_status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{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THREAD_RUNNING,     /* Running thread. */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THREAD_READY,         /* Not running but ready to run. */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THREAD_BLOCKED,      /* Waiting for an event to trigger. */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THREAD_DYING          /* About to be destroyed. */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};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꺾인 연결선 18"/>
          <p:cNvCxnSpPr/>
          <p:nvPr/>
        </p:nvCxnSpPr>
        <p:spPr>
          <a:xfrm rot="5400000" flipH="1" flipV="1">
            <a:off x="3372611" y="1789248"/>
            <a:ext cx="1229188" cy="702619"/>
          </a:xfrm>
          <a:prstGeom prst="bentConnector3">
            <a:avLst>
              <a:gd name="adj1" fmla="val 99368"/>
            </a:avLst>
          </a:prstGeom>
          <a:ln w="127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9512" y="1408392"/>
            <a:ext cx="5040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pintos/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src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/threads/</a:t>
            </a:r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thread.h</a:t>
            </a:r>
            <a:endParaRPr lang="en-US" altLang="ko-KR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6422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261" name="Screen Shot 2018-09-13 at 9.57.12 AM.png" descr="Screen Shot 2018-09-13 at 9.57.1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931" y="927406"/>
            <a:ext cx="8734139" cy="500318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/>
          <p:cNvSpPr txBox="1"/>
          <p:nvPr/>
        </p:nvSpPr>
        <p:spPr>
          <a:xfrm>
            <a:off x="1619672" y="1124744"/>
            <a:ext cx="216024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mtClean="0"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 thread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2636912"/>
            <a:ext cx="1680187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sz="800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p-&gt;</a:t>
            </a:r>
            <a:r>
              <a:rPr lang="en-US" dirty="0" err="1" smtClean="0">
                <a:latin typeface="Courier New" charset="0"/>
                <a:ea typeface="Courier New" charset="0"/>
                <a:cs typeface="Courier New" charset="0"/>
              </a:rPr>
              <a:t>pagedir</a:t>
            </a:r>
            <a:endParaRPr lang="en-US" dirty="0" smtClean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1640" y="3779748"/>
            <a:ext cx="1814572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sz="800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p-&gt;stack</a:t>
            </a:r>
          </a:p>
          <a:p>
            <a:endParaRPr lang="en-US" sz="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176" y="4855596"/>
            <a:ext cx="1815036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sz="800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dirty="0" smtClean="0">
                <a:latin typeface="Courier New" charset="0"/>
                <a:ea typeface="Courier New" charset="0"/>
                <a:cs typeface="Courier New" charset="0"/>
              </a:rPr>
              <a:t>p-&gt;status</a:t>
            </a:r>
          </a:p>
          <a:p>
            <a:endParaRPr lang="en-US" sz="600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5162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809374D-ED3E-EC49-AA6E-4FA09300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Courier New" panose="02070309020205020404" pitchFamily="49" charset="0"/>
              </a:rPr>
              <a:t>User stack vs. kernel stack</a:t>
            </a:r>
            <a:endParaRPr kumimoji="1" lang="ko-KR" altLang="en-US" dirty="0"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5032DC1A-C22D-CF4A-8512-B3CCB57451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3C897D-8BFF-364A-AFB4-09254CECA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2C7CACB1-4ABF-0E42-A3DF-616590A88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46032"/>
            <a:ext cx="8352928" cy="55016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F413510-231B-E146-8B00-2E46E8CD994F}"/>
              </a:ext>
            </a:extLst>
          </p:cNvPr>
          <p:cNvSpPr/>
          <p:nvPr/>
        </p:nvSpPr>
        <p:spPr>
          <a:xfrm>
            <a:off x="4211960" y="3140968"/>
            <a:ext cx="1440160" cy="288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x-none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2AF22788-2CFA-F642-9E55-D5B9A8683D93}"/>
              </a:ext>
            </a:extLst>
          </p:cNvPr>
          <p:cNvSpPr/>
          <p:nvPr/>
        </p:nvSpPr>
        <p:spPr>
          <a:xfrm>
            <a:off x="4211960" y="3411161"/>
            <a:ext cx="1080120" cy="2880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x-none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28C375A-E3A8-B34E-837F-D29647DCE101}"/>
              </a:ext>
            </a:extLst>
          </p:cNvPr>
          <p:cNvSpPr txBox="1"/>
          <p:nvPr/>
        </p:nvSpPr>
        <p:spPr>
          <a:xfrm>
            <a:off x="4355976" y="3524953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sz="1200" dirty="0"/>
              <a:t>PHYS_BASE</a:t>
            </a:r>
          </a:p>
          <a:p>
            <a:r>
              <a:rPr kumimoji="1" lang="en-US" altLang="x-none" sz="1200" dirty="0"/>
              <a:t>C000 0000 (3GB)</a:t>
            </a:r>
            <a:endParaRPr kumimoji="1" lang="x-none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1400826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Benefit of Memory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Ease of use in programming</a:t>
            </a:r>
          </a:p>
          <a:p>
            <a:r>
              <a:rPr lang="en-US" altLang="ko-KR" dirty="0"/>
              <a:t>Memory efficiency in terms of </a:t>
            </a:r>
            <a:r>
              <a:rPr lang="en-US" altLang="ko-KR" dirty="0">
                <a:solidFill>
                  <a:schemeClr val="accent1"/>
                </a:solidFill>
              </a:rPr>
              <a:t>times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chemeClr val="accent1"/>
                </a:solidFill>
              </a:rPr>
              <a:t>space</a:t>
            </a:r>
          </a:p>
          <a:p>
            <a:r>
              <a:rPr lang="en-US" altLang="ko-KR" dirty="0"/>
              <a:t>The guarantee of isolation for processes as well as OS</a:t>
            </a:r>
          </a:p>
          <a:p>
            <a:pPr lvl="1"/>
            <a:r>
              <a:rPr lang="en-US" altLang="ko-KR" dirty="0"/>
              <a:t>Protection from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errant accesses</a:t>
            </a:r>
            <a:r>
              <a:rPr lang="en-US" altLang="ko-KR" dirty="0"/>
              <a:t> of other processes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358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in The Early 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908720"/>
            <a:ext cx="8786812" cy="5501258"/>
          </a:xfrm>
        </p:spPr>
        <p:txBody>
          <a:bodyPr/>
          <a:lstStyle/>
          <a:p>
            <a:r>
              <a:rPr lang="en-US" altLang="ko-KR" dirty="0"/>
              <a:t>Load only one process in memory.</a:t>
            </a:r>
          </a:p>
          <a:p>
            <a:pPr lvl="1"/>
            <a:r>
              <a:rPr lang="en-US" altLang="ko-KR" dirty="0"/>
              <a:t>Poor utilization and efficiency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2987824" y="1988840"/>
            <a:ext cx="2376264" cy="4176464"/>
            <a:chOff x="581763" y="1412776"/>
            <a:chExt cx="1974013" cy="4176464"/>
          </a:xfrm>
        </p:grpSpPr>
        <p:sp>
          <p:nvSpPr>
            <p:cNvPr id="52" name="TextBox 51"/>
            <p:cNvSpPr txBox="1"/>
            <p:nvPr/>
          </p:nvSpPr>
          <p:spPr>
            <a:xfrm>
              <a:off x="647563" y="1412776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81763" y="2266999"/>
              <a:ext cx="6120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81763" y="5281463"/>
              <a:ext cx="5712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max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1223628" y="1558946"/>
              <a:ext cx="1332148" cy="86194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Operating System</a:t>
              </a:r>
            </a:p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(code, data, etc.)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223628" y="2420888"/>
              <a:ext cx="1332148" cy="306620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Current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</a:t>
              </a:r>
            </a:p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(code, data, etc.)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673585" y="6073551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886565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Multiprogramming and Time Sharing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</a:rPr>
              <a:t>Load multiple processes </a:t>
            </a:r>
            <a:r>
              <a:rPr lang="en-US" altLang="ko-KR" dirty="0"/>
              <a:t>in memory.</a:t>
            </a:r>
          </a:p>
          <a:p>
            <a:pPr lvl="1"/>
            <a:r>
              <a:rPr lang="en-US" altLang="ko-KR" dirty="0"/>
              <a:t>Execute one for a short while.</a:t>
            </a:r>
          </a:p>
          <a:p>
            <a:pPr lvl="1"/>
            <a:r>
              <a:rPr lang="en-US" altLang="ko-KR" dirty="0"/>
              <a:t>Switch processes between them in memory.</a:t>
            </a:r>
          </a:p>
          <a:p>
            <a:pPr lvl="1"/>
            <a:r>
              <a:rPr lang="en-US" altLang="ko-KR" dirty="0"/>
              <a:t>Increase utilization and efficiency.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Cause an important </a:t>
            </a:r>
            <a:r>
              <a:rPr lang="en-US" altLang="ko-KR" b="1" dirty="0"/>
              <a:t>protection issue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Errant memory accesses from other processes</a:t>
            </a:r>
          </a:p>
          <a:p>
            <a:pPr lvl="2"/>
            <a:endParaRPr lang="en-US" altLang="ko-KR" sz="14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9642" y="1198332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6177" y="168264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854612" y="1352706"/>
            <a:ext cx="1533812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854612" y="2355639"/>
            <a:ext cx="1533812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C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854612" y="1851583"/>
            <a:ext cx="1533812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854612" y="2854516"/>
            <a:ext cx="1533812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54612" y="3353393"/>
            <a:ext cx="1533812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854612" y="3857449"/>
            <a:ext cx="1533812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2240" y="5466549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854611" y="4356326"/>
            <a:ext cx="1532978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854611" y="4860382"/>
            <a:ext cx="1533811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6177" y="2185119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56178" y="2716016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192KB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56176" y="321489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256KB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56180" y="3718949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56180" y="4217826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384KB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56177" y="472514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6176" y="518955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512KB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095781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Space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899815"/>
            <a:ext cx="8786812" cy="5501258"/>
          </a:xfrm>
        </p:spPr>
        <p:txBody>
          <a:bodyPr/>
          <a:lstStyle/>
          <a:p>
            <a:r>
              <a:rPr lang="en-US" altLang="ko-KR" dirty="0"/>
              <a:t>OS creates an </a:t>
            </a:r>
            <a:r>
              <a:rPr lang="en-US" altLang="ko-KR" b="1" dirty="0"/>
              <a:t>abstraction</a:t>
            </a:r>
            <a:r>
              <a:rPr lang="en-US" altLang="ko-KR" dirty="0"/>
              <a:t> of physical memory.</a:t>
            </a:r>
          </a:p>
          <a:p>
            <a:pPr lvl="1"/>
            <a:r>
              <a:rPr lang="en-US" altLang="ko-KR" dirty="0"/>
              <a:t>The address space contains all about a running process.</a:t>
            </a:r>
          </a:p>
          <a:p>
            <a:pPr lvl="1"/>
            <a:r>
              <a:rPr lang="en-US" altLang="ko-KR" dirty="0"/>
              <a:t>That is consist of program code, heap, stack and etc.</a:t>
            </a:r>
            <a:endParaRPr lang="en-US" altLang="ko-KR" sz="1600" dirty="0"/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059832" y="2452359"/>
            <a:ext cx="3757617" cy="3726409"/>
            <a:chOff x="3059832" y="2525414"/>
            <a:chExt cx="3757617" cy="3726409"/>
          </a:xfrm>
        </p:grpSpPr>
        <p:cxnSp>
          <p:nvCxnSpPr>
            <p:cNvPr id="7" name="직선 화살표 연결선 6"/>
            <p:cNvCxnSpPr/>
            <p:nvPr/>
          </p:nvCxnSpPr>
          <p:spPr>
            <a:xfrm>
              <a:off x="6817449" y="5656015"/>
              <a:ext cx="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114969" y="2525414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61031" y="2627524"/>
              <a:ext cx="1332148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1031" y="3625277"/>
              <a:ext cx="1332148" cy="2010992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</a:p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V="1">
              <a:off x="4327105" y="4993431"/>
              <a:ext cx="0" cy="6428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>
              <a:stCxn id="37" idx="0"/>
            </p:cNvCxnSpPr>
            <p:nvPr/>
          </p:nvCxnSpPr>
          <p:spPr>
            <a:xfrm>
              <a:off x="4327105" y="3625277"/>
              <a:ext cx="0" cy="4988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14969" y="2982379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92501" y="3471388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59832" y="5506053"/>
              <a:ext cx="616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59832" y="5944046"/>
              <a:ext cx="616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661031" y="312640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661031" y="563627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610591" y="6073551"/>
            <a:ext cx="1433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5920413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Space(Cont.)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/>
          <a:p>
            <a:r>
              <a:rPr lang="en-US" altLang="ko-KR" dirty="0"/>
              <a:t>Code</a:t>
            </a:r>
          </a:p>
          <a:p>
            <a:pPr lvl="1"/>
            <a:r>
              <a:rPr lang="en-US" altLang="ko-KR" dirty="0"/>
              <a:t>Where instructions live</a:t>
            </a:r>
          </a:p>
          <a:p>
            <a:r>
              <a:rPr lang="en-US" altLang="ko-KR" dirty="0"/>
              <a:t>Heap</a:t>
            </a:r>
          </a:p>
          <a:p>
            <a:pPr lvl="1"/>
            <a:r>
              <a:rPr lang="en-US" altLang="ko-KR" dirty="0"/>
              <a:t>Dynamically allocate memory.</a:t>
            </a:r>
          </a:p>
          <a:p>
            <a:pPr lvl="2"/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dirty="0"/>
              <a:t> in C language</a:t>
            </a:r>
          </a:p>
          <a:p>
            <a:pPr lvl="2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ko-KR" dirty="0"/>
              <a:t> in object-oriented language</a:t>
            </a:r>
          </a:p>
          <a:p>
            <a:r>
              <a:rPr lang="en-US" altLang="ko-KR" dirty="0"/>
              <a:t>Stack</a:t>
            </a:r>
          </a:p>
          <a:p>
            <a:pPr lvl="1"/>
            <a:r>
              <a:rPr lang="en-US" altLang="ko-KR" dirty="0"/>
              <a:t>Store return addresses or values.</a:t>
            </a:r>
          </a:p>
          <a:p>
            <a:pPr lvl="1"/>
            <a:r>
              <a:rPr lang="en-US" altLang="ko-KR" dirty="0"/>
              <a:t>Contain local variables arguments to routines.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6456142" y="1484784"/>
            <a:ext cx="3156418" cy="3507623"/>
            <a:chOff x="3661031" y="2627524"/>
            <a:chExt cx="3156418" cy="3507623"/>
          </a:xfrm>
        </p:grpSpPr>
        <p:cxnSp>
          <p:nvCxnSpPr>
            <p:cNvPr id="25" name="직선 화살표 연결선 24"/>
            <p:cNvCxnSpPr/>
            <p:nvPr/>
          </p:nvCxnSpPr>
          <p:spPr>
            <a:xfrm>
              <a:off x="6817449" y="5656015"/>
              <a:ext cx="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/>
            <p:cNvSpPr/>
            <p:nvPr/>
          </p:nvSpPr>
          <p:spPr>
            <a:xfrm>
              <a:off x="3661031" y="2627524"/>
              <a:ext cx="1332148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61031" y="3625277"/>
              <a:ext cx="1332148" cy="2010992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</a:p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V="1">
              <a:off x="4327105" y="4993431"/>
              <a:ext cx="0" cy="6428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31" idx="0"/>
            </p:cNvCxnSpPr>
            <p:nvPr/>
          </p:nvCxnSpPr>
          <p:spPr>
            <a:xfrm>
              <a:off x="4327105" y="3625277"/>
              <a:ext cx="0" cy="4988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/>
            <p:cNvSpPr/>
            <p:nvPr/>
          </p:nvSpPr>
          <p:spPr>
            <a:xfrm>
              <a:off x="3661031" y="312640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661031" y="563627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405702" y="5085184"/>
            <a:ext cx="1433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2012534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Address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Every address</a:t>
            </a:r>
            <a:r>
              <a:rPr lang="en-US" altLang="ko-KR" dirty="0"/>
              <a:t> in a running program is virtual.</a:t>
            </a:r>
          </a:p>
          <a:p>
            <a:pPr lvl="1"/>
            <a:r>
              <a:rPr lang="en-US" altLang="ko-KR" dirty="0"/>
              <a:t>OS translates the virtual address to physical address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25674" y="2407528"/>
            <a:ext cx="7546726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stdio.h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stdlib.h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[]){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("location of code  : %p\n",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main);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("location of heap  : %p\n",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));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("location of stack : %p\n",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&amp;x);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srgbClr val="CCCC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3728" y="5158933"/>
            <a:ext cx="525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simple program that prints out addresses</a:t>
            </a:r>
          </a:p>
        </p:txBody>
      </p:sp>
    </p:spTree>
    <p:extLst>
      <p:ext uri="{BB962C8B-B14F-4D97-AF65-F5344CB8AC3E}">
        <p14:creationId xmlns:p14="http://schemas.microsoft.com/office/powerpoint/2010/main" val="2857802399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Address(Cont.)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output in 64-bit Linux machine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560" y="1610216"/>
            <a:ext cx="4104456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location of code  : 0x40057d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location of heap  : 0xcf2010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location of stack : 0x7fff9ca45fcc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058410" y="2602937"/>
            <a:ext cx="1681939" cy="281572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058413" y="1275803"/>
            <a:ext cx="1681939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(Text)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058409" y="5418659"/>
            <a:ext cx="168193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9" name="직선 화살표 연결선 28"/>
          <p:cNvCxnSpPr>
            <a:stCxn id="28" idx="0"/>
          </p:cNvCxnSpPr>
          <p:nvPr/>
        </p:nvCxnSpPr>
        <p:spPr>
          <a:xfrm flipH="1" flipV="1">
            <a:off x="6899377" y="4797152"/>
            <a:ext cx="2" cy="62150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25" idx="0"/>
          </p:cNvCxnSpPr>
          <p:nvPr/>
        </p:nvCxnSpPr>
        <p:spPr>
          <a:xfrm flipH="1">
            <a:off x="6899377" y="2602937"/>
            <a:ext cx="3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39592" y="4489375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98197" y="3140968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84536" y="968026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058412" y="1796494"/>
            <a:ext cx="1681939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Data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058411" y="2317185"/>
            <a:ext cx="168193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058408" y="5704410"/>
            <a:ext cx="1681939" cy="3959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2586" y="1137303"/>
            <a:ext cx="972379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0x400000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157" y="2183062"/>
            <a:ext cx="972379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0xcf2000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70005" y="5561535"/>
            <a:ext cx="1260415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0x7fff9ca49000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58037" y="1639833"/>
            <a:ext cx="972379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0x401000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82110" y="2490623"/>
            <a:ext cx="972379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0xd13000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70001" y="5312241"/>
            <a:ext cx="1260415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0x7fff9ca28000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113396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C599ED0-A209-F048-939E-DB7337B0F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InitializedGlobal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[1024] = {0,};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UnintGlobal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[1024];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int localVar1;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int localVar2;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int *dynamicLocalVar1;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int *dynamicLocalVar2;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dynamicLocalVar1 = malloc(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dynamicLocalVar2 = malloc(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code                 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main);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                 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&amp;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InitializedGlobal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BSS(</a:t>
            </a:r>
            <a:r>
              <a:rPr lang="en-US" altLang="ko-KR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Uninit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    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&amp;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UnintGlobal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 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stack localVar1      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&amp;localVar1);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stack localVar2      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&amp;localVar2);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heap dynamicLocalVar1: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dynamicLocalVar1);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R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heap dynamicLocalVar2: 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0x%x\n", dynamicLocalVar2);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    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ko-KR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4D3736E-4A24-464E-BE6E-0827442CAD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CCAA342-AB70-2143-A83F-98BD95DC2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14313" y="55563"/>
            <a:ext cx="8786812" cy="585787"/>
          </a:xfrm>
        </p:spPr>
        <p:txBody>
          <a:bodyPr/>
          <a:lstStyle/>
          <a:p>
            <a:r>
              <a:rPr lang="en-US" altLang="ko-KR" dirty="0" smtClean="0"/>
              <a:t>Components of Virtual Address Space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699714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C599ED0-A209-F048-939E-DB7337B0F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84" y="1051494"/>
            <a:ext cx="3997647" cy="3170222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BulGok:~ yjwon$ ./a.out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code                 : 0xdffde0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Data                 : 0xe01020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BSS(Uninit Data)     : 0xe02020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stack localVar1      : 0xeee00a88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stack localVar2      : 0xeee00a84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heap dynamicLocalVar1: 0xc4c01700</a:t>
            </a:r>
          </a:p>
          <a:p>
            <a:pPr marL="0" indent="0">
              <a:buNone/>
            </a:pPr>
            <a:r>
              <a:rPr lang="is-IS" sz="1400" dirty="0">
                <a:latin typeface="Courier New" charset="0"/>
                <a:ea typeface="Courier New" charset="0"/>
                <a:cs typeface="Courier New" charset="0"/>
              </a:rPr>
              <a:t>heap dynamicLocalVar2: </a:t>
            </a:r>
            <a:r>
              <a:rPr lang="is-IS" sz="1400" dirty="0" smtClean="0">
                <a:latin typeface="Courier New" charset="0"/>
                <a:ea typeface="Courier New" charset="0"/>
                <a:cs typeface="Courier New" charset="0"/>
              </a:rPr>
              <a:t>0xc4c01710</a:t>
            </a:r>
          </a:p>
          <a:p>
            <a:pPr marL="0" indent="0">
              <a:buNone/>
            </a:pPr>
            <a:endParaRPr lang="is-IS" sz="1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1400" dirty="0" smtClean="0">
                <a:latin typeface="Helvetica Neue" charset="0"/>
                <a:ea typeface="Helvetica Neue" charset="0"/>
                <a:cs typeface="Helvetica Neue" charset="0"/>
              </a:rPr>
              <a:t>M</a:t>
            </a:r>
            <a:r>
              <a:rPr lang="is-IS" sz="1400" dirty="0" smtClean="0">
                <a:latin typeface="Helvetica Neue" charset="0"/>
                <a:ea typeface="Helvetica Neue" charset="0"/>
                <a:cs typeface="Helvetica Neue" charset="0"/>
              </a:rPr>
              <a:t>inimum heap allocation unit: 16 Byte</a:t>
            </a:r>
            <a:endParaRPr lang="is-IS" sz="1400" dirty="0">
              <a:latin typeface="Helvetica Neue" charset="0"/>
              <a:ea typeface="Helvetica Neue" charset="0"/>
              <a:cs typeface="Helvetica Neue" charset="0"/>
            </a:endParaRPr>
          </a:p>
          <a:p>
            <a:pPr marL="0" indent="0">
              <a:buNone/>
            </a:pP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4D3736E-4A24-464E-BE6E-0827442CAD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CCAA342-AB70-2143-A83F-98BD95DC2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24"/>
          <p:cNvSpPr/>
          <p:nvPr/>
        </p:nvSpPr>
        <p:spPr>
          <a:xfrm>
            <a:off x="6732240" y="1704279"/>
            <a:ext cx="1681939" cy="210833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25"/>
          <p:cNvSpPr/>
          <p:nvPr/>
        </p:nvSpPr>
        <p:spPr>
          <a:xfrm>
            <a:off x="6732240" y="5350070"/>
            <a:ext cx="1681939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(Text)</a:t>
            </a:r>
          </a:p>
        </p:txBody>
      </p:sp>
      <p:sp>
        <p:nvSpPr>
          <p:cNvPr id="8" name="직사각형 27"/>
          <p:cNvSpPr/>
          <p:nvPr/>
        </p:nvSpPr>
        <p:spPr>
          <a:xfrm>
            <a:off x="6732240" y="1259881"/>
            <a:ext cx="1681939" cy="6016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smtClean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localVar1</a:t>
            </a:r>
          </a:p>
          <a:p>
            <a:pPr algn="ctr"/>
            <a:r>
              <a:rPr lang="en-US" altLang="ko-KR" sz="1200" dirty="0" smtClean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localVar2</a:t>
            </a:r>
          </a:p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9" name="직선 화살표 연결선 28"/>
          <p:cNvCxnSpPr/>
          <p:nvPr/>
        </p:nvCxnSpPr>
        <p:spPr>
          <a:xfrm flipH="1" flipV="1">
            <a:off x="7564816" y="3167533"/>
            <a:ext cx="2" cy="62150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29"/>
          <p:cNvCxnSpPr/>
          <p:nvPr/>
        </p:nvCxnSpPr>
        <p:spPr>
          <a:xfrm flipH="1">
            <a:off x="7573209" y="1900062"/>
            <a:ext cx="3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8"/>
          <p:cNvSpPr/>
          <p:nvPr/>
        </p:nvSpPr>
        <p:spPr>
          <a:xfrm>
            <a:off x="6732240" y="5005342"/>
            <a:ext cx="1681939" cy="3447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Data</a:t>
            </a:r>
          </a:p>
        </p:txBody>
      </p:sp>
      <p:sp>
        <p:nvSpPr>
          <p:cNvPr id="15" name="직사각형 19"/>
          <p:cNvSpPr/>
          <p:nvPr/>
        </p:nvSpPr>
        <p:spPr>
          <a:xfrm>
            <a:off x="6732239" y="3812614"/>
            <a:ext cx="1686579" cy="8851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endParaRPr lang="en-US" altLang="ko-KR" sz="14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36922" y="1189286"/>
            <a:ext cx="1260415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 dirty="0">
                <a:latin typeface="Courier New" charset="0"/>
                <a:ea typeface="Courier New" charset="0"/>
                <a:cs typeface="Courier New" charset="0"/>
              </a:rPr>
              <a:t>0xeee00a88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9861" y="5684628"/>
            <a:ext cx="1145363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 dirty="0" smtClean="0">
                <a:latin typeface="Courier New" charset="0"/>
                <a:ea typeface="Courier New" charset="0"/>
                <a:cs typeface="Courier New" charset="0"/>
              </a:rPr>
              <a:t>0x00dffde0</a:t>
            </a:r>
            <a:endParaRPr lang="is-IS" sz="1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3" name="직사각형 18"/>
          <p:cNvSpPr/>
          <p:nvPr/>
        </p:nvSpPr>
        <p:spPr>
          <a:xfrm>
            <a:off x="6734285" y="4697781"/>
            <a:ext cx="1681939" cy="3075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BSS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79861" y="5117697"/>
            <a:ext cx="1152379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 dirty="0" smtClean="0">
                <a:latin typeface="Courier New" charset="0"/>
                <a:ea typeface="Courier New" charset="0"/>
                <a:cs typeface="Courier New" charset="0"/>
              </a:rPr>
              <a:t>0x00e01020</a:t>
            </a:r>
            <a:endParaRPr lang="is-IS" sz="1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79861" y="4759676"/>
            <a:ext cx="1224387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 dirty="0" smtClean="0">
                <a:latin typeface="Courier New" charset="0"/>
                <a:ea typeface="Courier New" charset="0"/>
                <a:cs typeface="Courier New" charset="0"/>
              </a:rPr>
              <a:t>0x00e02020</a:t>
            </a:r>
            <a:endParaRPr lang="is-IS" sz="1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36922" y="1440140"/>
            <a:ext cx="1260415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 dirty="0" smtClean="0">
                <a:latin typeface="Courier New" charset="0"/>
                <a:ea typeface="Courier New" charset="0"/>
                <a:cs typeface="Courier New" charset="0"/>
              </a:rPr>
              <a:t>0xeee00a84</a:t>
            </a:r>
            <a:endParaRPr lang="is-IS" sz="1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80112" y="4448145"/>
            <a:ext cx="1152128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>
                <a:latin typeface="Courier New" charset="0"/>
                <a:ea typeface="Courier New" charset="0"/>
                <a:cs typeface="Courier New" charset="0"/>
              </a:rPr>
              <a:t>0xc4c01700</a:t>
            </a:r>
            <a:endParaRPr lang="is-IS" sz="1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80112" y="4232121"/>
            <a:ext cx="1152128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is-IS" sz="1200" dirty="0" smtClean="0">
                <a:latin typeface="Courier New" charset="0"/>
                <a:ea typeface="Courier New" charset="0"/>
                <a:cs typeface="Courier New" charset="0"/>
              </a:rPr>
              <a:t>0xc4c01710</a:t>
            </a:r>
            <a:endParaRPr lang="is-IS" sz="12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9" name="직사각형 18"/>
          <p:cNvSpPr/>
          <p:nvPr/>
        </p:nvSpPr>
        <p:spPr>
          <a:xfrm>
            <a:off x="6732240" y="4221716"/>
            <a:ext cx="1681939" cy="475036"/>
          </a:xfrm>
          <a:prstGeom prst="rect">
            <a:avLst/>
          </a:prstGeom>
          <a:noFill/>
          <a:ln w="12700"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smtClean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dynamicLocalVar1</a:t>
            </a:r>
          </a:p>
          <a:p>
            <a:pPr algn="ctr"/>
            <a:r>
              <a:rPr lang="en-US" altLang="ko-KR" sz="1200" dirty="0" smtClean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dynamicLocalVar1</a:t>
            </a:r>
            <a:endParaRPr lang="en-US" altLang="ko-KR" sz="1200" dirty="0">
              <a:solidFill>
                <a:prstClr val="black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0" name="제목 1"/>
          <p:cNvSpPr txBox="1">
            <a:spLocks/>
          </p:cNvSpPr>
          <p:nvPr/>
        </p:nvSpPr>
        <p:spPr bwMode="auto">
          <a:xfrm>
            <a:off x="159544" y="82684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r>
              <a:rPr lang="en-US" altLang="ko-KR" kern="0" dirty="0" smtClean="0"/>
              <a:t>Components of Virtual Address Space</a:t>
            </a:r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3953158987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110095</TotalTime>
  <Words>812</Words>
  <Application>Microsoft Macintosh PowerPoint</Application>
  <PresentationFormat>On-screen Show (4:3)</PresentationFormat>
  <Paragraphs>262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Adobe Arabic</vt:lpstr>
      <vt:lpstr>Adobe 고딕 Std B</vt:lpstr>
      <vt:lpstr>Courier New</vt:lpstr>
      <vt:lpstr>Helvetica Neue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Operating Systems </vt:lpstr>
      <vt:lpstr>PowerPoint Presentation</vt:lpstr>
      <vt:lpstr>Memory Virtualization</vt:lpstr>
      <vt:lpstr>PowerPoint Presentation</vt:lpstr>
      <vt:lpstr>PowerPoint Presentation</vt:lpstr>
      <vt:lpstr>PowerPoint Presentation</vt:lpstr>
      <vt:lpstr>PowerPoint Presentation</vt:lpstr>
      <vt:lpstr>Process structure: struct thread</vt:lpstr>
      <vt:lpstr>PowerPoint Presentation</vt:lpstr>
      <vt:lpstr>User stack vs. kernel stack</vt:lpstr>
      <vt:lpstr>Benefit of Memory Virtualization</vt:lpstr>
      <vt:lpstr>OS in The Early System</vt:lpstr>
      <vt:lpstr>Multiprogramming and Time Sharing</vt:lpstr>
      <vt:lpstr>Address Space</vt:lpstr>
      <vt:lpstr>Address Space(Cont.)</vt:lpstr>
      <vt:lpstr>Virtual Address</vt:lpstr>
      <vt:lpstr>Virtual Address(Cont.)</vt:lpstr>
      <vt:lpstr>Components of Virtual Address Space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4154</cp:revision>
  <cp:lastPrinted>2019-09-09T02:10:38Z</cp:lastPrinted>
  <dcterms:created xsi:type="dcterms:W3CDTF">2011-05-01T06:09:10Z</dcterms:created>
  <dcterms:modified xsi:type="dcterms:W3CDTF">2020-03-29T12:33:02Z</dcterms:modified>
  <cp:category/>
</cp:coreProperties>
</file>